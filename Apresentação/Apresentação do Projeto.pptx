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7"/>
  </p:notesMasterIdLst>
  <p:sldIdLst>
    <p:sldId id="257" r:id="rId3"/>
    <p:sldId id="270" r:id="rId4"/>
    <p:sldId id="414" r:id="rId5"/>
    <p:sldId id="439" r:id="rId6"/>
    <p:sldId id="409" r:id="rId7"/>
    <p:sldId id="440" r:id="rId8"/>
    <p:sldId id="435" r:id="rId9"/>
    <p:sldId id="417" r:id="rId10"/>
    <p:sldId id="438" r:id="rId11"/>
    <p:sldId id="410" r:id="rId12"/>
    <p:sldId id="420" r:id="rId13"/>
    <p:sldId id="411" r:id="rId14"/>
    <p:sldId id="425" r:id="rId15"/>
    <p:sldId id="428" r:id="rId16"/>
    <p:sldId id="412" r:id="rId17"/>
    <p:sldId id="441" r:id="rId18"/>
    <p:sldId id="431" r:id="rId19"/>
    <p:sldId id="442" r:id="rId20"/>
    <p:sldId id="443" r:id="rId21"/>
    <p:sldId id="429" r:id="rId22"/>
    <p:sldId id="413" r:id="rId23"/>
    <p:sldId id="433" r:id="rId24"/>
    <p:sldId id="380" r:id="rId25"/>
    <p:sldId id="273" r:id="rId2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191E"/>
    <a:srgbClr val="D7FF86"/>
    <a:srgbClr val="C1E5F5"/>
    <a:srgbClr val="FFE5E5"/>
    <a:srgbClr val="E9F5FB"/>
    <a:srgbClr val="FFFFFF"/>
    <a:srgbClr val="2F9E41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Estilo Claro 2 - Ênfas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5020" autoAdjust="0"/>
  </p:normalViewPr>
  <p:slideViewPr>
    <p:cSldViewPr snapToGrid="0">
      <p:cViewPr varScale="1">
        <p:scale>
          <a:sx n="78" d="100"/>
          <a:sy n="78" d="100"/>
        </p:scale>
        <p:origin x="10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80AFB-2E3F-42DC-9796-A7A23E86EABD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C721C4-8263-461E-8B3B-AC8C523E11D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773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C2AEAD-B871-745C-25F1-240FEA0AD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948777E-2E06-D8A3-057D-0141147A9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9C4ED1-A464-72AF-3406-3DB2072B3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F7D17D-DC9E-875A-D4F9-7EF647E16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675DBC-E339-37F0-1BCC-B3914BE6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492875"/>
            <a:ext cx="2743200" cy="365125"/>
          </a:xfrm>
        </p:spPr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56945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F1D6C-1D5D-A0B9-6455-90C4DF7F2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E15C5E-5A3E-97A0-E331-014C1F762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373B20-95FA-CCCD-76E7-7D1506497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A373DA8-1764-085E-FBDF-BA8FED4E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D27B59-8E2F-D65D-218D-8848CE641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381" y="6481041"/>
            <a:ext cx="2743200" cy="365125"/>
          </a:xfrm>
        </p:spPr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40396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5AEF6-BFCD-AF5F-E11F-05C2E54B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D63CFCD-BFFD-F010-885B-BA0231ED0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39062E-0F2F-9615-BE51-BB1C8F9B6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504D0E3-D19E-8351-1C90-A9D248B8D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E91183-BC19-F62D-4919-CFDDADA9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9007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99B419-93F1-00B4-B822-0C6C55C31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4AED323-33B2-1A19-3DE1-BE909EFB9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9B5E3E-5C8A-D639-F597-A7388C4DF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FA84E66-C891-2BDE-3196-3274E00BC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F74336-D9A7-389C-08F0-53DFF1BE8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2DBB875-658F-3EAB-E4AC-177C79231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204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DA6AAA-0307-8322-5BA5-459C88AB6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2A430E-ED16-B93D-C617-481CC93B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107A939-EEE0-1546-EE90-BDE4279E4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6471581-0638-71C6-B3CF-1EBBB500D4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A12D75F-1A72-DD02-134E-03270286BB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78C5A5F-AAD8-5C1B-CBD2-154B017D4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F03B748-EFF7-51BA-F5D1-D723560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D05E4B8-92EC-8079-EEA1-0AFB0701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980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885FE2-55F1-168D-572C-199729C2E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82A637A-7428-34D1-0CF0-A0E0825B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49524F7-F631-DC22-1EE6-A65A457B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02D5828-13E0-BD36-EC26-45B02DE3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9297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61EF7B4-754C-4D82-6EBA-C231A4888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2FEDAF3-030A-AAE4-24FA-B8707B849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34F61E9-DD33-DD18-055B-A08C3F13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912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3F664C-4663-4CC6-64DC-4A1ED4EE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7D5E0-751D-22AC-6F81-DB39ECB5D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42A5B98-1D2E-7742-BD6E-6CD5742057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25DA36-AA40-7B7E-E183-6EFFC1745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7549C72-4A58-531F-134E-B2974359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1E04949-A313-4E38-BDFD-E93CB5C20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374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4092F-5896-D22D-2112-8016CDCD2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D8022BE-5115-E31E-9DBA-C1838FDB5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686221-8440-F759-3714-3E267B5D7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EE3106F-8AC5-86E3-5393-AAD57E1B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6A1E77-1BFB-BFDE-4EAC-7EE39E9A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AF6B004-A6F2-C6BE-E0E6-AF3E44AA5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3513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D2688D-1D26-B34B-8F01-8AEED2E27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01A4866-3D79-D6DA-78A0-6600A45AC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6EDC72-9E83-F7D4-353E-608AFE169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0120ED-27F9-F2F8-F5C8-E8431AD6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48F66A-490A-4C93-6B43-07F79D71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38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33D5CE6-6FC6-9E20-0073-B14D2E261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DAF59E-354D-FB95-572B-E0F308EBC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178D85-ECB0-5C33-720F-4352A4835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1145E7-F369-2451-D6BC-92D43076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4E07FA-E87C-CFFC-2EB4-CEE0F6659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85093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8617D0-E671-AC85-3B19-1723D0C3F3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AB13935-5D72-E67C-7754-4FBC1B73E4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7ADD7A5-85D0-9ACF-7E65-89421DFAD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49ACE4-65BF-B0F7-9384-859297B18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04CA7E-7820-907E-2D93-2E4F6210C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36050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89FF82-F671-6F3E-DE2F-7853305FB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C0808A-4B9F-D105-B564-26B52C8AD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18A9F3-A9B0-8B18-A9FE-9AD61BDFF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0AB0C10-91DD-41F7-7652-41F70B279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7CB164E-7F11-FD1A-28D7-20EB78057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8785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237363-9643-791E-804C-8232400A3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CE2F4E9-0165-66BC-F2D3-88AB82AFF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582167-B63C-50A4-1E92-699274A8D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F1750DB-323E-BEF6-56B8-49151346A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A68E000-1A7F-9B85-4394-000164FE9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40756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09E491-20C9-C814-F9F6-D42F4DF0B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47B3FA-A92A-E3C0-5463-DD0076725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963947-C174-9A01-4191-88B0D6FBE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32D9860-C2E2-67A6-670F-57D80BD5B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602E71B-A814-4981-51FD-E84A3DD81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D60826A-618A-2F1C-7DC1-5E0AE342F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41548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162B3E-2248-83D6-C824-1A6003906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914164-5DF4-8ABF-BFE8-657A83D34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9F38FA7-BF04-E9EA-7A96-300EEFE77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3139F58-ED6C-936A-6E46-6573A897E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774EDFC-860B-0735-911D-598712824F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5724F80-C74C-C927-51C5-DD41A1C3D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6910A56-45F8-4CA3-3B49-E7A5E2405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EF41B81-19FF-3C87-1364-8BB531951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84494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1B3768-F3E1-AB3B-E537-8FD922E54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3E7163A-AF9C-16E6-96BC-D9CF3B210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E6B64CA-2AD0-36F6-1838-0CF1807B4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D7C08C1-F144-5A68-2D84-AFBF32C91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3555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E3B6355-45CD-B194-172A-C280EBF62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2CAA397-B1A8-5CBD-8763-E140CB1D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8F75B4-E35C-0579-E0D7-18EB44E94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84407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A1E0F0-91C9-181E-E7A0-266466E54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7CC64E-4A2C-6335-BB7F-8B6153337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D8FC24-C24D-E92C-31EB-2B86098E0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5A18A8D-D28C-A501-1690-4E670F2B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39BF936-B1FE-B0A4-8354-F5899858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1C9CDFF-B287-CE15-8059-4AB871A9F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68182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25DBE9-DC8D-A919-CF84-7D740042C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103D358-674B-97C4-C2D8-0808748EB2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998EFE5-9B0B-310E-87EA-ECA6B5430C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A85E48-A118-7CE3-FE62-71CD5098B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7D79EAF-800C-C0E6-4E20-835A32128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E89E41A-54A2-D992-1070-79CB0519D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77013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6C5D3A-0AD6-992E-B0C8-DC8A36390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6E80888-9FCD-AB87-F116-B45FD57A96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4AF9029-8369-2285-8AFC-2F3521AE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09F8740-DFD9-EA88-8E71-7A2D14C3D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F934BA-3334-4710-AD91-245D93223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0614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D6885EF-8182-6875-2522-86A047D115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6BDAA1D-A158-8E03-7A30-0A5D6236B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A07AD0E-8011-21D4-200A-93CE07EB1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BC2CFEE-75A5-C9D8-B19B-690BED920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666BBE-E6F7-6FF3-5574-C0E141C91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118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475304-372F-B050-AC47-29D153D51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60DDA8-A757-6423-C510-7514400FB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6EB7F-73AB-00AB-E52A-ABDD6F076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315B1-8A60-47FC-9A9C-8EB8FFA1BE11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7C1BDC2-8CEA-962F-B2F7-799979B86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4B85AF-5142-5959-614B-DD93B12A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7821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9EF7A64-DD7B-2387-8F16-1BBCA8CE2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5F0BE48-F3CB-0FBA-ACA8-AFFA4829A1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BD9E988-78F5-0F09-4AB4-07B973CB81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8AD2BF-1B60-4235-8F29-0DAC4243CFC8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70187A1-2742-5BFE-6536-4AD7F6DC64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9D6687B-4797-138B-9B56-865207C3A5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97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https%3A%2F%2Fgithub.com%2FSauloJose%2FPASKalmanTraj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pii/S156625350400065X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google.com/search?q=https%3A%2F%2Fgithub.com%2FSauloJose%2FPASKalmanTraj" TargetMode="External"/><Relationship Id="rId4" Type="http://schemas.openxmlformats.org/officeDocument/2006/relationships/hyperlink" Target="https://www.google.com/search?q=https%3A%2F%2Farxiv.org%2Fabs%2F1807.08855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36D3A2E-52AE-4705-B182-7D672A273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1224" y="4446446"/>
            <a:ext cx="3972232" cy="81814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Professor: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Dr. Edson Porto da Silva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Aluno: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4A5047E-7E22-4696-AED2-4B5A3BF6E2F0}"/>
              </a:ext>
            </a:extLst>
          </p:cNvPr>
          <p:cNvSpPr txBox="1">
            <a:spLocks/>
          </p:cNvSpPr>
          <p:nvPr/>
        </p:nvSpPr>
        <p:spPr>
          <a:xfrm>
            <a:off x="1682175" y="3258378"/>
            <a:ext cx="8670331" cy="106976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2"/>
                </a:solidFill>
              </a:rPr>
              <a:t>RASTREAMENTO BIDIMENSIONAL DE ALVOS VIA FILTRO DE KALMAN ESTENDIDO EM SISTEMAS DE POSICIONAMENTO POR ESTAÇAO BASE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A4C55D7-217E-66E1-0BA4-DB510E93A830}"/>
              </a:ext>
            </a:extLst>
          </p:cNvPr>
          <p:cNvSpPr txBox="1"/>
          <p:nvPr/>
        </p:nvSpPr>
        <p:spPr>
          <a:xfrm>
            <a:off x="3785419" y="6155110"/>
            <a:ext cx="4463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dirty="0"/>
              <a:t>saulo.jose.silva@ee.ufcg.edu.br</a:t>
            </a:r>
            <a:endParaRPr lang="pt-B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Logomarcas">
            <a:extLst>
              <a:ext uri="{FF2B5EF4-FFF2-40B4-BE49-F238E27FC236}">
                <a16:creationId xmlns:a16="http://schemas.microsoft.com/office/drawing/2014/main" id="{2FA05E7E-E458-9BA7-D4BC-D3F4C6FFB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2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5397D17-0CD9-2E8A-9A91-4304C151E554}"/>
              </a:ext>
            </a:extLst>
          </p:cNvPr>
          <p:cNvSpPr txBox="1"/>
          <p:nvPr/>
        </p:nvSpPr>
        <p:spPr>
          <a:xfrm>
            <a:off x="2416493" y="2613066"/>
            <a:ext cx="7359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dirty="0">
                <a:latin typeface="Arial Black" panose="020B0A04020102020204" pitchFamily="34" charset="0"/>
                <a:cs typeface="Arial" panose="020B0604020202020204" pitchFamily="34" charset="0"/>
              </a:rPr>
              <a:t>PROCESSAMENTO ADAPTATIVO DE SINAIS - 2026</a:t>
            </a:r>
            <a:endParaRPr lang="pt-BR" sz="2000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574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AB643-7218-2B01-BCDA-649ADFCBD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4F2F874-FC0B-56C2-8CB8-AF9C780E919F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6B4EAFF-A4D5-F2CA-1FDA-5F545B089B4A}"/>
              </a:ext>
            </a:extLst>
          </p:cNvPr>
          <p:cNvSpPr txBox="1"/>
          <p:nvPr/>
        </p:nvSpPr>
        <p:spPr>
          <a:xfrm>
            <a:off x="1223682" y="88788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Sumário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C535880-AE30-AD40-3D1C-D2DDC19274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429E21E1-0ACB-1AEF-B647-FC8B575FD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9469" y="1726766"/>
            <a:ext cx="9888300" cy="4087034"/>
          </a:xfrm>
        </p:spPr>
        <p:txBody>
          <a:bodyPr numCol="2">
            <a:normAutofit/>
          </a:bodyPr>
          <a:lstStyle/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Contexto e Motivação;</a:t>
            </a:r>
            <a:endParaRPr lang="pt-BR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Objetivos;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Fundamentação Teórica;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3.1. Conceito de </a:t>
            </a:r>
            <a:r>
              <a:rPr lang="pt-BR" sz="1050" dirty="0" err="1">
                <a:latin typeface="Arial" panose="020B0604020202020204" pitchFamily="34" charset="0"/>
                <a:cs typeface="Arial" panose="020B0604020202020204" pitchFamily="34" charset="0"/>
              </a:rPr>
              <a:t>Belief</a:t>
            </a: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 (Crença) e Filtros de </a:t>
            </a:r>
            <a:r>
              <a:rPr lang="pt-BR" sz="1050" dirty="0" err="1"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/>
              <a:t>3.2. </a:t>
            </a: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Filtro de Kalman;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33. Por que EKF?;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Formulação do Problema;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4.1. Descrição do Problema;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4.2. Descrição dos Modelos;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Metodologia;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5.1. A arquitetura do simulador;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5.2. Métricas de Avaliação;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5.3. Cenários Experimentais;</a:t>
            </a:r>
          </a:p>
          <a:p>
            <a:pPr lvl="1" algn="just">
              <a:lnSpc>
                <a:spcPct val="100000"/>
              </a:lnSpc>
            </a:pPr>
            <a:endParaRPr lang="pt-BR" sz="10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Resultados;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6.1. Trajetórias;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6.2. Gráficos de RMSE;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6.3. NIS e Histogramas;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6.4. Caso Especial: Oclusão;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6.5. Resumo dos resultados;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Conclusão;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Trabalhos Futuros</a:t>
            </a:r>
          </a:p>
          <a:p>
            <a:pPr algn="just">
              <a:lnSpc>
                <a:spcPct val="100000"/>
              </a:lnSpc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Referências Bibliográficas</a:t>
            </a:r>
            <a:endParaRPr lang="pt-BR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49A176D-48AC-0BE4-8D78-2B7EB3A40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66A43142-BB92-87FD-0A99-66019A24F411}"/>
              </a:ext>
            </a:extLst>
          </p:cNvPr>
          <p:cNvCxnSpPr>
            <a:cxnSpLocks/>
          </p:cNvCxnSpPr>
          <p:nvPr/>
        </p:nvCxnSpPr>
        <p:spPr>
          <a:xfrm>
            <a:off x="5909188" y="1592826"/>
            <a:ext cx="0" cy="44459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46B9C3F-71E9-5FDD-DFE9-693113F70CF0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02/24</a:t>
            </a:r>
          </a:p>
        </p:txBody>
      </p:sp>
    </p:spTree>
    <p:extLst>
      <p:ext uri="{BB962C8B-B14F-4D97-AF65-F5344CB8AC3E}">
        <p14:creationId xmlns:p14="http://schemas.microsoft.com/office/powerpoint/2010/main" val="3959790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39D35-F631-75F8-E5F3-1CF33D64A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8C34EF7-2A48-A108-7DCA-86169AA2702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93C3CF6-F6DB-A1D4-1BFF-DDCD450B57C8}"/>
              </a:ext>
            </a:extLst>
          </p:cNvPr>
          <p:cNvSpPr txBox="1"/>
          <p:nvPr/>
        </p:nvSpPr>
        <p:spPr>
          <a:xfrm>
            <a:off x="1223682" y="887884"/>
            <a:ext cx="3118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Contexto e Motivação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EF56090-3847-ED3A-BFCD-CF1757FA3A9C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AC8F017-6538-6AEF-FC13-AA560BFA3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EFC7C48-2E84-E79F-BCA0-5C2BBBE8096D}"/>
              </a:ext>
            </a:extLst>
          </p:cNvPr>
          <p:cNvSpPr txBox="1"/>
          <p:nvPr/>
        </p:nvSpPr>
        <p:spPr>
          <a:xfrm>
            <a:off x="1223682" y="1738103"/>
            <a:ext cx="9129686" cy="2969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/>
              <a:t>Localização</a:t>
            </a:r>
            <a:r>
              <a:rPr lang="pt-BR" sz="1400" dirty="0"/>
              <a:t> é um requisito </a:t>
            </a:r>
            <a:r>
              <a:rPr lang="pt-BR" sz="1400" b="1" dirty="0"/>
              <a:t>fundamental</a:t>
            </a:r>
            <a:r>
              <a:rPr lang="pt-BR" sz="1400" dirty="0"/>
              <a:t> para a autonomia de robôs móveis.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/>
              <a:t>Em </a:t>
            </a:r>
            <a:r>
              <a:rPr lang="pt-BR" sz="1400" i="1" dirty="0"/>
              <a:t>Probabilistic Robotics</a:t>
            </a:r>
            <a:r>
              <a:rPr lang="pt-BR" sz="1400" dirty="0"/>
              <a:t>, </a:t>
            </a:r>
            <a:r>
              <a:rPr lang="pt-BR" sz="1400" dirty="0" err="1"/>
              <a:t>Thrun</a:t>
            </a:r>
            <a:r>
              <a:rPr lang="pt-BR" sz="1400" dirty="0"/>
              <a:t>, </a:t>
            </a:r>
            <a:r>
              <a:rPr lang="pt-BR" sz="1400" dirty="0" err="1"/>
              <a:t>Burgard</a:t>
            </a:r>
            <a:r>
              <a:rPr lang="pt-BR" sz="1400" dirty="0"/>
              <a:t> e Fox (2005) destacam a localização como </a:t>
            </a:r>
            <a:r>
              <a:rPr lang="pt-BR" sz="1400" b="1" dirty="0"/>
              <a:t>um dos problemas fundamentais da robótica móvel.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/>
              <a:t>Erros</a:t>
            </a:r>
            <a:r>
              <a:rPr lang="pt-BR" sz="1400" dirty="0"/>
              <a:t> </a:t>
            </a:r>
            <a:r>
              <a:rPr lang="pt-BR" sz="1400" b="1" dirty="0"/>
              <a:t>instrumentais</a:t>
            </a:r>
            <a:r>
              <a:rPr lang="pt-BR" sz="1400" dirty="0"/>
              <a:t> e </a:t>
            </a:r>
            <a:r>
              <a:rPr lang="pt-BR" sz="1400" b="1" dirty="0"/>
              <a:t>ruídos</a:t>
            </a:r>
            <a:r>
              <a:rPr lang="pt-BR" sz="1400" dirty="0"/>
              <a:t> </a:t>
            </a:r>
            <a:r>
              <a:rPr lang="pt-BR" sz="1400" b="1" dirty="0"/>
              <a:t>aleatórios</a:t>
            </a:r>
            <a:r>
              <a:rPr lang="pt-BR" sz="1400" dirty="0"/>
              <a:t> comprometem a qualidade das </a:t>
            </a:r>
            <a:r>
              <a:rPr lang="pt-BR" sz="1400" b="1" dirty="0"/>
              <a:t>estimativas</a:t>
            </a:r>
            <a:r>
              <a:rPr lang="pt-BR" sz="1400" dirty="0"/>
              <a:t> de posição;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/>
              <a:t>Soluções baseadas em GPS/IMU e </a:t>
            </a:r>
            <a:r>
              <a:rPr lang="pt-BR" sz="1400" b="1" dirty="0"/>
              <a:t>multilateração</a:t>
            </a:r>
            <a:r>
              <a:rPr lang="pt-BR" sz="1400" dirty="0"/>
              <a:t> demandam técnicas de </a:t>
            </a:r>
            <a:r>
              <a:rPr lang="pt-BR" sz="1400" b="1" dirty="0"/>
              <a:t>filtragem</a:t>
            </a:r>
            <a:r>
              <a:rPr lang="pt-BR" sz="1400" dirty="0"/>
              <a:t> </a:t>
            </a:r>
            <a:r>
              <a:rPr lang="pt-BR" sz="1400" b="1" dirty="0"/>
              <a:t>probabilística</a:t>
            </a:r>
            <a:r>
              <a:rPr lang="pt-BR" sz="1400" dirty="0"/>
              <a:t> para reduzir incertezas.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3C695FC-9241-4447-6970-2590BA3F448F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03/24</a:t>
            </a:r>
          </a:p>
        </p:txBody>
      </p:sp>
    </p:spTree>
    <p:extLst>
      <p:ext uri="{BB962C8B-B14F-4D97-AF65-F5344CB8AC3E}">
        <p14:creationId xmlns:p14="http://schemas.microsoft.com/office/powerpoint/2010/main" val="3278981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B6660-DA1D-D9D7-108F-1D48FCADB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2BA72657-3D57-A9A0-5BC7-6FF2479CE9C4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F792606-6FD8-F936-A756-3C6764F45E15}"/>
              </a:ext>
            </a:extLst>
          </p:cNvPr>
          <p:cNvSpPr txBox="1"/>
          <p:nvPr/>
        </p:nvSpPr>
        <p:spPr>
          <a:xfrm>
            <a:off x="1223682" y="887884"/>
            <a:ext cx="3118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Contexto e Motivação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3D857DFC-5C93-31E8-ED8F-AAA9CDBCBFD8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05FCF287-49C8-8C32-E9D1-97A554D02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76B05A79-5BC3-B02D-A47A-3786579E2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514" y="1645231"/>
            <a:ext cx="5559887" cy="4455423"/>
          </a:xfrm>
          <a:prstGeom prst="rect">
            <a:avLst/>
          </a:prstGeom>
        </p:spPr>
      </p:pic>
      <p:pic>
        <p:nvPicPr>
          <p:cNvPr id="26" name="Imagem 25" descr="Untitled">
            <a:extLst>
              <a:ext uri="{FF2B5EF4-FFF2-40B4-BE49-F238E27FC236}">
                <a16:creationId xmlns:a16="http://schemas.microsoft.com/office/drawing/2014/main" id="{C89A9442-7820-2CAB-A30A-C6CF35B85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588" y="2138936"/>
            <a:ext cx="3025642" cy="3413729"/>
          </a:xfrm>
          <a:prstGeom prst="rect">
            <a:avLst/>
          </a:prstGeom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9F62083A-6433-1CAB-3B79-CFE15CFF5DE5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04/24</a:t>
            </a:r>
          </a:p>
        </p:txBody>
      </p:sp>
    </p:spTree>
    <p:extLst>
      <p:ext uri="{BB962C8B-B14F-4D97-AF65-F5344CB8AC3E}">
        <p14:creationId xmlns:p14="http://schemas.microsoft.com/office/powerpoint/2010/main" val="1821386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85DA9-C19A-9694-13D3-7BF92BB4A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52A243-99FB-23EC-D174-4D378BDB07B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90F9F13-B7A9-94C9-0098-73D07CF7B7E9}"/>
              </a:ext>
            </a:extLst>
          </p:cNvPr>
          <p:cNvSpPr txBox="1"/>
          <p:nvPr/>
        </p:nvSpPr>
        <p:spPr>
          <a:xfrm>
            <a:off x="1223682" y="887884"/>
            <a:ext cx="16353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Objetivos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F88969D-9B23-3DAD-CFC3-5EC7A261630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98786219-376C-B1FB-8934-C388E088F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92A66D6-BFBC-D2BD-BB1E-6AF10117F812}"/>
              </a:ext>
            </a:extLst>
          </p:cNvPr>
          <p:cNvSpPr txBox="1"/>
          <p:nvPr/>
        </p:nvSpPr>
        <p:spPr>
          <a:xfrm>
            <a:off x="1223682" y="1777366"/>
            <a:ext cx="9440034" cy="1076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>
                <a:latin typeface="+mj-lt"/>
              </a:rPr>
              <a:t>Objetivo Geral</a:t>
            </a:r>
          </a:p>
          <a:p>
            <a:pPr lvl="1"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Desenvolver, Implementar e avaliar o desempenho de um </a:t>
            </a:r>
            <a:r>
              <a:rPr lang="pt-BR" sz="1400" b="1" dirty="0">
                <a:latin typeface="+mj-lt"/>
              </a:rPr>
              <a:t>Filtro de Kalman Estendido (EKF) </a:t>
            </a:r>
            <a:r>
              <a:rPr lang="pt-BR" sz="1400" dirty="0">
                <a:latin typeface="+mj-lt"/>
              </a:rPr>
              <a:t>para o contexto de </a:t>
            </a:r>
            <a:r>
              <a:rPr lang="pt-BR" sz="1400" b="1" dirty="0">
                <a:latin typeface="+mj-lt"/>
              </a:rPr>
              <a:t>rastreamento</a:t>
            </a:r>
            <a:r>
              <a:rPr lang="pt-BR" sz="1400" dirty="0">
                <a:latin typeface="+mj-lt"/>
              </a:rPr>
              <a:t> bidimensional sob </a:t>
            </a:r>
            <a:r>
              <a:rPr lang="pt-BR" sz="1400" b="1" dirty="0">
                <a:latin typeface="+mj-lt"/>
              </a:rPr>
              <a:t>restrições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não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lineares</a:t>
            </a:r>
            <a:r>
              <a:rPr lang="pt-BR" sz="1400" dirty="0">
                <a:latin typeface="+mj-lt"/>
              </a:rPr>
              <a:t> de medição.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6593843-7F34-8639-7E71-B1E95EB8D242}"/>
              </a:ext>
            </a:extLst>
          </p:cNvPr>
          <p:cNvSpPr txBox="1"/>
          <p:nvPr/>
        </p:nvSpPr>
        <p:spPr>
          <a:xfrm>
            <a:off x="1223682" y="3125582"/>
            <a:ext cx="9440034" cy="2046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>
                <a:latin typeface="+mj-lt"/>
              </a:rPr>
              <a:t>Objetivo Específicos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Modelar</a:t>
            </a:r>
            <a:r>
              <a:rPr lang="pt-BR" sz="1400" dirty="0">
                <a:latin typeface="+mj-lt"/>
              </a:rPr>
              <a:t> a cinemática do alvo (modelo PVA) e as equações não-lineares de medição de distância (</a:t>
            </a:r>
            <a:r>
              <a:rPr lang="pt-BR" sz="1400" i="1" dirty="0">
                <a:latin typeface="+mj-lt"/>
              </a:rPr>
              <a:t>range-</a:t>
            </a:r>
            <a:r>
              <a:rPr lang="pt-BR" sz="1400" i="1" dirty="0" err="1">
                <a:latin typeface="+mj-lt"/>
              </a:rPr>
              <a:t>only</a:t>
            </a:r>
            <a:r>
              <a:rPr lang="pt-BR" sz="1400" dirty="0">
                <a:latin typeface="+mj-lt"/>
              </a:rPr>
              <a:t>);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Estruturar</a:t>
            </a:r>
            <a:r>
              <a:rPr lang="pt-BR" sz="1400" dirty="0">
                <a:latin typeface="+mj-lt"/>
              </a:rPr>
              <a:t> o algoritmo recursivo do Filtro de Kalman Estendido (EKF) para o rastreamento 2D;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Desenvolver</a:t>
            </a:r>
            <a:r>
              <a:rPr lang="pt-BR" sz="1400" dirty="0">
                <a:latin typeface="+mj-lt"/>
              </a:rPr>
              <a:t> um ambiente de simulação modular em Python com interface gráfica (GUI) interativa;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Validar</a:t>
            </a:r>
            <a:r>
              <a:rPr lang="pt-BR" sz="1400" dirty="0">
                <a:latin typeface="+mj-lt"/>
              </a:rPr>
              <a:t> o estimador combinando métricas geométricas (RMSE, Taxa de Inliers) e estatísticas (NIS);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Analisar</a:t>
            </a:r>
            <a:r>
              <a:rPr lang="pt-BR" sz="1400" dirty="0">
                <a:latin typeface="+mj-lt"/>
              </a:rPr>
              <a:t> a robustez preditiva do modelo sob condições de oclusão temporária de sinal.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389D6AB-ED4E-D809-8DED-C44F7B26EE06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05/24</a:t>
            </a:r>
          </a:p>
        </p:txBody>
      </p:sp>
    </p:spTree>
    <p:extLst>
      <p:ext uri="{BB962C8B-B14F-4D97-AF65-F5344CB8AC3E}">
        <p14:creationId xmlns:p14="http://schemas.microsoft.com/office/powerpoint/2010/main" val="111364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0513A-1137-D25D-698B-06CA18D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4E17784-693A-A5E0-E795-3DF6DEE98EC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33A00B1-4673-5E7F-C992-C02313C5D761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A3AA830-CC26-5EFE-3A3F-F1C592DCB6F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BA5323FE-DB2A-43CB-6BC0-A3229F69D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4B7B1E2-3640-871D-455E-F67118927921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3.1. </a:t>
            </a:r>
            <a:r>
              <a:rPr lang="pt-BR" sz="1600" dirty="0">
                <a:latin typeface="+mj-lt"/>
              </a:rPr>
              <a:t>Conceito de </a:t>
            </a:r>
            <a:r>
              <a:rPr lang="pt-BR" sz="1600" i="1" dirty="0" err="1">
                <a:latin typeface="+mj-lt"/>
              </a:rPr>
              <a:t>Belief</a:t>
            </a:r>
            <a:r>
              <a:rPr lang="pt-BR" sz="1600" dirty="0">
                <a:latin typeface="+mj-lt"/>
              </a:rPr>
              <a:t> (Crença) e Filtros de </a:t>
            </a:r>
            <a:r>
              <a:rPr lang="pt-BR" sz="1600" dirty="0" err="1"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endParaRPr lang="pt-BR" sz="1600" dirty="0">
              <a:latin typeface="+mj-lt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1471CCA-DC9F-2FAB-FC2F-E518DA8DED08}"/>
              </a:ext>
            </a:extLst>
          </p:cNvPr>
          <p:cNvSpPr txBox="1"/>
          <p:nvPr/>
        </p:nvSpPr>
        <p:spPr>
          <a:xfrm>
            <a:off x="1321928" y="4632106"/>
            <a:ext cx="9801519" cy="1298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i="1" dirty="0"/>
              <a:t>“[...] A </a:t>
            </a:r>
            <a:r>
              <a:rPr lang="pt-BR" i="1" dirty="0" err="1"/>
              <a:t>robot</a:t>
            </a:r>
            <a:r>
              <a:rPr lang="pt-BR" i="1" dirty="0"/>
              <a:t> </a:t>
            </a:r>
            <a:r>
              <a:rPr lang="pt-BR" i="1" dirty="0" err="1"/>
              <a:t>that</a:t>
            </a:r>
            <a:r>
              <a:rPr lang="pt-BR" i="1" dirty="0"/>
              <a:t> </a:t>
            </a:r>
            <a:r>
              <a:rPr lang="pt-BR" i="1" dirty="0" err="1"/>
              <a:t>carries</a:t>
            </a:r>
            <a:r>
              <a:rPr lang="pt-BR" i="1" dirty="0"/>
              <a:t> a </a:t>
            </a:r>
            <a:r>
              <a:rPr lang="pt-BR" i="1" dirty="0" err="1"/>
              <a:t>notion</a:t>
            </a:r>
            <a:r>
              <a:rPr lang="pt-BR" i="1" dirty="0"/>
              <a:t> </a:t>
            </a:r>
            <a:r>
              <a:rPr lang="pt-BR" i="1" dirty="0" err="1"/>
              <a:t>of</a:t>
            </a:r>
            <a:r>
              <a:rPr lang="pt-BR" i="1" dirty="0"/>
              <a:t> its </a:t>
            </a:r>
            <a:r>
              <a:rPr lang="pt-BR" i="1" dirty="0" err="1"/>
              <a:t>own</a:t>
            </a:r>
            <a:r>
              <a:rPr lang="pt-BR" i="1" dirty="0"/>
              <a:t> </a:t>
            </a:r>
            <a:r>
              <a:rPr lang="pt-BR" i="1" dirty="0" err="1"/>
              <a:t>uncertainty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that</a:t>
            </a:r>
            <a:r>
              <a:rPr lang="pt-BR" i="1" dirty="0"/>
              <a:t> </a:t>
            </a:r>
            <a:r>
              <a:rPr lang="pt-BR" i="1" dirty="0" err="1"/>
              <a:t>acts</a:t>
            </a:r>
            <a:r>
              <a:rPr lang="pt-BR" i="1" dirty="0"/>
              <a:t> </a:t>
            </a:r>
            <a:r>
              <a:rPr lang="pt-BR" i="1" dirty="0" err="1"/>
              <a:t>accordingly</a:t>
            </a:r>
            <a:r>
              <a:rPr lang="pt-BR" i="1" dirty="0"/>
              <a:t>, </a:t>
            </a:r>
            <a:r>
              <a:rPr lang="pt-BR" i="1" dirty="0" err="1"/>
              <a:t>will</a:t>
            </a:r>
            <a:r>
              <a:rPr lang="pt-BR" i="1" dirty="0"/>
              <a:t> do </a:t>
            </a:r>
            <a:r>
              <a:rPr lang="pt-BR" i="1" dirty="0" err="1"/>
              <a:t>better</a:t>
            </a:r>
            <a:r>
              <a:rPr lang="pt-BR" i="1" dirty="0"/>
              <a:t> </a:t>
            </a:r>
            <a:r>
              <a:rPr lang="pt-BR" i="1" dirty="0" err="1"/>
              <a:t>than</a:t>
            </a:r>
            <a:r>
              <a:rPr lang="pt-BR" i="1" dirty="0"/>
              <a:t> </a:t>
            </a:r>
            <a:r>
              <a:rPr lang="pt-BR" i="1" dirty="0" err="1"/>
              <a:t>one</a:t>
            </a:r>
            <a:r>
              <a:rPr lang="pt-BR" i="1" dirty="0"/>
              <a:t> </a:t>
            </a:r>
            <a:r>
              <a:rPr lang="pt-BR" i="1" dirty="0" err="1"/>
              <a:t>tha</a:t>
            </a:r>
            <a:r>
              <a:rPr lang="pt-BR" i="1" dirty="0"/>
              <a:t> does </a:t>
            </a:r>
            <a:r>
              <a:rPr lang="pt-BR" i="1" dirty="0" err="1"/>
              <a:t>not</a:t>
            </a:r>
            <a:r>
              <a:rPr lang="pt-BR" i="1" dirty="0"/>
              <a:t>.”  </a:t>
            </a:r>
          </a:p>
          <a:p>
            <a:pPr algn="r">
              <a:lnSpc>
                <a:spcPct val="150000"/>
              </a:lnSpc>
            </a:pPr>
            <a:r>
              <a:rPr lang="pt-BR" i="1" dirty="0"/>
              <a:t>- THRUN; BURGARD; FOX, 2005.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32315F-49EF-909F-917C-274CEDC6D423}"/>
              </a:ext>
            </a:extLst>
          </p:cNvPr>
          <p:cNvSpPr/>
          <p:nvPr/>
        </p:nvSpPr>
        <p:spPr>
          <a:xfrm>
            <a:off x="2949677" y="2220854"/>
            <a:ext cx="1809135" cy="10172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Modelo determinístico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8723531-7AB9-929C-EB4D-DA3A4A6389DA}"/>
              </a:ext>
            </a:extLst>
          </p:cNvPr>
          <p:cNvSpPr/>
          <p:nvPr/>
        </p:nvSpPr>
        <p:spPr>
          <a:xfrm>
            <a:off x="6772164" y="2220854"/>
            <a:ext cx="1809135" cy="10172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Modelo Probabilístico</a:t>
            </a: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5822E0E5-FDA7-3A2A-DE36-E807EE13F902}"/>
              </a:ext>
            </a:extLst>
          </p:cNvPr>
          <p:cNvSpPr/>
          <p:nvPr/>
        </p:nvSpPr>
        <p:spPr>
          <a:xfrm>
            <a:off x="5308288" y="2572169"/>
            <a:ext cx="914400" cy="31463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196B3D92-7D49-9FD8-D9A0-D6B9E03E4108}"/>
                  </a:ext>
                </a:extLst>
              </p:cNvPr>
              <p:cNvSpPr txBox="1"/>
              <p:nvPr/>
            </p:nvSpPr>
            <p:spPr>
              <a:xfrm>
                <a:off x="2876822" y="3487344"/>
                <a:ext cx="1909689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−1 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196B3D92-7D49-9FD8-D9A0-D6B9E03E41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822" y="3487344"/>
                <a:ext cx="1909689" cy="617861"/>
              </a:xfrm>
              <a:prstGeom prst="rect">
                <a:avLst/>
              </a:prstGeom>
              <a:blipFill>
                <a:blip r:embed="rId3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0A325BE-8A4C-65B6-F1A1-015D5DFD854E}"/>
                  </a:ext>
                </a:extLst>
              </p:cNvPr>
              <p:cNvSpPr txBox="1"/>
              <p:nvPr/>
            </p:nvSpPr>
            <p:spPr>
              <a:xfrm>
                <a:off x="6644878" y="3522465"/>
                <a:ext cx="2063705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~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0A325BE-8A4C-65B6-F1A1-015D5DFD85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878" y="3522465"/>
                <a:ext cx="2063705" cy="617861"/>
              </a:xfrm>
              <a:prstGeom prst="rect">
                <a:avLst/>
              </a:prstGeom>
              <a:blipFill>
                <a:blip r:embed="rId4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aixaDeTexto 12">
            <a:extLst>
              <a:ext uri="{FF2B5EF4-FFF2-40B4-BE49-F238E27FC236}">
                <a16:creationId xmlns:a16="http://schemas.microsoft.com/office/drawing/2014/main" id="{5540375F-7E8F-B7D6-C170-F312D501E5FB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06/24</a:t>
            </a:r>
          </a:p>
        </p:txBody>
      </p:sp>
    </p:spTree>
    <p:extLst>
      <p:ext uri="{BB962C8B-B14F-4D97-AF65-F5344CB8AC3E}">
        <p14:creationId xmlns:p14="http://schemas.microsoft.com/office/powerpoint/2010/main" val="1911350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468EE-2F2A-24DB-F3E5-82C76DC5F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0A12D8-8386-D93A-47D3-F1D10490DFA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B5F404D-7D76-02F2-CB28-AAD306F14714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5A4F987-818F-D30B-5CE5-0ACEC184874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B47F50F-5C9A-6E77-D1DD-0F1B87F191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FFA363F-61BB-51E6-C244-092A21D85462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3.1. </a:t>
            </a:r>
            <a:r>
              <a:rPr lang="pt-BR" sz="1600" dirty="0">
                <a:latin typeface="+mj-lt"/>
              </a:rPr>
              <a:t>Conceito de </a:t>
            </a:r>
            <a:r>
              <a:rPr lang="pt-BR" sz="1600" i="1" dirty="0" err="1">
                <a:latin typeface="+mj-lt"/>
              </a:rPr>
              <a:t>Belief</a:t>
            </a:r>
            <a:r>
              <a:rPr lang="pt-BR" sz="1600" dirty="0">
                <a:latin typeface="+mj-lt"/>
              </a:rPr>
              <a:t> (Crença) e Filtros de </a:t>
            </a:r>
            <a:r>
              <a:rPr lang="pt-BR" sz="1600" dirty="0" err="1"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endParaRPr lang="pt-BR" sz="1600" dirty="0"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833CC6-BC3C-E370-99BD-5F70D9A2B3C4}"/>
              </a:ext>
            </a:extLst>
          </p:cNvPr>
          <p:cNvSpPr txBox="1"/>
          <p:nvPr/>
        </p:nvSpPr>
        <p:spPr>
          <a:xfrm>
            <a:off x="1223682" y="2113646"/>
            <a:ext cx="6690495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/>
              <a:t>A </a:t>
            </a:r>
            <a:r>
              <a:rPr lang="pt-BR" sz="1400" b="1" dirty="0"/>
              <a:t>crença</a:t>
            </a:r>
            <a:r>
              <a:rPr lang="pt-BR" sz="1400" dirty="0"/>
              <a:t> (</a:t>
            </a:r>
            <a:r>
              <a:rPr lang="pt-BR" sz="1400" i="1" dirty="0" err="1"/>
              <a:t>belief</a:t>
            </a:r>
            <a:r>
              <a:rPr lang="pt-BR" sz="1400" dirty="0"/>
              <a:t>) representa a </a:t>
            </a:r>
            <a:r>
              <a:rPr lang="pt-BR" sz="1400" b="1" dirty="0"/>
              <a:t>estimativa</a:t>
            </a:r>
            <a:r>
              <a:rPr lang="pt-BR" sz="1400" dirty="0"/>
              <a:t> que o robô possui sobre </a:t>
            </a:r>
            <a:r>
              <a:rPr lang="pt-BR" sz="1400" b="1" dirty="0"/>
              <a:t>seu</a:t>
            </a:r>
            <a:r>
              <a:rPr lang="pt-BR" sz="1400" dirty="0"/>
              <a:t> </a:t>
            </a:r>
            <a:r>
              <a:rPr lang="pt-BR" sz="1400" b="1" dirty="0"/>
              <a:t>estado</a:t>
            </a:r>
            <a:r>
              <a:rPr lang="pt-BR" sz="1400" dirty="0"/>
              <a:t> e </a:t>
            </a:r>
            <a:r>
              <a:rPr lang="pt-BR" sz="1400" b="1" dirty="0"/>
              <a:t>sua</a:t>
            </a:r>
            <a:r>
              <a:rPr lang="pt-BR" sz="1400" dirty="0"/>
              <a:t> </a:t>
            </a:r>
            <a:r>
              <a:rPr lang="pt-BR" sz="1400" b="1" dirty="0"/>
              <a:t>incerteza</a:t>
            </a:r>
            <a:r>
              <a:rPr lang="pt-BR" sz="1400" dirty="0"/>
              <a:t>, enquanto o </a:t>
            </a:r>
            <a:r>
              <a:rPr lang="pt-BR" sz="1400" b="1" dirty="0"/>
              <a:t>Filtro</a:t>
            </a:r>
            <a:r>
              <a:rPr lang="pt-BR" sz="1400" dirty="0"/>
              <a:t> </a:t>
            </a:r>
            <a:r>
              <a:rPr lang="pt-BR" sz="1400" b="1" dirty="0"/>
              <a:t>de</a:t>
            </a:r>
            <a:r>
              <a:rPr lang="pt-BR" sz="1400" dirty="0"/>
              <a:t> </a:t>
            </a:r>
            <a:r>
              <a:rPr lang="pt-BR" sz="1400" b="1" dirty="0" err="1"/>
              <a:t>Bayes</a:t>
            </a:r>
            <a:r>
              <a:rPr lang="pt-BR" sz="1400" dirty="0"/>
              <a:t> é o método matemático que atualiza essa estimativa com base nas medições dos sensores e no modelo do sistema.</a:t>
            </a:r>
            <a:endParaRPr lang="pt-BR" sz="1400" dirty="0">
              <a:latin typeface="+mj-lt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DB0E2F7D-0D7F-2453-FC4C-76C135FDE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8913" y="4317634"/>
            <a:ext cx="4231534" cy="165248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49E01CF1-6DA6-306D-9DC0-8771F3544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211" y="3531987"/>
            <a:ext cx="2420938" cy="368096"/>
          </a:xfrm>
          <a:prstGeom prst="rect">
            <a:avLst/>
          </a:prstGeom>
          <a:ln>
            <a:noFill/>
          </a:ln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3B259E1F-DAE0-E6F3-322B-3A8F74DD16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3504" y="1560392"/>
            <a:ext cx="3461849" cy="4779631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892ACB7C-925D-4E73-0444-895B9A3444A7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07/24</a:t>
            </a:r>
          </a:p>
        </p:txBody>
      </p:sp>
    </p:spTree>
    <p:extLst>
      <p:ext uri="{BB962C8B-B14F-4D97-AF65-F5344CB8AC3E}">
        <p14:creationId xmlns:p14="http://schemas.microsoft.com/office/powerpoint/2010/main" val="3414279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EC121-3EF6-2D61-63D8-5E99EE065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7CE1C0CC-894E-EB9B-1E5E-963E005D3AA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A802BA2-28C4-4C44-B525-643BE999A744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CE8F5887-128F-4EC0-484F-62BDBE70A1B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59BF23AC-211D-639F-4E94-7D9D39184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710934D-AF9D-5AF4-8206-5C39F440AE53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3.2. </a:t>
            </a:r>
            <a:r>
              <a:rPr lang="pt-BR" sz="1600" dirty="0">
                <a:latin typeface="+mj-lt"/>
              </a:rPr>
              <a:t>Filtro de Kalman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E9D8CF1-EA21-D736-CF8E-48E24DCC66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3428704"/>
            <a:ext cx="5401221" cy="271253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157C754-2261-E081-7BDF-5945D2162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4019" y="3828978"/>
            <a:ext cx="3863665" cy="206781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555B6D77-35AD-0104-6611-BC2C9C6364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6384" y="1848572"/>
            <a:ext cx="2494629" cy="7843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6A340735-3AE6-6569-96E5-C0501554E1C1}"/>
                  </a:ext>
                </a:extLst>
              </p:cNvPr>
              <p:cNvSpPr txBox="1"/>
              <p:nvPr/>
            </p:nvSpPr>
            <p:spPr>
              <a:xfrm>
                <a:off x="1312338" y="2729162"/>
                <a:ext cx="9872602" cy="706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pt-BR" sz="1400" dirty="0"/>
                  <a:t>O Filtro de Kalman é aplicado a modelos lineares do tipo </a:t>
                </a:r>
                <a:r>
                  <a:rPr lang="pt-BR" sz="1400" b="1" dirty="0"/>
                  <a:t>Gauss-Markov</a:t>
                </a:r>
                <a:r>
                  <a:rPr lang="pt-BR" sz="1400" dirty="0"/>
                  <a:t>, assumindo que os ruídos de processo e de medição são </a:t>
                </a:r>
                <a:r>
                  <a:rPr lang="pt-BR" sz="1400" b="1" dirty="0"/>
                  <a:t>Gaussianos</a:t>
                </a:r>
                <a:r>
                  <a:rPr lang="pt-BR" sz="1400" dirty="0"/>
                  <a:t> de média nula, isto é,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/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𝝐</m:t>
                        </m:r>
                      </m:e>
                      <m:sub>
                        <m:r>
                          <a:rPr lang="pt-BR" sz="1400" b="1" i="1"/>
                          <m:t>𝒌</m:t>
                        </m:r>
                      </m:sub>
                    </m:sSub>
                    <m:r>
                      <a:rPr lang="pt-BR" sz="1400" b="1"/>
                      <m:t>∼</m:t>
                    </m:r>
                    <m:r>
                      <a:rPr lang="pt-BR" sz="1400" b="1" i="1"/>
                      <m:t>𝓝</m:t>
                    </m:r>
                    <m:d>
                      <m:dPr>
                        <m:ctrlPr>
                          <a:rPr lang="pt-BR" sz="1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</m:oMath>
                </a14:m>
                <a:r>
                  <a:rPr lang="pt-BR" sz="1400" dirty="0"/>
                  <a:t> 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/>
                        </m:ctrlPr>
                      </m:sSubPr>
                      <m:e>
                        <m:r>
                          <a:rPr lang="pt-BR" sz="1400" b="1" i="1"/>
                          <m:t>𝜹</m:t>
                        </m:r>
                      </m:e>
                      <m:sub>
                        <m:r>
                          <a:rPr lang="pt-BR" sz="1400" b="1" i="1"/>
                          <m:t>𝒌</m:t>
                        </m:r>
                      </m:sub>
                    </m:sSub>
                    <m:r>
                      <a:rPr lang="pt-BR" sz="1400" b="1"/>
                      <m:t>∼</m:t>
                    </m:r>
                    <m:r>
                      <a:rPr lang="pt-BR" sz="1400" b="1" i="1"/>
                      <m:t>𝓝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𝑹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1400" dirty="0"/>
                  <a:t>.</a:t>
                </a:r>
                <a:endParaRPr lang="pt-BR" sz="1400" dirty="0">
                  <a:latin typeface="+mj-lt"/>
                </a:endParaRPr>
              </a:p>
            </p:txBody>
          </p:sp>
        </mc:Choice>
        <mc:Fallback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6A340735-3AE6-6569-96E5-C0501554E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338" y="2729162"/>
                <a:ext cx="9872602" cy="706540"/>
              </a:xfrm>
              <a:prstGeom prst="rect">
                <a:avLst/>
              </a:prstGeom>
              <a:blipFill>
                <a:blip r:embed="rId6"/>
                <a:stretch>
                  <a:fillRect l="-185" r="-123" b="-77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aixaDeTexto 15">
            <a:extLst>
              <a:ext uri="{FF2B5EF4-FFF2-40B4-BE49-F238E27FC236}">
                <a16:creationId xmlns:a16="http://schemas.microsoft.com/office/drawing/2014/main" id="{1730F287-0C52-79B4-293A-9C8D6C47A2A3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08/24</a:t>
            </a:r>
          </a:p>
        </p:txBody>
      </p:sp>
    </p:spTree>
    <p:extLst>
      <p:ext uri="{BB962C8B-B14F-4D97-AF65-F5344CB8AC3E}">
        <p14:creationId xmlns:p14="http://schemas.microsoft.com/office/powerpoint/2010/main" val="330156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3052B-827B-261A-2DA4-386ADC036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CBE88FB-A703-85A3-DB8D-65C7D7C410A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FC8F96B-4872-356A-D6FB-5CFF07057297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623D9CF-003F-8894-BAEB-F71404AA55A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4A47140-A9EB-6403-EE01-5CA34E87A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15869483-98C7-B24C-DF5B-423D1D0E6BDC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3.2. </a:t>
            </a:r>
            <a:r>
              <a:rPr lang="pt-BR" sz="1600" dirty="0">
                <a:latin typeface="+mj-lt"/>
              </a:rPr>
              <a:t>Por que o EKF?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19DB1C3-07DC-E7E9-CB2D-C1DCCC6D8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231" y="1931952"/>
            <a:ext cx="2434936" cy="82566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9D88965C-54C5-0111-C7B3-C24C7396865D}"/>
                  </a:ext>
                </a:extLst>
              </p:cNvPr>
              <p:cNvSpPr txBox="1"/>
              <p:nvPr/>
            </p:nvSpPr>
            <p:spPr>
              <a:xfrm>
                <a:off x="1223682" y="2866809"/>
                <a:ext cx="10053918" cy="706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pt-BR" sz="1400" dirty="0"/>
                  <a:t>Quando o modelo de transição de estados ou de observação não é no formato </a:t>
                </a:r>
                <a:r>
                  <a:rPr lang="pt-BR" sz="1400" b="1" dirty="0"/>
                  <a:t>linear</a:t>
                </a:r>
                <a:r>
                  <a:rPr lang="pt-BR" sz="1400" dirty="0"/>
                  <a:t>, é utilizado uma linearização por expansão de </a:t>
                </a:r>
                <a:r>
                  <a:rPr lang="pt-BR" sz="1400" b="1" dirty="0"/>
                  <a:t>séries</a:t>
                </a:r>
                <a:r>
                  <a:rPr lang="pt-BR" sz="1400" dirty="0"/>
                  <a:t> </a:t>
                </a:r>
                <a:r>
                  <a:rPr lang="pt-BR" sz="1400" b="1" dirty="0"/>
                  <a:t>de</a:t>
                </a:r>
                <a:r>
                  <a:rPr lang="pt-BR" sz="1400" dirty="0"/>
                  <a:t> </a:t>
                </a:r>
                <a:r>
                  <a:rPr lang="pt-BR" sz="1400" b="1" dirty="0"/>
                  <a:t>Taylor</a:t>
                </a:r>
                <a:r>
                  <a:rPr lang="pt-BR" sz="1400" dirty="0"/>
                  <a:t> calculando, portanto, as jacobianas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, </a:t>
                </a:r>
                <a:r>
                  <a:rPr lang="pt-BR" sz="1400" dirty="0">
                    <a:latin typeface="+mj-lt"/>
                  </a:rPr>
                  <a:t>substituindo as matrizes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no algoritmo do filtro.</a:t>
                </a:r>
                <a:endParaRPr lang="pt-BR" sz="1400" b="1" dirty="0">
                  <a:latin typeface="+mj-lt"/>
                </a:endParaRPr>
              </a:p>
            </p:txBody>
          </p:sp>
        </mc:Choice>
        <mc:Fallback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9D88965C-54C5-0111-C7B3-C24C73968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682" y="2866809"/>
                <a:ext cx="10053918" cy="706540"/>
              </a:xfrm>
              <a:prstGeom prst="rect">
                <a:avLst/>
              </a:prstGeom>
              <a:blipFill>
                <a:blip r:embed="rId4"/>
                <a:stretch>
                  <a:fillRect l="-182" r="-182" b="-86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m 13">
            <a:extLst>
              <a:ext uri="{FF2B5EF4-FFF2-40B4-BE49-F238E27FC236}">
                <a16:creationId xmlns:a16="http://schemas.microsoft.com/office/drawing/2014/main" id="{B985984C-6C75-0ED0-C3FB-723BF76C82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4153" y="4070280"/>
            <a:ext cx="2908776" cy="155941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33A6DCE1-3365-0379-2EF3-1A17A2A6FDD5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09/24</a:t>
            </a: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1F7B6114-2831-9A6F-E585-22CD89C45F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008" y="3731833"/>
            <a:ext cx="4171553" cy="2545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875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80D70-0355-D3CE-0311-BBF49000F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F9CBF34-313C-9AD6-1023-13F5256569E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CD92292-8ED6-D315-EA51-57D6E890E1BC}"/>
              </a:ext>
            </a:extLst>
          </p:cNvPr>
          <p:cNvSpPr txBox="1"/>
          <p:nvPr/>
        </p:nvSpPr>
        <p:spPr>
          <a:xfrm>
            <a:off x="1223682" y="887884"/>
            <a:ext cx="35461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Formulação do Problema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94444EE5-1C5E-74F0-487D-B0B9117ACAE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D94CBB7-229C-9A2F-6C75-36A5555B6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553DA30-2F86-5511-D585-45AB6D6D66BC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4.1. </a:t>
            </a:r>
            <a:r>
              <a:rPr lang="pt-BR" sz="1600" dirty="0">
                <a:latin typeface="+mj-lt"/>
              </a:rPr>
              <a:t>Descrição do Problema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6E1FD8D-B828-FFF0-50B2-7A117F3684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1548535"/>
            <a:ext cx="5074578" cy="422260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15AE95F-0899-1D57-4131-02D29B5C362D}"/>
                  </a:ext>
                </a:extLst>
              </p:cNvPr>
              <p:cNvSpPr txBox="1"/>
              <p:nvPr/>
            </p:nvSpPr>
            <p:spPr>
              <a:xfrm>
                <a:off x="1223682" y="2268119"/>
                <a:ext cx="4376488" cy="3154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Objeto:</a:t>
                </a:r>
                <a:r>
                  <a:rPr lang="pt-BR" sz="1400" dirty="0"/>
                  <a:t> Robô móvel em plano 2D.</a:t>
                </a:r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endParaRPr lang="pt-BR" sz="1400" dirty="0"/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Descrição do ambiente:</a:t>
                </a:r>
                <a:r>
                  <a:rPr lang="pt-BR" sz="1400" dirty="0"/>
                  <a:t> 4 estações base fixas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sz="14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1400" dirty="0"/>
                  <a:t> (âncoras).</a:t>
                </a:r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endParaRPr lang="pt-BR" sz="1400" dirty="0"/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Desafio:</a:t>
                </a:r>
                <a:r>
                  <a:rPr lang="pt-BR" sz="1400" dirty="0"/>
                  <a:t> Melhorar a estimativa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1400" dirty="0"/>
                  <a:t> do robô via medições de distância ruidosas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1400" dirty="0"/>
                  <a:t> do robô até as torres i.</a:t>
                </a:r>
              </a:p>
              <a:p>
                <a:endParaRPr lang="pt-BR" sz="1400" dirty="0"/>
              </a:p>
              <a:p>
                <a:endParaRPr lang="pt-BR" sz="1400" dirty="0"/>
              </a:p>
              <a:p>
                <a:endParaRPr lang="pt-BR" sz="140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  <a:p>
                <a:r>
                  <a:rPr lang="pt-BR" sz="1400" dirty="0"/>
                  <a:t>	</a:t>
                </a:r>
                <a:endParaRPr lang="pt-BR" sz="140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sSup>
                        <m:sSupPr>
                          <m:ctrlP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15AE95F-0899-1D57-4131-02D29B5C36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682" y="2268119"/>
                <a:ext cx="4376488" cy="3154005"/>
              </a:xfrm>
              <a:prstGeom prst="rect">
                <a:avLst/>
              </a:prstGeom>
              <a:blipFill>
                <a:blip r:embed="rId4"/>
                <a:stretch>
                  <a:fillRect l="-279" t="-3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F5401338-211E-2AB2-733C-56F03EBC613A}"/>
                  </a:ext>
                </a:extLst>
              </p:cNvPr>
              <p:cNvSpPr txBox="1"/>
              <p:nvPr/>
            </p:nvSpPr>
            <p:spPr>
              <a:xfrm>
                <a:off x="8234516" y="4141750"/>
                <a:ext cx="585019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F5401338-211E-2AB2-733C-56F03EBC61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16" y="4141750"/>
                <a:ext cx="585019" cy="246221"/>
              </a:xfrm>
              <a:prstGeom prst="rect">
                <a:avLst/>
              </a:prstGeom>
              <a:blipFill>
                <a:blip r:embed="rId5"/>
                <a:stretch>
                  <a:fillRect l="-16667" r="-22917" b="-31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ixaDeTexto 9">
            <a:extLst>
              <a:ext uri="{FF2B5EF4-FFF2-40B4-BE49-F238E27FC236}">
                <a16:creationId xmlns:a16="http://schemas.microsoft.com/office/drawing/2014/main" id="{C395E829-A64C-F42E-525B-96615A5ED584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10/24</a:t>
            </a:r>
          </a:p>
        </p:txBody>
      </p:sp>
    </p:spTree>
    <p:extLst>
      <p:ext uri="{BB962C8B-B14F-4D97-AF65-F5344CB8AC3E}">
        <p14:creationId xmlns:p14="http://schemas.microsoft.com/office/powerpoint/2010/main" val="3856707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D67FA-8528-F504-3C6D-7F11B22AB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1799290-59A3-FA27-8CCA-EF9A8A56D4C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0BEC988-788D-EE1F-098C-F82B72CFADF6}"/>
              </a:ext>
            </a:extLst>
          </p:cNvPr>
          <p:cNvSpPr txBox="1"/>
          <p:nvPr/>
        </p:nvSpPr>
        <p:spPr>
          <a:xfrm>
            <a:off x="1223682" y="887884"/>
            <a:ext cx="35461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Formulação do Problema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9C687CB-1381-2EEE-DBC0-987E22B68E45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127D6BA-E897-042D-4E8E-92C198105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690756B-04EE-59D4-3EC5-9BD6CB8EE9DA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4.2. </a:t>
            </a:r>
            <a:r>
              <a:rPr lang="pt-BR" sz="1600" dirty="0">
                <a:latin typeface="+mj-lt"/>
              </a:rPr>
              <a:t>Descrição dos Modelos Utilizados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0A6400CB-455D-630B-CE39-C7663143DBB3}"/>
              </a:ext>
            </a:extLst>
          </p:cNvPr>
          <p:cNvCxnSpPr>
            <a:cxnSpLocks/>
          </p:cNvCxnSpPr>
          <p:nvPr/>
        </p:nvCxnSpPr>
        <p:spPr>
          <a:xfrm>
            <a:off x="6007511" y="2181211"/>
            <a:ext cx="0" cy="40875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74EA37E8-F708-A8DB-793B-05E0862D459D}"/>
              </a:ext>
            </a:extLst>
          </p:cNvPr>
          <p:cNvSpPr txBox="1"/>
          <p:nvPr/>
        </p:nvSpPr>
        <p:spPr>
          <a:xfrm>
            <a:off x="2285370" y="1822764"/>
            <a:ext cx="22657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u="sng" dirty="0"/>
              <a:t>Transição de Estados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C603B95-715B-48F2-F61F-C2F2EB312A68}"/>
              </a:ext>
            </a:extLst>
          </p:cNvPr>
          <p:cNvSpPr txBox="1"/>
          <p:nvPr/>
        </p:nvSpPr>
        <p:spPr>
          <a:xfrm>
            <a:off x="7978667" y="1880244"/>
            <a:ext cx="27350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u="sng" dirty="0"/>
              <a:t>Observação (Não linear)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DAADD22-773C-748E-DC67-41B40F23F51E}"/>
              </a:ext>
            </a:extLst>
          </p:cNvPr>
          <p:cNvSpPr txBox="1"/>
          <p:nvPr/>
        </p:nvSpPr>
        <p:spPr>
          <a:xfrm>
            <a:off x="1223682" y="2198700"/>
            <a:ext cx="1656773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Vetor de Estado: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45980A8-ABDC-5A70-A7F4-2816BEDF5663}"/>
                  </a:ext>
                </a:extLst>
              </p:cNvPr>
              <p:cNvSpPr txBox="1"/>
              <p:nvPr/>
            </p:nvSpPr>
            <p:spPr>
              <a:xfrm>
                <a:off x="2400028" y="2693772"/>
                <a:ext cx="1819472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6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̇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̇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̈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̈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pt-BR" sz="1600" dirty="0"/>
              </a:p>
            </p:txBody>
          </p:sp>
        </mc:Choice>
        <mc:Fallback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45980A8-ABDC-5A70-A7F4-2816BEDF5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0028" y="2693772"/>
                <a:ext cx="1819472" cy="246221"/>
              </a:xfrm>
              <a:prstGeom prst="rect">
                <a:avLst/>
              </a:prstGeom>
              <a:blipFill>
                <a:blip r:embed="rId3"/>
                <a:stretch>
                  <a:fillRect l="-1342" t="-5000" r="-5369" b="-25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aixaDeTexto 14">
            <a:extLst>
              <a:ext uri="{FF2B5EF4-FFF2-40B4-BE49-F238E27FC236}">
                <a16:creationId xmlns:a16="http://schemas.microsoft.com/office/drawing/2014/main" id="{ABD44121-5344-D400-641A-98E4CB6F3F05}"/>
              </a:ext>
            </a:extLst>
          </p:cNvPr>
          <p:cNvSpPr txBox="1"/>
          <p:nvPr/>
        </p:nvSpPr>
        <p:spPr>
          <a:xfrm>
            <a:off x="6169925" y="3044536"/>
            <a:ext cx="4584114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Matriz de Transição de Estados:</a:t>
            </a:r>
            <a:endParaRPr lang="pt-BR" sz="1400" b="1" dirty="0">
              <a:latin typeface="+mj-lt"/>
            </a:endParaRP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C4875689-8E12-AF98-6A10-21325DA004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1125" y="3389474"/>
            <a:ext cx="2621396" cy="1397062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8A813350-0FBD-4BFA-9632-1B9052E8771B}"/>
              </a:ext>
            </a:extLst>
          </p:cNvPr>
          <p:cNvSpPr txBox="1"/>
          <p:nvPr/>
        </p:nvSpPr>
        <p:spPr>
          <a:xfrm>
            <a:off x="1169375" y="4891180"/>
            <a:ext cx="282270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Covariância do erro do modelo:</a:t>
            </a:r>
            <a:endParaRPr lang="pt-BR" sz="1400" b="1" dirty="0">
              <a:latin typeface="+mj-lt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5C6D01C-1EF1-0C3C-962C-99E4CB2F64E1}"/>
              </a:ext>
            </a:extLst>
          </p:cNvPr>
          <p:cNvSpPr txBox="1"/>
          <p:nvPr/>
        </p:nvSpPr>
        <p:spPr>
          <a:xfrm>
            <a:off x="6169925" y="2248765"/>
            <a:ext cx="4584114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Vetor de Observações: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FFD0EFA6-3232-0A4D-28DE-7A327319134E}"/>
                  </a:ext>
                </a:extLst>
              </p:cNvPr>
              <p:cNvSpPr txBox="1"/>
              <p:nvPr/>
            </p:nvSpPr>
            <p:spPr>
              <a:xfrm>
                <a:off x="7872334" y="2594077"/>
                <a:ext cx="2388410" cy="326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6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sz="1600" b="1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4,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pt-BR" sz="1600" dirty="0"/>
              </a:p>
            </p:txBody>
          </p:sp>
        </mc:Choice>
        <mc:Fallback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FFD0EFA6-3232-0A4D-28DE-7A3273191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2334" y="2594077"/>
                <a:ext cx="2388410" cy="326693"/>
              </a:xfrm>
              <a:prstGeom prst="rect">
                <a:avLst/>
              </a:prstGeom>
              <a:blipFill>
                <a:blip r:embed="rId5"/>
                <a:stretch>
                  <a:fillRect l="-765" r="-255" b="-94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CaixaDeTexto 20">
            <a:extLst>
              <a:ext uri="{FF2B5EF4-FFF2-40B4-BE49-F238E27FC236}">
                <a16:creationId xmlns:a16="http://schemas.microsoft.com/office/drawing/2014/main" id="{11DF2B90-4C9C-4F4F-218B-440BAA079F74}"/>
              </a:ext>
            </a:extLst>
          </p:cNvPr>
          <p:cNvSpPr txBox="1"/>
          <p:nvPr/>
        </p:nvSpPr>
        <p:spPr>
          <a:xfrm>
            <a:off x="1240061" y="3005010"/>
            <a:ext cx="2775581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Matriz de Transição de Estados:</a:t>
            </a:r>
            <a:endParaRPr lang="pt-BR" sz="1400" b="1" dirty="0">
              <a:latin typeface="+mj-lt"/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19439981-D1C1-9BA1-B4DA-AE243D7941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84" y="3479670"/>
            <a:ext cx="3003812" cy="400110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902B71E3-B624-67E5-7957-0E0EF9FFF0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00028" y="5479346"/>
            <a:ext cx="2749771" cy="30103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2736E820-ABD5-F52C-9879-3EB7009A497A}"/>
                  </a:ext>
                </a:extLst>
              </p:cNvPr>
              <p:cNvSpPr txBox="1"/>
              <p:nvPr/>
            </p:nvSpPr>
            <p:spPr>
              <a:xfrm>
                <a:off x="2441222" y="5970116"/>
                <a:ext cx="1027393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𝐐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𝐝</m:t>
                          </m:r>
                        </m:sub>
                      </m:sSub>
                      <m:r>
                        <a:rPr lang="pt-BR" sz="1600" b="1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pt-BR" sz="16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𝐐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𝐜</m:t>
                          </m:r>
                        </m:sub>
                      </m:sSub>
                      <m:r>
                        <a:rPr lang="pt-BR" sz="1600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1600" b="0" i="0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2736E820-ABD5-F52C-9879-3EB7009A49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1222" y="5970116"/>
                <a:ext cx="1027393" cy="246221"/>
              </a:xfrm>
              <a:prstGeom prst="rect">
                <a:avLst/>
              </a:prstGeom>
              <a:blipFill>
                <a:blip r:embed="rId8"/>
                <a:stretch>
                  <a:fillRect l="-7692" r="-6509" b="-268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95C4871-6729-0FE9-4563-323C53930385}"/>
                  </a:ext>
                </a:extLst>
              </p:cNvPr>
              <p:cNvSpPr txBox="1"/>
              <p:nvPr/>
            </p:nvSpPr>
            <p:spPr>
              <a:xfrm>
                <a:off x="3999263" y="5960944"/>
                <a:ext cx="80009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sz="160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1600" b="0" i="0" smtClean="0">
                        <a:latin typeface="Cambria Math" panose="02040503050406030204" pitchFamily="18" charset="0"/>
                      </a:rPr>
                      <m:t>ΔT</m:t>
                    </m:r>
                    <m:r>
                      <a:rPr lang="pt-BR" sz="1600" b="0" i="0" smtClean="0">
                        <a:latin typeface="Cambria Math" panose="02040503050406030204" pitchFamily="18" charset="0"/>
                      </a:rPr>
                      <m:t>≪1)</m:t>
                    </m:r>
                  </m:oMath>
                </a14:m>
                <a:endParaRPr lang="pt-BR" sz="1600" dirty="0"/>
              </a:p>
            </p:txBody>
          </p:sp>
        </mc:Choice>
        <mc:Fallback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95C4871-6729-0FE9-4563-323C53930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9263" y="5960944"/>
                <a:ext cx="800091" cy="246221"/>
              </a:xfrm>
              <a:prstGeom prst="rect">
                <a:avLst/>
              </a:prstGeom>
              <a:blipFill>
                <a:blip r:embed="rId9"/>
                <a:stretch>
                  <a:fillRect l="-15267" t="-27500" r="-11450" b="-5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aixaDeTexto 27">
            <a:extLst>
              <a:ext uri="{FF2B5EF4-FFF2-40B4-BE49-F238E27FC236}">
                <a16:creationId xmlns:a16="http://schemas.microsoft.com/office/drawing/2014/main" id="{4188225C-FD96-7230-8782-45F8E8C17349}"/>
              </a:ext>
            </a:extLst>
          </p:cNvPr>
          <p:cNvSpPr txBox="1"/>
          <p:nvPr/>
        </p:nvSpPr>
        <p:spPr>
          <a:xfrm>
            <a:off x="1327285" y="5456816"/>
            <a:ext cx="10273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Contínuo: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05AF6AEA-FCEF-9665-35CD-79B0839E59AE}"/>
              </a:ext>
            </a:extLst>
          </p:cNvPr>
          <p:cNvSpPr txBox="1"/>
          <p:nvPr/>
        </p:nvSpPr>
        <p:spPr>
          <a:xfrm>
            <a:off x="1327285" y="5970116"/>
            <a:ext cx="935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Discreto:</a:t>
            </a:r>
          </a:p>
        </p:txBody>
      </p:sp>
      <p:pic>
        <p:nvPicPr>
          <p:cNvPr id="31" name="Imagem 30">
            <a:extLst>
              <a:ext uri="{FF2B5EF4-FFF2-40B4-BE49-F238E27FC236}">
                <a16:creationId xmlns:a16="http://schemas.microsoft.com/office/drawing/2014/main" id="{B446E402-3B68-B9CC-F5A2-A8FD8D35CD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0873" y="4051812"/>
            <a:ext cx="4031332" cy="12020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9B795E80-07C5-633E-3955-9A2496AFA9A9}"/>
                  </a:ext>
                </a:extLst>
              </p:cNvPr>
              <p:cNvSpPr txBox="1"/>
              <p:nvPr/>
            </p:nvSpPr>
            <p:spPr>
              <a:xfrm>
                <a:off x="6670110" y="3564038"/>
                <a:ext cx="100873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𝐳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𝐤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sz="1600" dirty="0"/>
              </a:p>
            </p:txBody>
          </p:sp>
        </mc:Choice>
        <mc:Fallback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9B795E80-07C5-633E-3955-9A2496AFA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0110" y="3564038"/>
                <a:ext cx="1008738" cy="246221"/>
              </a:xfrm>
              <a:prstGeom prst="rect">
                <a:avLst/>
              </a:prstGeom>
              <a:blipFill>
                <a:blip r:embed="rId11"/>
                <a:stretch>
                  <a:fillRect l="-2410" b="-1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CaixaDeTexto 32">
            <a:extLst>
              <a:ext uri="{FF2B5EF4-FFF2-40B4-BE49-F238E27FC236}">
                <a16:creationId xmlns:a16="http://schemas.microsoft.com/office/drawing/2014/main" id="{BC339033-D7C3-0097-4965-8804BEF4C3E4}"/>
              </a:ext>
            </a:extLst>
          </p:cNvPr>
          <p:cNvSpPr txBox="1"/>
          <p:nvPr/>
        </p:nvSpPr>
        <p:spPr>
          <a:xfrm>
            <a:off x="6129627" y="5319955"/>
            <a:ext cx="2876720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Covariância do erro da medição: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CaixaDeTexto 33">
                <a:extLst>
                  <a:ext uri="{FF2B5EF4-FFF2-40B4-BE49-F238E27FC236}">
                    <a16:creationId xmlns:a16="http://schemas.microsoft.com/office/drawing/2014/main" id="{1363EB6E-520C-EA32-6CF1-C743D8B7175E}"/>
                  </a:ext>
                </a:extLst>
              </p:cNvPr>
              <p:cNvSpPr txBox="1"/>
              <p:nvPr/>
            </p:nvSpPr>
            <p:spPr>
              <a:xfrm>
                <a:off x="7795523" y="5804910"/>
                <a:ext cx="2237151" cy="2508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𝐝</m:t>
                          </m:r>
                        </m:sub>
                      </m:sSub>
                      <m:r>
                        <a:rPr lang="pt-BR" sz="1600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1600" b="0" i="0" smtClean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b="1" dirty="0"/>
              </a:p>
            </p:txBody>
          </p:sp>
        </mc:Choice>
        <mc:Fallback>
          <p:sp>
            <p:nvSpPr>
              <p:cNvPr id="34" name="CaixaDeTexto 33">
                <a:extLst>
                  <a:ext uri="{FF2B5EF4-FFF2-40B4-BE49-F238E27FC236}">
                    <a16:creationId xmlns:a16="http://schemas.microsoft.com/office/drawing/2014/main" id="{1363EB6E-520C-EA32-6CF1-C743D8B71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5523" y="5804910"/>
                <a:ext cx="2237151" cy="250838"/>
              </a:xfrm>
              <a:prstGeom prst="rect">
                <a:avLst/>
              </a:prstGeom>
              <a:blipFill>
                <a:blip r:embed="rId12"/>
                <a:stretch>
                  <a:fillRect l="-1907" r="-2725" b="-3414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CaixaDeTexto 34">
            <a:extLst>
              <a:ext uri="{FF2B5EF4-FFF2-40B4-BE49-F238E27FC236}">
                <a16:creationId xmlns:a16="http://schemas.microsoft.com/office/drawing/2014/main" id="{3B4809B2-FD5F-2CE2-338D-DB336C4FF16F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11/24</a:t>
            </a:r>
          </a:p>
        </p:txBody>
      </p:sp>
    </p:spTree>
    <p:extLst>
      <p:ext uri="{BB962C8B-B14F-4D97-AF65-F5344CB8AC3E}">
        <p14:creationId xmlns:p14="http://schemas.microsoft.com/office/powerpoint/2010/main" val="114688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D9FBE-F26B-7BE1-16A7-340E728F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2A8AC32-8E61-EB25-4474-2E491352E28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D2A11EC-DBBB-C053-A914-255842042833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FD59C17-397B-33FA-522F-835BC76B7734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FA4863D7-9B3A-E55E-866D-4C8CB53476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495687C-9FE6-8DCC-FB28-D88A746303BD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5.1. </a:t>
            </a:r>
            <a:r>
              <a:rPr lang="pt-BR" sz="1600" dirty="0">
                <a:latin typeface="+mj-lt"/>
              </a:rPr>
              <a:t>Arquitetura e interface do Simulador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85C71B4-E830-8111-F5AF-C891CA2E56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755" y="2473010"/>
            <a:ext cx="4928707" cy="2772398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7CD3B3B-EBBC-1F80-0EBC-1032A23C8DA2}"/>
              </a:ext>
            </a:extLst>
          </p:cNvPr>
          <p:cNvSpPr txBox="1"/>
          <p:nvPr/>
        </p:nvSpPr>
        <p:spPr>
          <a:xfrm>
            <a:off x="2575588" y="2123341"/>
            <a:ext cx="1253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Arquitetura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F25A5FC-EF3A-E0FA-F951-5A19AA0930C6}"/>
              </a:ext>
            </a:extLst>
          </p:cNvPr>
          <p:cNvSpPr txBox="1"/>
          <p:nvPr/>
        </p:nvSpPr>
        <p:spPr>
          <a:xfrm>
            <a:off x="8408055" y="2167363"/>
            <a:ext cx="1253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Interface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833DE513-3B0F-2815-540C-2283548FD4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1047" y="2521850"/>
            <a:ext cx="5213198" cy="2772399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5DA0463D-0666-A995-2E87-7CAA47BC982C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12/24</a:t>
            </a:r>
          </a:p>
        </p:txBody>
      </p:sp>
    </p:spTree>
    <p:extLst>
      <p:ext uri="{BB962C8B-B14F-4D97-AF65-F5344CB8AC3E}">
        <p14:creationId xmlns:p14="http://schemas.microsoft.com/office/powerpoint/2010/main" val="1294719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A6304-85BF-C769-044C-52398C3F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EEEF4A-6E11-EA27-2E1A-A4269499384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40AF6D6-9611-8EE3-2710-6FB5AD149B7E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07E4E75-9EF9-438E-9EC5-A27B19E9054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A6C8F00-1AED-C377-99AE-FC4F7373F0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12EF499-6D5C-A207-6D95-4E3EEEEEB419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5.2. </a:t>
            </a:r>
            <a:r>
              <a:rPr lang="pt-BR" sz="1600" dirty="0">
                <a:latin typeface="+mj-lt"/>
              </a:rPr>
              <a:t>Métricas de Avaliação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C12668D-8B74-A40A-2BA9-20380A9B2E70}"/>
              </a:ext>
            </a:extLst>
          </p:cNvPr>
          <p:cNvSpPr txBox="1"/>
          <p:nvPr/>
        </p:nvSpPr>
        <p:spPr>
          <a:xfrm>
            <a:off x="1067723" y="2054903"/>
            <a:ext cx="31100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NIS</a:t>
            </a:r>
          </a:p>
          <a:p>
            <a:pPr algn="ctr"/>
            <a:r>
              <a:rPr lang="pt-BR" sz="1400" b="1" dirty="0">
                <a:latin typeface="+mj-lt"/>
              </a:rPr>
              <a:t>(</a:t>
            </a:r>
            <a:r>
              <a:rPr lang="pt-BR" sz="1400" b="1" i="1" dirty="0" err="1">
                <a:latin typeface="+mj-lt"/>
              </a:rPr>
              <a:t>Normalized</a:t>
            </a:r>
            <a:r>
              <a:rPr lang="pt-BR" sz="1400" b="1" i="1" dirty="0">
                <a:latin typeface="+mj-lt"/>
              </a:rPr>
              <a:t> </a:t>
            </a:r>
            <a:r>
              <a:rPr lang="pt-BR" sz="1400" b="1" i="1" dirty="0" err="1">
                <a:latin typeface="+mj-lt"/>
              </a:rPr>
              <a:t>Innovation</a:t>
            </a:r>
            <a:r>
              <a:rPr lang="pt-BR" sz="1400" b="1" i="1" dirty="0">
                <a:latin typeface="+mj-lt"/>
              </a:rPr>
              <a:t> </a:t>
            </a:r>
            <a:r>
              <a:rPr lang="pt-BR" sz="1400" b="1" i="1" dirty="0" err="1">
                <a:latin typeface="+mj-lt"/>
              </a:rPr>
              <a:t>Squared</a:t>
            </a:r>
            <a:r>
              <a:rPr lang="pt-BR" sz="1400" b="1" dirty="0">
                <a:latin typeface="+mj-lt"/>
              </a:rPr>
              <a:t>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E376460-2774-CF8F-5E6A-95E052576C90}"/>
              </a:ext>
            </a:extLst>
          </p:cNvPr>
          <p:cNvSpPr txBox="1"/>
          <p:nvPr/>
        </p:nvSpPr>
        <p:spPr>
          <a:xfrm>
            <a:off x="9006943" y="1976149"/>
            <a:ext cx="1656773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TAXA DE INLIERS*</a:t>
            </a:r>
            <a:endParaRPr lang="pt-BR" sz="1400" b="1" dirty="0"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BA75288-DCFE-299A-B157-46D530BAB1FB}"/>
              </a:ext>
            </a:extLst>
          </p:cNvPr>
          <p:cNvSpPr txBox="1"/>
          <p:nvPr/>
        </p:nvSpPr>
        <p:spPr>
          <a:xfrm>
            <a:off x="4315513" y="2023512"/>
            <a:ext cx="3486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RMSE</a:t>
            </a:r>
          </a:p>
          <a:p>
            <a:pPr algn="ctr"/>
            <a:r>
              <a:rPr lang="pt-BR" sz="1400" b="1" dirty="0">
                <a:latin typeface="+mj-lt"/>
              </a:rPr>
              <a:t>(Root </a:t>
            </a:r>
            <a:r>
              <a:rPr lang="pt-BR" sz="1400" b="1" dirty="0" err="1">
                <a:latin typeface="+mj-lt"/>
              </a:rPr>
              <a:t>Mean</a:t>
            </a:r>
            <a:r>
              <a:rPr lang="pt-BR" sz="1400" b="1" dirty="0">
                <a:latin typeface="+mj-lt"/>
              </a:rPr>
              <a:t> Square Error)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0E9900E3-594C-9E23-8E23-C8CEDAE38D4F}"/>
              </a:ext>
            </a:extLst>
          </p:cNvPr>
          <p:cNvCxnSpPr>
            <a:cxnSpLocks/>
          </p:cNvCxnSpPr>
          <p:nvPr/>
        </p:nvCxnSpPr>
        <p:spPr>
          <a:xfrm>
            <a:off x="4274553" y="1976149"/>
            <a:ext cx="40958" cy="38930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5CE6C506-4142-7425-64D1-4D34FA51B433}"/>
              </a:ext>
            </a:extLst>
          </p:cNvPr>
          <p:cNvCxnSpPr>
            <a:cxnSpLocks/>
          </p:cNvCxnSpPr>
          <p:nvPr/>
        </p:nvCxnSpPr>
        <p:spPr>
          <a:xfrm>
            <a:off x="7802393" y="2014365"/>
            <a:ext cx="0" cy="3854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Imagem 16">
            <a:extLst>
              <a:ext uri="{FF2B5EF4-FFF2-40B4-BE49-F238E27FC236}">
                <a16:creationId xmlns:a16="http://schemas.microsoft.com/office/drawing/2014/main" id="{227CC324-ED6C-30E4-8B66-70981BA85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384" y="3859959"/>
            <a:ext cx="2710698" cy="795393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F35A71FE-2B5C-083D-69EE-54D3E89D9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5198" y="4010864"/>
            <a:ext cx="1874469" cy="379028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B95A0296-9F3C-EC93-9BD6-D8DFB1013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054" y="4492382"/>
            <a:ext cx="2059386" cy="379028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AEE3F49D-01EF-F25D-A0A8-C1721A4519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715" y="4955411"/>
            <a:ext cx="1646063" cy="518205"/>
          </a:xfrm>
          <a:prstGeom prst="rect">
            <a:avLst/>
          </a:prstGeom>
        </p:spPr>
      </p:pic>
      <p:sp>
        <p:nvSpPr>
          <p:cNvPr id="24" name="CaixaDeTexto 23">
            <a:extLst>
              <a:ext uri="{FF2B5EF4-FFF2-40B4-BE49-F238E27FC236}">
                <a16:creationId xmlns:a16="http://schemas.microsoft.com/office/drawing/2014/main" id="{E03B0792-B789-94BA-CB83-F9026157FF1F}"/>
              </a:ext>
            </a:extLst>
          </p:cNvPr>
          <p:cNvSpPr txBox="1"/>
          <p:nvPr/>
        </p:nvSpPr>
        <p:spPr>
          <a:xfrm>
            <a:off x="1108065" y="2790704"/>
            <a:ext cx="2901556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Métrica para verificar se o estimador é consistente do ponto de vista estatístico. 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B6FA6EF-ACE1-FAA8-51DE-20AEDA7167B2}"/>
              </a:ext>
            </a:extLst>
          </p:cNvPr>
          <p:cNvSpPr txBox="1"/>
          <p:nvPr/>
        </p:nvSpPr>
        <p:spPr>
          <a:xfrm>
            <a:off x="4504859" y="2841101"/>
            <a:ext cx="315656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Métrica para verificar se o estimador é consistente do ponto de vista estatístico.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FD5A4B0-1930-E828-1F09-D2BA5E111C7F}"/>
              </a:ext>
            </a:extLst>
          </p:cNvPr>
          <p:cNvSpPr txBox="1"/>
          <p:nvPr/>
        </p:nvSpPr>
        <p:spPr>
          <a:xfrm>
            <a:off x="8040781" y="2408780"/>
            <a:ext cx="3450650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Métrica </a:t>
            </a:r>
            <a:r>
              <a:rPr lang="pt-BR" sz="1400" b="1" dirty="0">
                <a:latin typeface="+mj-lt"/>
              </a:rPr>
              <a:t>apenas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visual</a:t>
            </a:r>
            <a:r>
              <a:rPr lang="pt-BR" sz="1400" dirty="0">
                <a:latin typeface="+mj-lt"/>
              </a:rPr>
              <a:t> para avaliar a crença do robô (</a:t>
            </a:r>
            <a:r>
              <a:rPr lang="pt-BR" sz="1400" b="1" dirty="0">
                <a:latin typeface="+mj-lt"/>
              </a:rPr>
              <a:t>P</a:t>
            </a:r>
            <a:r>
              <a:rPr lang="pt-BR" sz="1400" dirty="0">
                <a:latin typeface="+mj-lt"/>
              </a:rPr>
              <a:t>) de forma semelhante ao NIS.</a:t>
            </a: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E87BA6D6-B6E6-C3EE-7059-851C9C8441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549" y="3422170"/>
            <a:ext cx="1539792" cy="334538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976B524A-9693-975F-B6C8-FA8908FEE2A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413"/>
          <a:stretch>
            <a:fillRect/>
          </a:stretch>
        </p:blipFill>
        <p:spPr>
          <a:xfrm>
            <a:off x="8169011" y="3904827"/>
            <a:ext cx="2917056" cy="270461"/>
          </a:xfrm>
          <a:prstGeom prst="rect">
            <a:avLst/>
          </a:prstGeom>
        </p:spPr>
      </p:pic>
      <p:pic>
        <p:nvPicPr>
          <p:cNvPr id="32" name="Imagem 31">
            <a:extLst>
              <a:ext uri="{FF2B5EF4-FFF2-40B4-BE49-F238E27FC236}">
                <a16:creationId xmlns:a16="http://schemas.microsoft.com/office/drawing/2014/main" id="{6FF992CD-3657-3219-32D7-9D7B5B8F5A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69011" y="4365279"/>
            <a:ext cx="1675863" cy="38067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672D3838-A0D1-5294-9F64-A732CAAECC03}"/>
                  </a:ext>
                </a:extLst>
              </p:cNvPr>
              <p:cNvSpPr txBox="1"/>
              <p:nvPr/>
            </p:nvSpPr>
            <p:spPr>
              <a:xfrm>
                <a:off x="1719342" y="5624037"/>
                <a:ext cx="1890325" cy="30284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𝐼𝐶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=[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672D3838-A0D1-5294-9F64-A732CAAEC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9342" y="5624037"/>
                <a:ext cx="1890325" cy="302840"/>
              </a:xfrm>
              <a:prstGeom prst="rect">
                <a:avLst/>
              </a:prstGeom>
              <a:blipFill>
                <a:blip r:embed="rId10"/>
                <a:stretch>
                  <a:fillRect l="-2244" r="-4167" b="-27451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CaixaDeTexto 37">
            <a:extLst>
              <a:ext uri="{FF2B5EF4-FFF2-40B4-BE49-F238E27FC236}">
                <a16:creationId xmlns:a16="http://schemas.microsoft.com/office/drawing/2014/main" id="{D35D09BC-73F9-9096-3577-A5578F196580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13/24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536021A3-EA72-7126-F8A1-2E66B5F58121}"/>
                  </a:ext>
                </a:extLst>
              </p:cNvPr>
              <p:cNvSpPr txBox="1"/>
              <p:nvPr/>
            </p:nvSpPr>
            <p:spPr>
              <a:xfrm>
                <a:off x="8169011" y="5086211"/>
                <a:ext cx="866648" cy="294696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~</m:t>
                      </m:r>
                      <m:sSubSup>
                        <m:sSub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536021A3-EA72-7126-F8A1-2E66B5F581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9011" y="5086211"/>
                <a:ext cx="866648" cy="294696"/>
              </a:xfrm>
              <a:prstGeom prst="rect">
                <a:avLst/>
              </a:prstGeom>
              <a:blipFill>
                <a:blip r:embed="rId11"/>
                <a:stretch>
                  <a:fillRect l="-5556" b="-15686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1983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6B3CC-6E4B-D347-B556-57FC82337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71E0AF1-6F19-7BCA-2CF3-4D30A38B9DA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5EEF730-AF45-4B4C-B74A-807B72BA2436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AD247280-F307-DDD1-4CE6-F7E81E563A5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EB2AA75-3B76-BC01-395C-AD7B321D4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D306683-83ED-81EB-863A-C2FCC4F4FBBF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5.3. </a:t>
            </a:r>
            <a:r>
              <a:rPr lang="pt-BR" sz="1600" dirty="0">
                <a:latin typeface="+mj-lt"/>
              </a:rPr>
              <a:t>Cenários Experimentais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B7D3F6D-3F6C-E11A-4E5C-DA4DD514C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691" y="2502588"/>
            <a:ext cx="4790613" cy="258693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05AFEC79-D1D8-6BB9-7722-75B3E364CE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578" y="2056462"/>
            <a:ext cx="6439233" cy="347918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115F090-7260-4A51-B4BD-7E35FF803C03}"/>
              </a:ext>
            </a:extLst>
          </p:cNvPr>
          <p:cNvSpPr txBox="1"/>
          <p:nvPr/>
        </p:nvSpPr>
        <p:spPr>
          <a:xfrm>
            <a:off x="2285429" y="5688989"/>
            <a:ext cx="32995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Taxa de amostragem = 1 / FPS = 33 </a:t>
            </a:r>
            <a:r>
              <a:rPr lang="pt-BR" sz="1400" dirty="0" err="1"/>
              <a:t>ms</a:t>
            </a:r>
            <a:r>
              <a:rPr lang="pt-BR" sz="1400" dirty="0"/>
              <a:t>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3A808C0-2AA1-7B55-74A6-BAAE657A841C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14/24</a:t>
            </a:r>
          </a:p>
        </p:txBody>
      </p:sp>
    </p:spTree>
    <p:extLst>
      <p:ext uri="{BB962C8B-B14F-4D97-AF65-F5344CB8AC3E}">
        <p14:creationId xmlns:p14="http://schemas.microsoft.com/office/powerpoint/2010/main" val="4267425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4F3FF-D2CB-62D0-F488-0C0251B4B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5595F78-5FBE-D0DB-4BD6-23A79166502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735713F-A8A0-D3E4-A437-056DDECDE46A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256F07B-8E0A-4932-A48A-56FC4AED68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CC4C8788-4254-F452-62A6-7F8FEF8E1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F56DFA7-FD66-EED5-C39C-C6434FB4F4AB}"/>
              </a:ext>
            </a:extLst>
          </p:cNvPr>
          <p:cNvSpPr txBox="1"/>
          <p:nvPr/>
        </p:nvSpPr>
        <p:spPr>
          <a:xfrm>
            <a:off x="1223682" y="1342275"/>
            <a:ext cx="2068158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6.1 Trajetórias</a:t>
            </a:r>
            <a:endParaRPr lang="pt-BR" sz="1600" dirty="0">
              <a:latin typeface="+mj-lt"/>
            </a:endParaRP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4F0BB7B-7A75-E806-BE1A-C0204D6F1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7720" y="2502133"/>
            <a:ext cx="3486476" cy="3486476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FBE99AE4-D60E-5648-50C8-E260911370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4002" y="2415232"/>
            <a:ext cx="3660278" cy="3660278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FFB05775-020D-DB9A-B713-6426AD00573C}"/>
              </a:ext>
            </a:extLst>
          </p:cNvPr>
          <p:cNvSpPr txBox="1"/>
          <p:nvPr/>
        </p:nvSpPr>
        <p:spPr>
          <a:xfrm>
            <a:off x="2971455" y="2009474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Filtro sintonizado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E45E396-75B2-BA98-4AAA-CD17ADFB3D31}"/>
              </a:ext>
            </a:extLst>
          </p:cNvPr>
          <p:cNvSpPr txBox="1"/>
          <p:nvPr/>
        </p:nvSpPr>
        <p:spPr>
          <a:xfrm>
            <a:off x="6593841" y="2009474"/>
            <a:ext cx="35204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Filtro não sintonizado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23E3D2C-A04C-1C09-3E6B-8B6F4D153A40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15/24</a:t>
            </a:r>
          </a:p>
        </p:txBody>
      </p:sp>
    </p:spTree>
    <p:extLst>
      <p:ext uri="{BB962C8B-B14F-4D97-AF65-F5344CB8AC3E}">
        <p14:creationId xmlns:p14="http://schemas.microsoft.com/office/powerpoint/2010/main" val="34303176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BFA6-B95B-7749-3B45-4CD3E3BA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886884E-CA83-8A33-5FB9-13BA51C8CAC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47CD8C3-01CC-994F-7DE6-92DBB628A763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091530D-794B-B659-D530-084DA649442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D90228DE-2173-6478-A443-1E3E19B11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A72AB2A-4123-A3DA-274D-505E730A4D2F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6.2. Gráficos do RMSE</a:t>
            </a:r>
            <a:endParaRPr lang="pt-BR" sz="1600" dirty="0">
              <a:latin typeface="+mj-lt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EF486AA-B75D-B542-7096-D6711B77BFE2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Sintonizado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8BD0F5-0CEC-A8EE-265F-3C50969F2D59}"/>
              </a:ext>
            </a:extLst>
          </p:cNvPr>
          <p:cNvSpPr txBox="1"/>
          <p:nvPr/>
        </p:nvSpPr>
        <p:spPr>
          <a:xfrm>
            <a:off x="8033754" y="2200986"/>
            <a:ext cx="18458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Não Sintonizado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70133A7-9271-64DC-1BD3-A33DF1C5C8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55" y="2758991"/>
            <a:ext cx="4892035" cy="2446017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3110BC4-A25B-8D91-F261-667470716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7119" y="2648614"/>
            <a:ext cx="5333546" cy="2666773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3454759-D19A-E9CB-4250-5745CBE8DE77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16/24</a:t>
            </a:r>
          </a:p>
        </p:txBody>
      </p:sp>
    </p:spTree>
    <p:extLst>
      <p:ext uri="{BB962C8B-B14F-4D97-AF65-F5344CB8AC3E}">
        <p14:creationId xmlns:p14="http://schemas.microsoft.com/office/powerpoint/2010/main" val="1777222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8E3A4-02A8-1BE6-6DD6-B896F8B4F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AF3EE1B-4530-4C8E-5000-7C1C95007E6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98A3E75-4EF2-CBCF-707E-31E1B124CAA1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3A6EBFD-C1FB-4856-B429-E4571B15D5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EA8C80D7-A6B4-DFC1-3E3A-18CEE539C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4938E1C-1D9A-A2B4-6D54-A40599A85336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6.3. </a:t>
            </a:r>
            <a:r>
              <a:rPr lang="pt-BR" sz="1600" b="1" dirty="0"/>
              <a:t>NIS e Histogramas:</a:t>
            </a:r>
            <a:r>
              <a:rPr lang="pt-BR" sz="1600" b="1" dirty="0">
                <a:latin typeface="+mj-lt"/>
              </a:rPr>
              <a:t> </a:t>
            </a:r>
            <a:r>
              <a:rPr lang="pt-BR" sz="1600" dirty="0">
                <a:latin typeface="+mj-lt"/>
              </a:rPr>
              <a:t>Cenários Sintonizados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62229A6-BCF6-5B2E-022F-BCFC8A953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96" y="2717763"/>
            <a:ext cx="5820896" cy="2493668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8DB2A678-6D54-1C3D-6C6A-1BB916DAEA09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NIS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C0D6747-454F-1B24-8C8F-2277917AE04A}"/>
              </a:ext>
            </a:extLst>
          </p:cNvPr>
          <p:cNvSpPr txBox="1"/>
          <p:nvPr/>
        </p:nvSpPr>
        <p:spPr>
          <a:xfrm>
            <a:off x="7785857" y="2191336"/>
            <a:ext cx="24719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Histogramas dos Erros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058BC59-72FB-D43B-6BA2-00528848E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263" y="2588735"/>
            <a:ext cx="5163115" cy="2726063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5E67D041-86F0-3208-E612-2D08BEB72CFC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17/24</a:t>
            </a:r>
          </a:p>
        </p:txBody>
      </p:sp>
    </p:spTree>
    <p:extLst>
      <p:ext uri="{BB962C8B-B14F-4D97-AF65-F5344CB8AC3E}">
        <p14:creationId xmlns:p14="http://schemas.microsoft.com/office/powerpoint/2010/main" val="3059047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E2CDD-2BC6-F7D4-922B-1D51E0D17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E9F39A4-E5B2-061A-0CC4-CF4167501F5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536B11-FD18-3C91-E03D-C983DD55AD5C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3C5D6B7-6333-490B-0229-70DCEBC5269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E2E6DCC4-DD9A-1847-DED0-712678C7B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56F26E2-575E-34DE-F3BC-25BD8BE552A4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6.3. NIS e Histogramas: </a:t>
            </a:r>
            <a:r>
              <a:rPr lang="pt-BR" sz="1600" dirty="0">
                <a:latin typeface="+mj-lt"/>
              </a:rPr>
              <a:t>Cenários Não sintonizados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16E07041-D4B6-9484-9CCB-876D3A433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2601" y="2674650"/>
            <a:ext cx="5387204" cy="2670382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FC034D6-BD58-3CBA-566D-0DD9224F0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" y="2765288"/>
            <a:ext cx="5492113" cy="2489105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1893BEF9-7422-E140-80C1-AD7F769C5C55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NIS 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4A39D1F-BAE9-FBAB-FCC5-4495345D5A65}"/>
              </a:ext>
            </a:extLst>
          </p:cNvPr>
          <p:cNvSpPr txBox="1"/>
          <p:nvPr/>
        </p:nvSpPr>
        <p:spPr>
          <a:xfrm>
            <a:off x="7785857" y="2191336"/>
            <a:ext cx="24719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Histogramas dos Erros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3736CE7-FD88-6D40-7373-867B0608F04B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18/24</a:t>
            </a:r>
          </a:p>
        </p:txBody>
      </p:sp>
    </p:spTree>
    <p:extLst>
      <p:ext uri="{BB962C8B-B14F-4D97-AF65-F5344CB8AC3E}">
        <p14:creationId xmlns:p14="http://schemas.microsoft.com/office/powerpoint/2010/main" val="3860198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05CBC-BE4E-391C-5778-6606E9C68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1EAB0061-6BED-9C92-A21A-CE1BA3FDD4E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52DCFF2-AC4F-CD8A-7CCB-81AD43B1464C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2A57A21-5333-46D5-234F-7A2903BD7FBA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A1B43DE7-CC8C-CFED-0D07-75BF312050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56CA75C-8F16-2EF6-403B-A7348F7A108B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6.4. </a:t>
            </a:r>
            <a:r>
              <a:rPr lang="pt-BR" sz="1600" dirty="0">
                <a:latin typeface="+mj-lt"/>
              </a:rPr>
              <a:t>Caso especial: Oclusão</a:t>
            </a:r>
          </a:p>
        </p:txBody>
      </p:sp>
      <p:pic>
        <p:nvPicPr>
          <p:cNvPr id="3" name="20260624-0255-30.7980916">
            <a:hlinkClick r:id="" action="ppaction://media"/>
            <a:extLst>
              <a:ext uri="{FF2B5EF4-FFF2-40B4-BE49-F238E27FC236}">
                <a16:creationId xmlns:a16="http://schemas.microsoft.com/office/drawing/2014/main" id="{8B752AFE-A1AC-DC19-E5A7-D3B395235EA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14949" y="2300051"/>
            <a:ext cx="4704570" cy="33639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692AEAF-A5D6-BA81-2EA1-43240ADDF5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7076" y="2094271"/>
            <a:ext cx="3775459" cy="3775459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8E9BBF5-B30C-DC78-4E09-59A84770E49F}"/>
              </a:ext>
            </a:extLst>
          </p:cNvPr>
          <p:cNvSpPr txBox="1"/>
          <p:nvPr/>
        </p:nvSpPr>
        <p:spPr>
          <a:xfrm>
            <a:off x="2981333" y="1917671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Animação com ROI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1833185-3871-BE1F-DDA4-6BC64C441FA2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19/24</a:t>
            </a:r>
          </a:p>
        </p:txBody>
      </p:sp>
    </p:spTree>
    <p:extLst>
      <p:ext uri="{BB962C8B-B14F-4D97-AF65-F5344CB8AC3E}">
        <p14:creationId xmlns:p14="http://schemas.microsoft.com/office/powerpoint/2010/main" val="3662342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68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 mute="1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4AD1-86FA-5791-4297-9D60DF2DD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501ECE9-E5FA-29D6-F7F8-62F9EF75081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B6A9F36-BA1C-3467-9A2E-265F96734C43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4ECF515-37B7-3652-7BF6-6C247BBA9FF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1F7D7925-05F5-3AED-1936-153C903F3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C463EFC-DE92-7056-37FC-F2DCF5CD2C0E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6.5. </a:t>
            </a:r>
            <a:r>
              <a:rPr lang="pt-BR" sz="1600" dirty="0">
                <a:latin typeface="+mj-lt"/>
              </a:rPr>
              <a:t>Resumo dos Resultados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19D46EB-E6D4-9D75-6B3D-ACDF787F8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0939" y="1980233"/>
            <a:ext cx="8150121" cy="375197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0CA83981-7035-D4CD-FDA9-64CA809F143E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20/24</a:t>
            </a:r>
          </a:p>
        </p:txBody>
      </p:sp>
    </p:spTree>
    <p:extLst>
      <p:ext uri="{BB962C8B-B14F-4D97-AF65-F5344CB8AC3E}">
        <p14:creationId xmlns:p14="http://schemas.microsoft.com/office/powerpoint/2010/main" val="36824399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ED10E-4A02-5379-0A9F-E0549F8F4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4DC45E8-0496-A4E6-970B-4389982F3C4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F22BD58-A360-3797-88E3-D5050CC97160}"/>
              </a:ext>
            </a:extLst>
          </p:cNvPr>
          <p:cNvSpPr txBox="1"/>
          <p:nvPr/>
        </p:nvSpPr>
        <p:spPr>
          <a:xfrm>
            <a:off x="1223682" y="887884"/>
            <a:ext cx="1781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7. Conclusão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805B022-E7D8-59E0-410B-E2369FBC26DE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B1C6A74F-76BE-8870-1FB1-6EE22AEE00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7B033EE-736C-8CB7-7323-269B1C3F57BB}"/>
              </a:ext>
            </a:extLst>
          </p:cNvPr>
          <p:cNvSpPr txBox="1"/>
          <p:nvPr/>
        </p:nvSpPr>
        <p:spPr>
          <a:xfrm>
            <a:off x="1290090" y="3285817"/>
            <a:ext cx="3429698" cy="1677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latin typeface="+mj-lt"/>
              </a:rPr>
              <a:t>Contribuições: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Simulador com Interface GUI;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Análise prática da ideia de um ROI dinâmico, útil em contexto de visão computacional;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C885E31-D4EE-BA8B-EACD-3CD1CAA11E5F}"/>
              </a:ext>
            </a:extLst>
          </p:cNvPr>
          <p:cNvSpPr txBox="1"/>
          <p:nvPr/>
        </p:nvSpPr>
        <p:spPr>
          <a:xfrm>
            <a:off x="6095999" y="3285817"/>
            <a:ext cx="4265766" cy="1677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latin typeface="+mj-lt"/>
              </a:rPr>
              <a:t>Limitações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Estudo limitado a ruídos puramente gaussianos;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Desconsiderado distúrbios severos encontrados na prática (</a:t>
            </a:r>
            <a:r>
              <a:rPr lang="pt-BR" sz="1400" dirty="0" err="1">
                <a:latin typeface="+mj-lt"/>
              </a:rPr>
              <a:t>multipath</a:t>
            </a:r>
            <a:r>
              <a:rPr lang="pt-BR" sz="1400" dirty="0">
                <a:latin typeface="+mj-lt"/>
              </a:rPr>
              <a:t>, NLOS);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Calibração manual;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E41A5E0-4330-4543-039E-1D753371815E}"/>
              </a:ext>
            </a:extLst>
          </p:cNvPr>
          <p:cNvSpPr txBox="1"/>
          <p:nvPr/>
        </p:nvSpPr>
        <p:spPr>
          <a:xfrm>
            <a:off x="1145172" y="2029543"/>
            <a:ext cx="9518543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Esse estudo serviu como forma de analisar na prática o comportamento de um filtro de Kalman e entender seu comportamento, associando à área de </a:t>
            </a:r>
            <a:r>
              <a:rPr lang="pt-BR" sz="1400" b="1" dirty="0">
                <a:latin typeface="+mj-lt"/>
              </a:rPr>
              <a:t>robótica probabilística </a:t>
            </a:r>
            <a:r>
              <a:rPr lang="pt-BR" sz="1400" dirty="0">
                <a:latin typeface="+mj-lt"/>
              </a:rPr>
              <a:t>e verificar o comportamento do </a:t>
            </a:r>
            <a:r>
              <a:rPr lang="pt-BR" sz="1400" b="1" dirty="0">
                <a:latin typeface="+mj-lt"/>
              </a:rPr>
              <a:t>NIS</a:t>
            </a:r>
            <a:r>
              <a:rPr lang="pt-BR" sz="1400" dirty="0">
                <a:latin typeface="+mj-lt"/>
              </a:rPr>
              <a:t> e </a:t>
            </a:r>
            <a:r>
              <a:rPr lang="pt-BR" sz="1400" b="1" dirty="0">
                <a:latin typeface="+mj-lt"/>
              </a:rPr>
              <a:t>RMSE </a:t>
            </a:r>
            <a:r>
              <a:rPr lang="pt-BR" sz="1400" dirty="0">
                <a:latin typeface="+mj-lt"/>
              </a:rPr>
              <a:t>na avaliação do Filtro.</a:t>
            </a:r>
            <a:endParaRPr lang="pt-BR" sz="1400" b="1" dirty="0">
              <a:latin typeface="+mj-lt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5AF0704-186C-9276-63E4-6CAC9B2DF5C8}"/>
              </a:ext>
            </a:extLst>
          </p:cNvPr>
          <p:cNvSpPr txBox="1"/>
          <p:nvPr/>
        </p:nvSpPr>
        <p:spPr>
          <a:xfrm>
            <a:off x="1223682" y="5909591"/>
            <a:ext cx="10393157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 err="1">
                <a:latin typeface="+mj-lt"/>
              </a:rPr>
              <a:t>Obs</a:t>
            </a:r>
            <a:r>
              <a:rPr lang="pt-BR" sz="1400" dirty="0">
                <a:latin typeface="+mj-lt"/>
              </a:rPr>
              <a:t>: Interface e demais resultados podem ser encontrados no Github do projeto (</a:t>
            </a:r>
            <a:r>
              <a:rPr lang="pt-BR" sz="1400" dirty="0">
                <a:hlinkClick r:id="rId3"/>
              </a:rPr>
              <a:t>https://github.com/</a:t>
            </a:r>
            <a:r>
              <a:rPr lang="pt-BR" sz="1400" dirty="0" err="1">
                <a:hlinkClick r:id="rId3"/>
              </a:rPr>
              <a:t>SauloJose</a:t>
            </a:r>
            <a:r>
              <a:rPr lang="pt-BR" sz="1400" dirty="0">
                <a:hlinkClick r:id="rId3"/>
              </a:rPr>
              <a:t>/</a:t>
            </a:r>
            <a:r>
              <a:rPr lang="pt-BR" sz="1400" dirty="0" err="1">
                <a:hlinkClick r:id="rId3"/>
              </a:rPr>
              <a:t>PASKalmanTraj</a:t>
            </a:r>
            <a:r>
              <a:rPr lang="pt-BR" sz="1400" dirty="0"/>
              <a:t>)</a:t>
            </a:r>
            <a:r>
              <a:rPr lang="pt-BR" sz="1400" dirty="0">
                <a:latin typeface="+mj-lt"/>
              </a:rPr>
              <a:t>.</a:t>
            </a:r>
            <a:endParaRPr lang="pt-BR" sz="1400" b="1" dirty="0">
              <a:latin typeface="+mj-lt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BF77C7C-9AB7-7BD3-8A4E-684CBB3AB363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21/24</a:t>
            </a:r>
          </a:p>
        </p:txBody>
      </p:sp>
    </p:spTree>
    <p:extLst>
      <p:ext uri="{BB962C8B-B14F-4D97-AF65-F5344CB8AC3E}">
        <p14:creationId xmlns:p14="http://schemas.microsoft.com/office/powerpoint/2010/main" val="4021701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FEB86-C955-956C-A431-D0F35AFB5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A330555-BD6E-C960-08EF-087CF6B9A2FC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3E33A62-98EA-9FFD-BE61-F390F89400B5}"/>
              </a:ext>
            </a:extLst>
          </p:cNvPr>
          <p:cNvSpPr txBox="1"/>
          <p:nvPr/>
        </p:nvSpPr>
        <p:spPr>
          <a:xfrm>
            <a:off x="1223682" y="887884"/>
            <a:ext cx="27064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8. Trabalhos Futuros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D29C171-0FED-BC5B-3402-1AC2515BBD1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6D7B30E-09A0-C4AD-89BD-11F1CD1DD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388E82A-AF66-C8B8-41CC-84C658626645}"/>
              </a:ext>
            </a:extLst>
          </p:cNvPr>
          <p:cNvSpPr txBox="1"/>
          <p:nvPr/>
        </p:nvSpPr>
        <p:spPr>
          <a:xfrm>
            <a:off x="1375982" y="2017125"/>
            <a:ext cx="8977386" cy="1353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Implementar algoritmos de Sintonia Automática das matrizes Q e R;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Integrar com algoritmos de visão computacional utilizando a estratégia de ROI dinâmico para diminuir custo computacional no processamento de imagens;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Utilizar filtros avançados, como </a:t>
            </a:r>
            <a:r>
              <a:rPr lang="pt-BR" sz="1400" dirty="0" err="1">
                <a:latin typeface="+mj-lt"/>
              </a:rPr>
              <a:t>Unscented</a:t>
            </a:r>
            <a:r>
              <a:rPr lang="pt-BR" sz="1400" dirty="0">
                <a:latin typeface="+mj-lt"/>
              </a:rPr>
              <a:t> Kalman Filter (UKF) e comparar com o EKF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EBB5A66-9A75-BE43-36A9-32B01C3BF15D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22/24</a:t>
            </a:r>
          </a:p>
        </p:txBody>
      </p:sp>
    </p:spTree>
    <p:extLst>
      <p:ext uri="{BB962C8B-B14F-4D97-AF65-F5344CB8AC3E}">
        <p14:creationId xmlns:p14="http://schemas.microsoft.com/office/powerpoint/2010/main" val="35418441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B1D3F-7EA7-0C8F-03E5-6DB5A48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B44E4F-9DC8-5ECE-3C69-5376241FB81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9568142-3BC4-B698-C318-824E3078F81C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 BIBLIOGRÁFICAS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C02250-31F5-7510-A3EB-017E92734BA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12599A-9E1E-2F55-FE5C-F1006F37361B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91301232-7129-EACB-B307-6D0B0D417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38FBFD4-D38B-272A-9F3F-3096A6872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1909903"/>
            <a:ext cx="9547809" cy="3389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CARON, F.; DUFLOS, E.; POMORSKI, D.; VANHEEGHE, P. Gps/</a:t>
            </a:r>
            <a:r>
              <a:rPr lang="pt-BR" sz="1200" dirty="0" err="1">
                <a:latin typeface="+mj-lt"/>
              </a:rPr>
              <a:t>imu</a:t>
            </a:r>
            <a:r>
              <a:rPr lang="pt-BR" sz="1200" dirty="0">
                <a:latin typeface="+mj-lt"/>
              </a:rPr>
              <a:t> data fusion </a:t>
            </a:r>
            <a:r>
              <a:rPr lang="pt-BR" sz="1200" dirty="0" err="1">
                <a:latin typeface="+mj-lt"/>
              </a:rPr>
              <a:t>using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multisensor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kalman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filtering</a:t>
            </a:r>
            <a:r>
              <a:rPr lang="pt-BR" sz="1200" dirty="0">
                <a:latin typeface="+mj-lt"/>
              </a:rPr>
              <a:t>: </a:t>
            </a:r>
            <a:r>
              <a:rPr lang="pt-BR" sz="1200" dirty="0" err="1">
                <a:latin typeface="+mj-lt"/>
              </a:rPr>
              <a:t>Introduction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of</a:t>
            </a:r>
            <a:r>
              <a:rPr lang="pt-BR" sz="1200" dirty="0">
                <a:latin typeface="+mj-lt"/>
              </a:rPr>
              <a:t> contextual </a:t>
            </a:r>
            <a:r>
              <a:rPr lang="pt-BR" sz="1200" dirty="0" err="1">
                <a:latin typeface="+mj-lt"/>
              </a:rPr>
              <a:t>aspects</a:t>
            </a:r>
            <a:r>
              <a:rPr lang="pt-BR" sz="1200" dirty="0">
                <a:latin typeface="+mj-lt"/>
              </a:rPr>
              <a:t>. </a:t>
            </a:r>
            <a:r>
              <a:rPr lang="pt-BR" sz="1200" dirty="0" err="1">
                <a:latin typeface="+mj-lt"/>
              </a:rPr>
              <a:t>Information</a:t>
            </a:r>
            <a:r>
              <a:rPr lang="pt-BR" sz="1200" dirty="0">
                <a:latin typeface="+mj-lt"/>
              </a:rPr>
              <a:t> Fusion, v. 7, n. 2, p. 221–230, 2006. Disponível em: </a:t>
            </a:r>
            <a:r>
              <a:rPr lang="pt-BR" sz="1200" dirty="0">
                <a:latin typeface="+mj-lt"/>
                <a:hlinkClick r:id="rId3"/>
              </a:rPr>
              <a:t>https://www.sciencedirect.com/</a:t>
            </a:r>
            <a:r>
              <a:rPr lang="pt-BR" sz="1200" dirty="0" err="1">
                <a:latin typeface="+mj-lt"/>
                <a:hlinkClick r:id="rId3"/>
              </a:rPr>
              <a:t>science</a:t>
            </a:r>
            <a:r>
              <a:rPr lang="pt-BR" sz="1200" dirty="0">
                <a:latin typeface="+mj-lt"/>
                <a:hlinkClick r:id="rId3"/>
              </a:rPr>
              <a:t>/</a:t>
            </a:r>
            <a:r>
              <a:rPr lang="pt-BR" sz="1200" dirty="0" err="1">
                <a:latin typeface="+mj-lt"/>
                <a:hlinkClick r:id="rId3"/>
              </a:rPr>
              <a:t>article</a:t>
            </a:r>
            <a:r>
              <a:rPr lang="pt-BR" sz="1200" dirty="0">
                <a:latin typeface="+mj-lt"/>
                <a:hlinkClick r:id="rId3"/>
              </a:rPr>
              <a:t>/</a:t>
            </a:r>
            <a:r>
              <a:rPr lang="pt-BR" sz="1200" dirty="0" err="1">
                <a:latin typeface="+mj-lt"/>
                <a:hlinkClick r:id="rId3"/>
              </a:rPr>
              <a:t>pii</a:t>
            </a:r>
            <a:r>
              <a:rPr lang="pt-BR" sz="1200" dirty="0">
                <a:latin typeface="+mj-lt"/>
                <a:hlinkClick r:id="rId3"/>
              </a:rPr>
              <a:t>/S156625350400065X</a:t>
            </a:r>
            <a:r>
              <a:rPr lang="pt-BR" sz="1200" dirty="0">
                <a:latin typeface="+mj-lt"/>
              </a:rPr>
              <a:t>. Acesso em: 24 jun. 2026.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CHEN, S. Y. Kalman </a:t>
            </a:r>
            <a:r>
              <a:rPr lang="pt-BR" sz="1200" dirty="0" err="1">
                <a:latin typeface="+mj-lt"/>
              </a:rPr>
              <a:t>filter</a:t>
            </a:r>
            <a:r>
              <a:rPr lang="pt-BR" sz="1200" dirty="0">
                <a:latin typeface="+mj-lt"/>
              </a:rPr>
              <a:t> for </a:t>
            </a:r>
            <a:r>
              <a:rPr lang="pt-BR" sz="1200" dirty="0" err="1">
                <a:latin typeface="+mj-lt"/>
              </a:rPr>
              <a:t>robot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vision</a:t>
            </a:r>
            <a:r>
              <a:rPr lang="pt-BR" sz="1200" dirty="0">
                <a:latin typeface="+mj-lt"/>
              </a:rPr>
              <a:t>: A </a:t>
            </a:r>
            <a:r>
              <a:rPr lang="pt-BR" sz="1200" dirty="0" err="1">
                <a:latin typeface="+mj-lt"/>
              </a:rPr>
              <a:t>survey</a:t>
            </a:r>
            <a:r>
              <a:rPr lang="pt-BR" sz="1200" dirty="0">
                <a:latin typeface="+mj-lt"/>
              </a:rPr>
              <a:t>. IEEE </a:t>
            </a:r>
            <a:r>
              <a:rPr lang="pt-BR" sz="1200" dirty="0" err="1">
                <a:latin typeface="+mj-lt"/>
              </a:rPr>
              <a:t>Transactions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on</a:t>
            </a:r>
            <a:r>
              <a:rPr lang="pt-BR" sz="1200" dirty="0">
                <a:latin typeface="+mj-lt"/>
              </a:rPr>
              <a:t> Industrial </a:t>
            </a:r>
            <a:r>
              <a:rPr lang="pt-BR" sz="1200" dirty="0" err="1">
                <a:latin typeface="+mj-lt"/>
              </a:rPr>
              <a:t>Electronics</a:t>
            </a:r>
            <a:r>
              <a:rPr lang="pt-BR" sz="1200" dirty="0">
                <a:latin typeface="+mj-lt"/>
              </a:rPr>
              <a:t>, v. 59, n. 11, p. 4409–4419, 2012.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CHEN, Z.; HECKMAN, C.; JULIER, S. </a:t>
            </a:r>
            <a:r>
              <a:rPr lang="pt-BR" sz="1200" dirty="0" err="1">
                <a:latin typeface="+mj-lt"/>
              </a:rPr>
              <a:t>Weak</a:t>
            </a:r>
            <a:r>
              <a:rPr lang="pt-BR" sz="1200" dirty="0">
                <a:latin typeface="+mj-lt"/>
              </a:rPr>
              <a:t> in </a:t>
            </a:r>
            <a:r>
              <a:rPr lang="pt-BR" sz="1200" dirty="0" err="1">
                <a:latin typeface="+mj-lt"/>
              </a:rPr>
              <a:t>the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nees</a:t>
            </a:r>
            <a:r>
              <a:rPr lang="pt-BR" sz="1200" dirty="0">
                <a:latin typeface="+mj-lt"/>
              </a:rPr>
              <a:t>?: </a:t>
            </a:r>
            <a:r>
              <a:rPr lang="pt-BR" sz="1200" dirty="0" err="1">
                <a:latin typeface="+mj-lt"/>
              </a:rPr>
              <a:t>Auto-tuning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kalman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filters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with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bayesian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optimization</a:t>
            </a:r>
            <a:r>
              <a:rPr lang="pt-BR" sz="1200" dirty="0">
                <a:latin typeface="+mj-lt"/>
              </a:rPr>
              <a:t>. [S. l.: s. n.], 2018. Disponível em: </a:t>
            </a:r>
            <a:r>
              <a:rPr lang="pt-BR" sz="1200" dirty="0">
                <a:latin typeface="+mj-lt"/>
                <a:hlinkClick r:id="rId4"/>
              </a:rPr>
              <a:t>https://arxiv.org/</a:t>
            </a:r>
            <a:r>
              <a:rPr lang="pt-BR" sz="1200" dirty="0" err="1">
                <a:latin typeface="+mj-lt"/>
                <a:hlinkClick r:id="rId4"/>
              </a:rPr>
              <a:t>abs</a:t>
            </a:r>
            <a:r>
              <a:rPr lang="pt-BR" sz="1200" dirty="0">
                <a:latin typeface="+mj-lt"/>
                <a:hlinkClick r:id="rId4"/>
              </a:rPr>
              <a:t>/1807.08855</a:t>
            </a:r>
            <a:r>
              <a:rPr lang="pt-BR" sz="1200" dirty="0">
                <a:latin typeface="+mj-lt"/>
              </a:rPr>
              <a:t>. Acesso em: 24 jun. 2026.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FAŁEK, P.; KANIEWSKI, P. Computer </a:t>
            </a:r>
            <a:r>
              <a:rPr lang="pt-BR" sz="1200" dirty="0" err="1">
                <a:latin typeface="+mj-lt"/>
              </a:rPr>
              <a:t>application</a:t>
            </a:r>
            <a:r>
              <a:rPr lang="pt-BR" sz="1200" dirty="0">
                <a:latin typeface="+mj-lt"/>
              </a:rPr>
              <a:t> for </a:t>
            </a:r>
            <a:r>
              <a:rPr lang="pt-BR" sz="1200" dirty="0" err="1">
                <a:latin typeface="+mj-lt"/>
              </a:rPr>
              <a:t>testing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kalman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filter</a:t>
            </a:r>
            <a:r>
              <a:rPr lang="pt-BR" sz="1200" dirty="0">
                <a:latin typeface="+mj-lt"/>
              </a:rPr>
              <a:t>. In: CONFERENCE PROCEEDINGS OF SPIE, 11442., 2020. </a:t>
            </a:r>
            <a:r>
              <a:rPr lang="pt-BR" sz="1200" dirty="0" err="1">
                <a:latin typeface="+mj-lt"/>
              </a:rPr>
              <a:t>Proceedings</a:t>
            </a:r>
            <a:r>
              <a:rPr lang="pt-BR" sz="1200" dirty="0">
                <a:latin typeface="+mj-lt"/>
              </a:rPr>
              <a:t> [...]. [S. l.]: SPIE, 2020. p. 1144213.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SILVA, S. J. A. Ferramenta de simulação e rastreamento bidimensional via EKF. 2026. Repositório GitHub. Disponível em: </a:t>
            </a:r>
            <a:r>
              <a:rPr lang="pt-BR" sz="1200" dirty="0">
                <a:latin typeface="+mj-lt"/>
                <a:hlinkClick r:id="rId5"/>
              </a:rPr>
              <a:t>https://github.com/</a:t>
            </a:r>
            <a:r>
              <a:rPr lang="pt-BR" sz="1200" dirty="0" err="1">
                <a:latin typeface="+mj-lt"/>
                <a:hlinkClick r:id="rId5"/>
              </a:rPr>
              <a:t>SauloJose</a:t>
            </a:r>
            <a:r>
              <a:rPr lang="pt-BR" sz="1200" dirty="0">
                <a:latin typeface="+mj-lt"/>
                <a:hlinkClick r:id="rId5"/>
              </a:rPr>
              <a:t>/</a:t>
            </a:r>
            <a:r>
              <a:rPr lang="pt-BR" sz="1200" dirty="0" err="1">
                <a:latin typeface="+mj-lt"/>
                <a:hlinkClick r:id="rId5"/>
              </a:rPr>
              <a:t>PASKalmanTraj</a:t>
            </a:r>
            <a:r>
              <a:rPr lang="pt-BR" sz="1200" dirty="0">
                <a:latin typeface="+mj-lt"/>
              </a:rPr>
              <a:t>. Acesso em: 13 jun. 2026.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+mj-lt"/>
              </a:rPr>
              <a:t>Simon, D. </a:t>
            </a:r>
            <a:r>
              <a:rPr lang="pt-BR" sz="1200" dirty="0" err="1">
                <a:latin typeface="+mj-lt"/>
              </a:rPr>
              <a:t>Optimal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State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Estimation</a:t>
            </a:r>
            <a:r>
              <a:rPr lang="pt-BR" sz="1200" dirty="0">
                <a:latin typeface="+mj-lt"/>
              </a:rPr>
              <a:t>: Kalman, H∞, </a:t>
            </a:r>
            <a:r>
              <a:rPr lang="pt-BR" sz="1200" dirty="0" err="1">
                <a:latin typeface="+mj-lt"/>
              </a:rPr>
              <a:t>and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Nonlinear</a:t>
            </a:r>
            <a:r>
              <a:rPr lang="pt-BR" sz="1200" dirty="0">
                <a:latin typeface="+mj-lt"/>
              </a:rPr>
              <a:t> Approaches. Wiley, 2006;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 err="1">
                <a:latin typeface="+mj-lt"/>
              </a:rPr>
              <a:t>Thrun</a:t>
            </a:r>
            <a:r>
              <a:rPr lang="pt-BR" sz="1200" dirty="0">
                <a:latin typeface="+mj-lt"/>
              </a:rPr>
              <a:t>, S., </a:t>
            </a:r>
            <a:r>
              <a:rPr lang="pt-BR" sz="1200" dirty="0" err="1">
                <a:latin typeface="+mj-lt"/>
              </a:rPr>
              <a:t>Burgard</a:t>
            </a:r>
            <a:r>
              <a:rPr lang="pt-BR" sz="1200" dirty="0">
                <a:latin typeface="+mj-lt"/>
              </a:rPr>
              <a:t>, W., &amp; Fox, D. Probabilistic Robotics. MIT Press, 2005.;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1EF1703-2347-A7A3-6A13-63B4DE6BD175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23/24</a:t>
            </a:r>
          </a:p>
        </p:txBody>
      </p:sp>
    </p:spTree>
    <p:extLst>
      <p:ext uri="{BB962C8B-B14F-4D97-AF65-F5344CB8AC3E}">
        <p14:creationId xmlns:p14="http://schemas.microsoft.com/office/powerpoint/2010/main" val="3487896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8551-3138-3592-B2D0-9308D6CD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68A7DB7-892C-1102-C509-196D4C020417}"/>
              </a:ext>
            </a:extLst>
          </p:cNvPr>
          <p:cNvSpPr txBox="1"/>
          <p:nvPr/>
        </p:nvSpPr>
        <p:spPr>
          <a:xfrm>
            <a:off x="4106775" y="5929511"/>
            <a:ext cx="397844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Silva.</a:t>
            </a:r>
            <a:b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dirty="0"/>
              <a:t>saulo.jose.silva@ee.ufcg.edu.br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606FD2-AEAE-EDB8-5E06-354AB7BEC804}"/>
              </a:ext>
            </a:extLst>
          </p:cNvPr>
          <p:cNvSpPr txBox="1"/>
          <p:nvPr/>
        </p:nvSpPr>
        <p:spPr>
          <a:xfrm>
            <a:off x="721889" y="2705725"/>
            <a:ext cx="107482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8800" dirty="0">
                <a:latin typeface="Arial" panose="020B0604020202020204" pitchFamily="34" charset="0"/>
                <a:cs typeface="Arial" panose="020B0604020202020204" pitchFamily="34" charset="0"/>
              </a:rPr>
              <a:t>Obrigado!</a:t>
            </a:r>
          </a:p>
        </p:txBody>
      </p:sp>
      <p:pic>
        <p:nvPicPr>
          <p:cNvPr id="6" name="Picture 4" descr="Logomarcas">
            <a:extLst>
              <a:ext uri="{FF2B5EF4-FFF2-40B4-BE49-F238E27FC236}">
                <a16:creationId xmlns:a16="http://schemas.microsoft.com/office/drawing/2014/main" id="{89AE256B-4357-1E17-0765-F165476FB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5D0647B1-1CDC-4088-5B86-2F29E5725778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24/24</a:t>
            </a:r>
          </a:p>
        </p:txBody>
      </p:sp>
    </p:spTree>
    <p:extLst>
      <p:ext uri="{BB962C8B-B14F-4D97-AF65-F5344CB8AC3E}">
        <p14:creationId xmlns:p14="http://schemas.microsoft.com/office/powerpoint/2010/main" val="42247490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3510</TotalTime>
  <Words>1609</Words>
  <Application>Microsoft Office PowerPoint</Application>
  <PresentationFormat>Widescreen</PresentationFormat>
  <Paragraphs>206</Paragraphs>
  <Slides>24</Slides>
  <Notes>0</Notes>
  <HiddenSlides>0</HiddenSlides>
  <MMClips>1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24</vt:i4>
      </vt:variant>
    </vt:vector>
  </HeadingPairs>
  <TitlesOfParts>
    <vt:vector size="32" baseType="lpstr">
      <vt:lpstr>Aptos</vt:lpstr>
      <vt:lpstr>Aptos Display</vt:lpstr>
      <vt:lpstr>Arial</vt:lpstr>
      <vt:lpstr>Arial Black</vt:lpstr>
      <vt:lpstr>Cambria Math</vt:lpstr>
      <vt:lpstr>Wingdings</vt:lpstr>
      <vt:lpstr>Tema do Office</vt:lpstr>
      <vt:lpstr>Personalizar design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Saulo José Almeida Silva</dc:creator>
  <cp:lastModifiedBy>Saulo José Almeida Silva</cp:lastModifiedBy>
  <cp:revision>511</cp:revision>
  <dcterms:created xsi:type="dcterms:W3CDTF">2025-08-24T00:23:34Z</dcterms:created>
  <dcterms:modified xsi:type="dcterms:W3CDTF">2026-06-24T04:51:09Z</dcterms:modified>
</cp:coreProperties>
</file>