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9"/>
  </p:notesMasterIdLst>
  <p:sldIdLst>
    <p:sldId id="257" r:id="rId3"/>
    <p:sldId id="270" r:id="rId4"/>
    <p:sldId id="414" r:id="rId5"/>
    <p:sldId id="439" r:id="rId6"/>
    <p:sldId id="409" r:id="rId7"/>
    <p:sldId id="440" r:id="rId8"/>
    <p:sldId id="435" r:id="rId9"/>
    <p:sldId id="417" r:id="rId10"/>
    <p:sldId id="438" r:id="rId11"/>
    <p:sldId id="410" r:id="rId12"/>
    <p:sldId id="420" r:id="rId13"/>
    <p:sldId id="445" r:id="rId14"/>
    <p:sldId id="411" r:id="rId15"/>
    <p:sldId id="425" r:id="rId16"/>
    <p:sldId id="444" r:id="rId17"/>
    <p:sldId id="428" r:id="rId18"/>
    <p:sldId id="412" r:id="rId19"/>
    <p:sldId id="441" r:id="rId20"/>
    <p:sldId id="431" r:id="rId21"/>
    <p:sldId id="442" r:id="rId22"/>
    <p:sldId id="443" r:id="rId23"/>
    <p:sldId id="429" r:id="rId24"/>
    <p:sldId id="413" r:id="rId25"/>
    <p:sldId id="433" r:id="rId26"/>
    <p:sldId id="380" r:id="rId27"/>
    <p:sldId id="273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191E"/>
    <a:srgbClr val="D7FF86"/>
    <a:srgbClr val="C1E5F5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50" d="100"/>
          <a:sy n="50" d="100"/>
        </p:scale>
        <p:origin x="48" y="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492875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381" y="6481041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8617D0-E671-AC85-3B19-1723D0C3F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AB13935-5D72-E67C-7754-4FBC1B73E4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ADD7A5-85D0-9ACF-7E65-89421DFA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49ACE4-65BF-B0F7-9384-859297B18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04CA7E-7820-907E-2D93-2E4F6210C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6050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89FF82-F671-6F3E-DE2F-7853305FB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C0808A-4B9F-D105-B564-26B52C8AD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18A9F3-A9B0-8B18-A9FE-9AD61BDF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0AB0C10-91DD-41F7-7652-41F70B27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CB164E-7F11-FD1A-28D7-20EB78057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8785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37363-9643-791E-804C-8232400A3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CE2F4E9-0165-66BC-F2D3-88AB82AFF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582167-B63C-50A4-1E92-699274A8D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F1750DB-323E-BEF6-56B8-49151346A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68E000-1A7F-9B85-4394-000164FE9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4075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09E491-20C9-C814-F9F6-D42F4DF0B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47B3FA-A92A-E3C0-5463-DD0076725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963947-C174-9A01-4191-88B0D6FBE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2D9860-C2E2-67A6-670F-57D80BD5B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02E71B-A814-4981-51FD-E84A3DD8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D60826A-618A-2F1C-7DC1-5E0AE342F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4154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62B3E-2248-83D6-C824-1A6003906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914164-5DF4-8ABF-BFE8-657A83D3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9F38FA7-BF04-E9EA-7A96-300EEFE77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3139F58-ED6C-936A-6E46-6573A897E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774EDFC-860B-0735-911D-598712824F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5724F80-C74C-C927-51C5-DD41A1C3D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910A56-45F8-4CA3-3B49-E7A5E240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EF41B81-19FF-3C87-1364-8BB531951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4494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B3768-F3E1-AB3B-E537-8FD922E5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E7163A-AF9C-16E6-96BC-D9CF3B21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E6B64CA-2AD0-36F6-1838-0CF1807B4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D7C08C1-F144-5A68-2D84-AFBF32C91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3555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E3B6355-45CD-B194-172A-C280EBF6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2CAA397-B1A8-5CBD-8763-E140CB1D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8F75B4-E35C-0579-E0D7-18EB44E94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407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A1E0F0-91C9-181E-E7A0-266466E5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7CC64E-4A2C-6335-BB7F-8B615333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D8FC24-C24D-E92C-31EB-2B86098E0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5A18A8D-D28C-A501-1690-4E670F2B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9BF936-B1FE-B0A4-8354-F5899858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C9CDFF-B287-CE15-8059-4AB871A9F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68182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25DBE9-DC8D-A919-CF84-7D740042C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103D358-674B-97C4-C2D8-0808748EB2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98EFE5-9B0B-310E-87EA-ECA6B5430C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A85E48-A118-7CE3-FE62-71CD5098B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D79EAF-800C-C0E6-4E20-835A3212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E89E41A-54A2-D992-1070-79CB0519D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7701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6C5D3A-0AD6-992E-B0C8-DC8A36390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E80888-9FCD-AB87-F116-B45FD57A9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AF9029-8369-2285-8AFC-2F3521AE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9F8740-DFD9-EA88-8E71-7A2D14C3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F934BA-3334-4710-AD91-245D93223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061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6885EF-8182-6875-2522-86A047D11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BDAA1D-A158-8E03-7A30-0A5D6236B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07AD0E-8011-21D4-200A-93CE07EB1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C2CFEE-75A5-C9D8-B19B-690BED920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666BBE-E6F7-6FF3-5574-C0E141C9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118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9EF7A64-DD7B-2387-8F16-1BBCA8C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5F0BE48-F3CB-0FBA-ACA8-AFFA4829A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D9E988-78F5-0F09-4AB4-07B973CB8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8AD2BF-1B60-4235-8F29-0DAC4243CFC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0187A1-2742-5BFE-6536-4AD7F6DC6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D6687B-4797-138B-9B56-865207C3A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9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2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0.png"/><Relationship Id="rId5" Type="http://schemas.openxmlformats.org/officeDocument/2006/relationships/image" Target="../media/image35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34.png"/><Relationship Id="rId9" Type="http://schemas.openxmlformats.org/officeDocument/2006/relationships/image" Target="../media/image380.png"/><Relationship Id="rId1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%3A%2F%2Fgithub.com%2FSauloJose%2FPASKalmanTraj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156625350400065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google.com/search?q=https%3A%2F%2Fgithub.com%2FSauloJose%2FPASKalmanTraj" TargetMode="External"/><Relationship Id="rId4" Type="http://schemas.openxmlformats.org/officeDocument/2006/relationships/hyperlink" Target="https://www.google.com/search?q=https%3A%2F%2Farxiv.org%2Fabs%2F1807.08855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1224" y="4446446"/>
            <a:ext cx="397223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Edson Porto da Silva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REPLICAÇÃO E EXPANSÃO DE UM SIMULADOR EKF RANGE-ONLY COM FONO NO MODELO PVA E AVALIAÇÃO VIA NIS E TAXA DE INLIERS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7" y="6027291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2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2416493" y="2613066"/>
            <a:ext cx="7359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PROCESSAMENTO ADAPTATIVO DE SINAIS - 2026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17B83F3-E9B0-83EA-3152-1D81F512D632}"/>
              </a:ext>
            </a:extLst>
          </p:cNvPr>
          <p:cNvSpPr txBox="1"/>
          <p:nvPr/>
        </p:nvSpPr>
        <p:spPr>
          <a:xfrm>
            <a:off x="4488425" y="6396623"/>
            <a:ext cx="321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b="1" dirty="0"/>
              <a:t>24/06/2026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9469" y="1726766"/>
            <a:ext cx="9888300" cy="4087034"/>
          </a:xfrm>
        </p:spPr>
        <p:txBody>
          <a:bodyPr numCol="2">
            <a:normAutofit/>
          </a:bodyPr>
          <a:lstStyle/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Contexto e Motivação;</a:t>
            </a:r>
            <a:endParaRPr lang="pt-BR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Objetivos;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Fundamentação Teórica;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3.1. Abordagem Teórica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Formulação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4.1. Descrição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4.2. Descrição dos Modelos;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4.3. Delimitação de Escopo (Herdados x Expandidos);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Metodologia;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5.1. A arquitetura do simulador;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5.2. Métricas de Avaliação;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5.3. Cenários Experimentais;</a:t>
            </a:r>
          </a:p>
          <a:p>
            <a:pPr lvl="1" algn="just">
              <a:lnSpc>
                <a:spcPct val="100000"/>
              </a:lnSpc>
            </a:pPr>
            <a:endParaRPr lang="pt-BR" sz="1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00000"/>
              </a:lnSpc>
            </a:pPr>
            <a:endParaRPr lang="pt-BR" sz="1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Resultados;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6.1. Trajetórias;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6.2. Gráficos de RMSE;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6.3. NIS e Histogramas;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6.4. Caso Especial: Oclusão;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6.5. Resumo dos resultados;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Conclusão;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algn="just">
              <a:lnSpc>
                <a:spcPct val="100000"/>
              </a:lnSpc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66A43142-BB92-87FD-0A99-66019A24F411}"/>
              </a:ext>
            </a:extLst>
          </p:cNvPr>
          <p:cNvCxnSpPr>
            <a:cxnSpLocks/>
          </p:cNvCxnSpPr>
          <p:nvPr/>
        </p:nvCxnSpPr>
        <p:spPr>
          <a:xfrm>
            <a:off x="5909188" y="1592826"/>
            <a:ext cx="0" cy="44459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46B9C3F-71E9-5FDD-DFE9-693113F70CF0}"/>
              </a:ext>
            </a:extLst>
          </p:cNvPr>
          <p:cNvSpPr txBox="1"/>
          <p:nvPr/>
        </p:nvSpPr>
        <p:spPr>
          <a:xfrm>
            <a:off x="11525490" y="649345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02/26</a:t>
            </a:r>
          </a:p>
        </p:txBody>
      </p:sp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39D35-F631-75F8-E5F3-1CF33D64A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8C34EF7-2A48-A108-7DCA-86169AA2702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93C3CF6-F6DB-A1D4-1BFF-DDCD450B57C8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EF56090-3847-ED3A-BFCD-CF1757FA3A9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AC8F017-6538-6AEF-FC13-AA560BFA3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EFC7C48-2E84-E79F-BCA0-5C2BBBE8096D}"/>
              </a:ext>
            </a:extLst>
          </p:cNvPr>
          <p:cNvSpPr txBox="1"/>
          <p:nvPr/>
        </p:nvSpPr>
        <p:spPr>
          <a:xfrm>
            <a:off x="1223682" y="1738103"/>
            <a:ext cx="9129686" cy="3616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Sistemas Range-Only:</a:t>
            </a:r>
            <a:r>
              <a:rPr lang="pt-BR" sz="1400" dirty="0"/>
              <a:t> A localização baseada puramente em distância de estações base lida com medições inerentemente não lineares e ruidosas.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Limitação do RMSE:</a:t>
            </a:r>
            <a:r>
              <a:rPr lang="pt-BR" sz="1400" dirty="0"/>
              <a:t> Avaliar filtros de rastreamento apenas por métricas geométricas macroscópicas (como o erro quadrático médio) é insuficiente.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O Problema Oculto:</a:t>
            </a:r>
            <a:r>
              <a:rPr lang="pt-BR" sz="1400" dirty="0"/>
              <a:t> Um filtro mal sintonizado pode apresentar um RMSE baixo, mas ser estatisticamente inconsistente ou divergente em malha aberta.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Abordagem Requisitada:</a:t>
            </a:r>
            <a:r>
              <a:rPr lang="pt-BR" sz="1400" dirty="0"/>
              <a:t> Monitorar simultaneamente a acurácia geométrica e a consistência estocástica interna do estimador.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3C695FC-9241-4447-6970-2590BA3F448F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03/26</a:t>
            </a:r>
          </a:p>
        </p:txBody>
      </p:sp>
    </p:spTree>
    <p:extLst>
      <p:ext uri="{BB962C8B-B14F-4D97-AF65-F5344CB8AC3E}">
        <p14:creationId xmlns:p14="http://schemas.microsoft.com/office/powerpoint/2010/main" val="3278981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6660-DA1D-D9D7-108F-1D48FCADB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BA72657-3D57-A9A0-5BC7-6FF2479CE9C4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F792606-6FD8-F936-A756-3C6764F45E15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3D857DFC-5C93-31E8-ED8F-AAA9CDBCBFD8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05FCF287-49C8-8C32-E9D1-97A554D02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76B05A79-5BC3-B02D-A47A-3786579E2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514" y="1645231"/>
            <a:ext cx="5559887" cy="4455423"/>
          </a:xfrm>
          <a:prstGeom prst="rect">
            <a:avLst/>
          </a:prstGeom>
        </p:spPr>
      </p:pic>
      <p:pic>
        <p:nvPicPr>
          <p:cNvPr id="26" name="Imagem 25" descr="Untitled">
            <a:extLst>
              <a:ext uri="{FF2B5EF4-FFF2-40B4-BE49-F238E27FC236}">
                <a16:creationId xmlns:a16="http://schemas.microsoft.com/office/drawing/2014/main" id="{C89A9442-7820-2CAB-A30A-C6CF35B85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88" y="2138936"/>
            <a:ext cx="3025642" cy="3413729"/>
          </a:xfrm>
          <a:prstGeom prst="rect">
            <a:avLst/>
          </a:prstGeom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9F62083A-6433-1CAB-3B79-CFE15CFF5DE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04/26</a:t>
            </a:r>
          </a:p>
        </p:txBody>
      </p:sp>
    </p:spTree>
    <p:extLst>
      <p:ext uri="{BB962C8B-B14F-4D97-AF65-F5344CB8AC3E}">
        <p14:creationId xmlns:p14="http://schemas.microsoft.com/office/powerpoint/2010/main" val="182138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5DA9-C19A-9694-13D3-7BF92BB4A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52A243-99FB-23EC-D174-4D378BDB07B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0F9F13-B7A9-94C9-0098-73D07CF7B7E9}"/>
              </a:ext>
            </a:extLst>
          </p:cNvPr>
          <p:cNvSpPr txBox="1"/>
          <p:nvPr/>
        </p:nvSpPr>
        <p:spPr>
          <a:xfrm>
            <a:off x="1223682" y="887884"/>
            <a:ext cx="16353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Objetivos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F88969D-9B23-3DAD-CFC3-5EC7A261630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98786219-376C-B1FB-8934-C388E088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92A66D6-BFBC-D2BD-BB1E-6AF10117F812}"/>
              </a:ext>
            </a:extLst>
          </p:cNvPr>
          <p:cNvSpPr txBox="1"/>
          <p:nvPr/>
        </p:nvSpPr>
        <p:spPr>
          <a:xfrm>
            <a:off x="1223682" y="1777366"/>
            <a:ext cx="9440034" cy="1400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Geral</a:t>
            </a:r>
          </a:p>
          <a:p>
            <a:pPr lvl="1" algn="just">
              <a:lnSpc>
                <a:spcPct val="150000"/>
              </a:lnSpc>
            </a:pPr>
            <a:r>
              <a:rPr lang="pt-BR" sz="1400" dirty="0"/>
              <a:t>Expandir a metodologia de simulação de </a:t>
            </a:r>
            <a:r>
              <a:rPr lang="pt-BR" sz="1400" dirty="0" err="1"/>
              <a:t>Fałek</a:t>
            </a:r>
            <a:r>
              <a:rPr lang="pt-BR" sz="1400" dirty="0"/>
              <a:t> e </a:t>
            </a:r>
            <a:r>
              <a:rPr lang="pt-BR" sz="1400" dirty="0" err="1"/>
              <a:t>Kaniewski</a:t>
            </a:r>
            <a:r>
              <a:rPr lang="pt-BR" sz="1400" dirty="0"/>
              <a:t> (2020) para rastreamento bidimensional via EKF, transpondo o ambiente base para Python e agregando novos cenários de estresse cinemático e métricas de validação estocástica.</a:t>
            </a:r>
            <a:endParaRPr lang="pt-BR" sz="1400" dirty="0"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593843-7F34-8639-7E71-B1E95EB8D242}"/>
              </a:ext>
            </a:extLst>
          </p:cNvPr>
          <p:cNvSpPr txBox="1"/>
          <p:nvPr/>
        </p:nvSpPr>
        <p:spPr>
          <a:xfrm>
            <a:off x="1223682" y="3351724"/>
            <a:ext cx="9440034" cy="2369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Específicos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Replicar o Estudo Base:</a:t>
            </a:r>
            <a:r>
              <a:rPr lang="pt-BR" sz="1400" dirty="0"/>
              <a:t> Reconstruir os modelos cinemáticos (</a:t>
            </a:r>
            <a:r>
              <a:rPr lang="pt-BR" sz="1400" i="1" dirty="0"/>
              <a:t>range-</a:t>
            </a:r>
            <a:r>
              <a:rPr lang="pt-BR" sz="1400" i="1" dirty="0" err="1"/>
              <a:t>only</a:t>
            </a:r>
            <a:r>
              <a:rPr lang="pt-BR" sz="1400" dirty="0"/>
              <a:t>) e os cenários originais de </a:t>
            </a:r>
            <a:r>
              <a:rPr lang="pt-BR" sz="1400" dirty="0" err="1"/>
              <a:t>Fałek</a:t>
            </a:r>
            <a:r>
              <a:rPr lang="pt-BR" sz="1400" dirty="0"/>
              <a:t> (2020) em um novo simulador interativo em Python.</a:t>
            </a:r>
            <a:r>
              <a:rPr lang="pt-BR" sz="1400" b="1" dirty="0">
                <a:latin typeface="+mj-lt"/>
              </a:rPr>
              <a:t>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Adicionar Cenários Complexos:</a:t>
            </a:r>
            <a:r>
              <a:rPr lang="pt-BR" sz="1400" dirty="0"/>
              <a:t> Expandir os testes originais com três novas trajetórias de alta dinâmica e condições de oclusão de sinal.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Incorporar Métricas Estatísticas:</a:t>
            </a:r>
            <a:r>
              <a:rPr lang="pt-BR" sz="1400" dirty="0"/>
              <a:t> Aplicar métricas de consistência (NIS e Taxa de Inliers baseada em Chen et al.) para avaliar a sintonia do filtro, indo além do erro geométrico (RMSE) usado no artigo base.</a:t>
            </a:r>
            <a:endParaRPr lang="pt-BR" sz="1400" dirty="0"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389D6AB-ED4E-D809-8DED-C44F7B26EE06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05/26</a:t>
            </a:r>
          </a:p>
        </p:txBody>
      </p:sp>
    </p:spTree>
    <p:extLst>
      <p:ext uri="{BB962C8B-B14F-4D97-AF65-F5344CB8AC3E}">
        <p14:creationId xmlns:p14="http://schemas.microsoft.com/office/powerpoint/2010/main" val="111364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0513A-1137-D25D-698B-06CA18D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4E17784-693A-A5E0-E795-3DF6DEE98EC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3A00B1-4673-5E7F-C992-C02313C5D761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A3AA830-CC26-5EFE-3A3F-F1C592DCB6F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A5323FE-DB2A-43CB-6BC0-A3229F69D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4B7B1E2-3640-871D-455E-F67118927921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Abordagem Teórica </a:t>
            </a:r>
            <a:endParaRPr lang="pt-BR" sz="1600" dirty="0">
              <a:latin typeface="+mj-lt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1471CCA-DC9F-2FAB-FC2F-E518DA8DED08}"/>
              </a:ext>
            </a:extLst>
          </p:cNvPr>
          <p:cNvSpPr txBox="1"/>
          <p:nvPr/>
        </p:nvSpPr>
        <p:spPr>
          <a:xfrm>
            <a:off x="1321928" y="4632106"/>
            <a:ext cx="9801519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i="1" dirty="0"/>
              <a:t>“[...] A </a:t>
            </a:r>
            <a:r>
              <a:rPr lang="pt-BR" i="1" dirty="0" err="1"/>
              <a:t>robot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carries</a:t>
            </a:r>
            <a:r>
              <a:rPr lang="pt-BR" i="1" dirty="0"/>
              <a:t> a </a:t>
            </a:r>
            <a:r>
              <a:rPr lang="pt-BR" i="1" dirty="0" err="1"/>
              <a:t>notion</a:t>
            </a:r>
            <a:r>
              <a:rPr lang="pt-BR" i="1" dirty="0"/>
              <a:t> </a:t>
            </a:r>
            <a:r>
              <a:rPr lang="pt-BR" i="1" dirty="0" err="1"/>
              <a:t>of</a:t>
            </a:r>
            <a:r>
              <a:rPr lang="pt-BR" i="1" dirty="0"/>
              <a:t> its </a:t>
            </a:r>
            <a:r>
              <a:rPr lang="pt-BR" i="1" dirty="0" err="1"/>
              <a:t>own</a:t>
            </a:r>
            <a:r>
              <a:rPr lang="pt-BR" i="1" dirty="0"/>
              <a:t> </a:t>
            </a:r>
            <a:r>
              <a:rPr lang="pt-BR" i="1" dirty="0" err="1"/>
              <a:t>uncertainty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acts</a:t>
            </a:r>
            <a:r>
              <a:rPr lang="pt-BR" i="1" dirty="0"/>
              <a:t> </a:t>
            </a:r>
            <a:r>
              <a:rPr lang="pt-BR" i="1" dirty="0" err="1"/>
              <a:t>accordingly</a:t>
            </a:r>
            <a:r>
              <a:rPr lang="pt-BR" i="1" dirty="0"/>
              <a:t>, </a:t>
            </a:r>
            <a:r>
              <a:rPr lang="pt-BR" i="1" dirty="0" err="1"/>
              <a:t>will</a:t>
            </a:r>
            <a:r>
              <a:rPr lang="pt-BR" i="1" dirty="0"/>
              <a:t> do </a:t>
            </a:r>
            <a:r>
              <a:rPr lang="pt-BR" i="1" dirty="0" err="1"/>
              <a:t>better</a:t>
            </a:r>
            <a:r>
              <a:rPr lang="pt-BR" i="1" dirty="0"/>
              <a:t> </a:t>
            </a:r>
            <a:r>
              <a:rPr lang="pt-BR" i="1" dirty="0" err="1"/>
              <a:t>than</a:t>
            </a:r>
            <a:r>
              <a:rPr lang="pt-BR" i="1" dirty="0"/>
              <a:t> </a:t>
            </a:r>
            <a:r>
              <a:rPr lang="pt-BR" i="1" dirty="0" err="1"/>
              <a:t>one</a:t>
            </a:r>
            <a:r>
              <a:rPr lang="pt-BR" i="1" dirty="0"/>
              <a:t> </a:t>
            </a:r>
            <a:r>
              <a:rPr lang="pt-BR" i="1" dirty="0" err="1"/>
              <a:t>tha</a:t>
            </a:r>
            <a:r>
              <a:rPr lang="pt-BR" i="1" dirty="0"/>
              <a:t> does </a:t>
            </a:r>
            <a:r>
              <a:rPr lang="pt-BR" i="1" dirty="0" err="1"/>
              <a:t>not</a:t>
            </a:r>
            <a:r>
              <a:rPr lang="pt-BR" i="1" dirty="0"/>
              <a:t>.”  </a:t>
            </a:r>
          </a:p>
          <a:p>
            <a:pPr algn="r">
              <a:lnSpc>
                <a:spcPct val="150000"/>
              </a:lnSpc>
            </a:pPr>
            <a:r>
              <a:rPr lang="pt-BR" i="1" dirty="0"/>
              <a:t>- THRUN; BURGARD; FOX, 2005.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32315F-49EF-909F-917C-274CEDC6D423}"/>
              </a:ext>
            </a:extLst>
          </p:cNvPr>
          <p:cNvSpPr/>
          <p:nvPr/>
        </p:nvSpPr>
        <p:spPr>
          <a:xfrm>
            <a:off x="2949677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determinístico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8723531-7AB9-929C-EB4D-DA3A4A6389DA}"/>
              </a:ext>
            </a:extLst>
          </p:cNvPr>
          <p:cNvSpPr/>
          <p:nvPr/>
        </p:nvSpPr>
        <p:spPr>
          <a:xfrm>
            <a:off x="6772164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Probabilístico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822E0E5-FDA7-3A2A-DE36-E807EE13F902}"/>
              </a:ext>
            </a:extLst>
          </p:cNvPr>
          <p:cNvSpPr/>
          <p:nvPr/>
        </p:nvSpPr>
        <p:spPr>
          <a:xfrm>
            <a:off x="5308288" y="2572169"/>
            <a:ext cx="914400" cy="31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/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−1 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blipFill>
                <a:blip r:embed="rId3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/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blipFill>
                <a:blip r:embed="rId4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5540375F-7E8F-B7D6-C170-F312D501E5F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06/26</a:t>
            </a:r>
          </a:p>
        </p:txBody>
      </p:sp>
    </p:spTree>
    <p:extLst>
      <p:ext uri="{BB962C8B-B14F-4D97-AF65-F5344CB8AC3E}">
        <p14:creationId xmlns:p14="http://schemas.microsoft.com/office/powerpoint/2010/main" val="191135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468EE-2F2A-24DB-F3E5-82C76DC5F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0A12D8-8386-D93A-47D3-F1D10490DFA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B5F404D-7D76-02F2-CB28-AAD306F1471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5A4F987-818F-D30B-5CE5-0ACEC184874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B47F50F-5C9A-6E77-D1DD-0F1B87F19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8A833CC6-BC3C-E370-99BD-5F70D9A2B3C4}"/>
              </a:ext>
            </a:extLst>
          </p:cNvPr>
          <p:cNvSpPr txBox="1"/>
          <p:nvPr/>
        </p:nvSpPr>
        <p:spPr>
          <a:xfrm>
            <a:off x="1223682" y="2113646"/>
            <a:ext cx="6690495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 </a:t>
            </a:r>
            <a:r>
              <a:rPr lang="pt-BR" sz="1400" b="1" dirty="0"/>
              <a:t>crença</a:t>
            </a:r>
            <a:r>
              <a:rPr lang="pt-BR" sz="1400" dirty="0"/>
              <a:t> (</a:t>
            </a:r>
            <a:r>
              <a:rPr lang="pt-BR" sz="1400" i="1" dirty="0" err="1"/>
              <a:t>belief</a:t>
            </a:r>
            <a:r>
              <a:rPr lang="pt-BR" sz="1400" dirty="0"/>
              <a:t>) representa a </a:t>
            </a:r>
            <a:r>
              <a:rPr lang="pt-BR" sz="1400" b="1" dirty="0"/>
              <a:t>estimativa</a:t>
            </a:r>
            <a:r>
              <a:rPr lang="pt-BR" sz="1400" dirty="0"/>
              <a:t> que o robô possui sobre </a:t>
            </a:r>
            <a:r>
              <a:rPr lang="pt-BR" sz="1400" b="1" dirty="0"/>
              <a:t>seu</a:t>
            </a:r>
            <a:r>
              <a:rPr lang="pt-BR" sz="1400" dirty="0"/>
              <a:t> </a:t>
            </a:r>
            <a:r>
              <a:rPr lang="pt-BR" sz="1400" b="1" dirty="0"/>
              <a:t>estado</a:t>
            </a:r>
            <a:r>
              <a:rPr lang="pt-BR" sz="1400" dirty="0"/>
              <a:t> e </a:t>
            </a:r>
            <a:r>
              <a:rPr lang="pt-BR" sz="1400" b="1" dirty="0"/>
              <a:t>sua</a:t>
            </a:r>
            <a:r>
              <a:rPr lang="pt-BR" sz="1400" dirty="0"/>
              <a:t> </a:t>
            </a:r>
            <a:r>
              <a:rPr lang="pt-BR" sz="1400" b="1" dirty="0"/>
              <a:t>incerteza</a:t>
            </a:r>
            <a:r>
              <a:rPr lang="pt-BR" sz="1400" dirty="0"/>
              <a:t>, enquanto o </a:t>
            </a:r>
            <a:r>
              <a:rPr lang="pt-BR" sz="1400" b="1" dirty="0"/>
              <a:t>Filtro</a:t>
            </a:r>
            <a:r>
              <a:rPr lang="pt-BR" sz="1400" dirty="0"/>
              <a:t> </a:t>
            </a:r>
            <a:r>
              <a:rPr lang="pt-BR" sz="1400" b="1" dirty="0"/>
              <a:t>de</a:t>
            </a:r>
            <a:r>
              <a:rPr lang="pt-BR" sz="1400" dirty="0"/>
              <a:t> </a:t>
            </a:r>
            <a:r>
              <a:rPr lang="pt-BR" sz="1400" b="1" dirty="0" err="1"/>
              <a:t>Bayes</a:t>
            </a:r>
            <a:r>
              <a:rPr lang="pt-BR" sz="1400" dirty="0"/>
              <a:t> é o método matemático que atualiza essa estimativa com base nas medições dos sensores e no modelo do sistema.</a:t>
            </a:r>
            <a:endParaRPr lang="pt-BR" sz="1400" dirty="0">
              <a:latin typeface="+mj-lt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B0E2F7D-0D7F-2453-FC4C-76C135FD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13" y="4317634"/>
            <a:ext cx="4231534" cy="165248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49E01CF1-6DA6-306D-9DC0-8771F3544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211" y="3531987"/>
            <a:ext cx="2420938" cy="368096"/>
          </a:xfrm>
          <a:prstGeom prst="rect">
            <a:avLst/>
          </a:prstGeom>
          <a:ln>
            <a:noFill/>
          </a:ln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B259E1F-DAE0-E6F3-322B-3A8F74DD16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3504" y="1560392"/>
            <a:ext cx="3461849" cy="4779631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92ACB7C-925D-4E73-0444-895B9A3444A7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07/26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C7B52F4-9F5F-F51D-9021-5951A72D2E8B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Abordagem Teórica </a:t>
            </a:r>
            <a:endParaRPr lang="pt-BR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14279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C121-3EF6-2D61-63D8-5E99EE065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7CE1C0CC-894E-EB9B-1E5E-963E005D3AA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802BA2-28C4-4C44-B525-643BE999A74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CE8F5887-128F-4EC0-484F-62BDBE70A1B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59BF23AC-211D-639F-4E94-7D9D39184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E9D8CF1-EA21-D736-CF8E-48E24DCC6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428704"/>
            <a:ext cx="5401221" cy="271253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157C754-2261-E081-7BDF-5945D2162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4019" y="3828978"/>
            <a:ext cx="3863665" cy="206781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555B6D77-35AD-0104-6611-BC2C9C636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384" y="1848572"/>
            <a:ext cx="2494629" cy="784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/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O Filtro de Kalman é aplicado a modelos lineares do tipo </a:t>
                </a:r>
                <a:r>
                  <a:rPr lang="pt-BR" sz="1400" b="1" dirty="0"/>
                  <a:t>Gauss-Markov</a:t>
                </a:r>
                <a:r>
                  <a:rPr lang="pt-BR" sz="1400" dirty="0"/>
                  <a:t>, assumindo que os ruídos de processo e de medição são </a:t>
                </a:r>
                <a:r>
                  <a:rPr lang="pt-BR" sz="1400" b="1" dirty="0"/>
                  <a:t>Gaussianos</a:t>
                </a:r>
                <a:r>
                  <a:rPr lang="pt-BR" sz="1400" dirty="0"/>
                  <a:t> de média nula, isto é,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pt-BR" sz="1400" b="1" i="1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pt-BR" sz="1400" b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1400" b="1" i="1">
                        <a:latin typeface="Cambria Math" panose="02040503050406030204" pitchFamily="18" charset="0"/>
                      </a:rPr>
                      <m:t>𝓝</m:t>
                    </m:r>
                    <m:d>
                      <m:d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pt-BR" sz="1400" dirty="0"/>
                  <a:t> 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>
                            <a:latin typeface="Cambria Math" panose="02040503050406030204" pitchFamily="18" charset="0"/>
                          </a:rPr>
                          <m:t>𝜹</m:t>
                        </m:r>
                      </m:e>
                      <m:sub>
                        <m:r>
                          <a:rPr lang="pt-BR" sz="1400" b="1" i="1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pt-BR" sz="1400" b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1400" b="1" i="1">
                        <a:latin typeface="Cambria Math" panose="02040503050406030204" pitchFamily="18" charset="0"/>
                      </a:rPr>
                      <m:t>𝓝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𝑹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1400" dirty="0"/>
                  <a:t>.</a:t>
                </a:r>
                <a:endParaRPr lang="pt-BR" sz="14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blipFill>
                <a:blip r:embed="rId6"/>
                <a:stretch>
                  <a:fillRect l="-185" r="-123" b="-77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ixaDeTexto 15">
            <a:extLst>
              <a:ext uri="{FF2B5EF4-FFF2-40B4-BE49-F238E27FC236}">
                <a16:creationId xmlns:a16="http://schemas.microsoft.com/office/drawing/2014/main" id="{1730F287-0C52-79B4-293A-9C8D6C47A2A3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08/26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EAE3908-9590-62B5-A792-7558CACA8F05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Abordagem Teórica </a:t>
            </a:r>
            <a:endParaRPr lang="pt-BR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0156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3052B-827B-261A-2DA4-386ADC036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CBE88FB-A703-85A3-DB8D-65C7D7C410A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FC8F96B-4872-356A-D6FB-5CFF07057297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623D9CF-003F-8894-BAEB-F71404AA55A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4A47140-A9EB-6403-EE01-5CA34E87A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19DB1C3-07DC-E7E9-CB2D-C1DCCC6D8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231" y="1931952"/>
            <a:ext cx="2434936" cy="8256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/>
              <p:nvPr/>
            </p:nvSpPr>
            <p:spPr>
              <a:xfrm>
                <a:off x="1223682" y="2866809"/>
                <a:ext cx="10053918" cy="1030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Quando o modelo de transição de estados ou de observação não é no </a:t>
                </a:r>
                <a:r>
                  <a:rPr lang="pt-BR" sz="1400" b="1" dirty="0"/>
                  <a:t>formato linear</a:t>
                </a:r>
                <a:r>
                  <a:rPr lang="pt-BR" sz="1400" dirty="0"/>
                  <a:t>, é utilizado uma linearização por expansão de </a:t>
                </a:r>
                <a:r>
                  <a:rPr lang="pt-BR" sz="1400" b="1" dirty="0"/>
                  <a:t>séries</a:t>
                </a:r>
                <a:r>
                  <a:rPr lang="pt-BR" sz="1400" dirty="0"/>
                  <a:t> </a:t>
                </a:r>
                <a:r>
                  <a:rPr lang="pt-BR" sz="1400" b="1" dirty="0"/>
                  <a:t>de</a:t>
                </a:r>
                <a:r>
                  <a:rPr lang="pt-BR" sz="1400" dirty="0"/>
                  <a:t> </a:t>
                </a:r>
                <a:r>
                  <a:rPr lang="pt-BR" sz="1400" b="1" dirty="0"/>
                  <a:t>Taylor</a:t>
                </a:r>
                <a:r>
                  <a:rPr lang="pt-BR" sz="1400" dirty="0"/>
                  <a:t> calculando, portanto, as jacobianas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, </a:t>
                </a:r>
                <a:r>
                  <a:rPr lang="pt-BR" sz="1400" dirty="0">
                    <a:latin typeface="+mj-lt"/>
                  </a:rPr>
                  <a:t>substituindo as matrizes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no algoritmo do filtro de </a:t>
                </a:r>
                <a:r>
                  <a:rPr lang="pt-BR" sz="1400" b="1" dirty="0">
                    <a:latin typeface="+mj-lt"/>
                  </a:rPr>
                  <a:t>Kalman Estendido (EKF)</a:t>
                </a:r>
                <a:r>
                  <a:rPr lang="pt-BR" sz="1400" dirty="0">
                    <a:latin typeface="+mj-lt"/>
                  </a:rPr>
                  <a:t>.</a:t>
                </a:r>
                <a:endParaRPr lang="pt-BR" sz="1400" b="1" dirty="0">
                  <a:latin typeface="+mj-lt"/>
                </a:endParaRPr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866809"/>
                <a:ext cx="10053918" cy="1030795"/>
              </a:xfrm>
              <a:prstGeom prst="rect">
                <a:avLst/>
              </a:prstGeom>
              <a:blipFill>
                <a:blip r:embed="rId4"/>
                <a:stretch>
                  <a:fillRect l="-182" r="-182" b="-53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m 13">
            <a:extLst>
              <a:ext uri="{FF2B5EF4-FFF2-40B4-BE49-F238E27FC236}">
                <a16:creationId xmlns:a16="http://schemas.microsoft.com/office/drawing/2014/main" id="{B985984C-6C75-0ED0-C3FB-723BF76C8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4153" y="4070280"/>
            <a:ext cx="2908776" cy="155941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33A6DCE1-3365-0379-2EF3-1A17A2A6FDD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09/26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F7B6114-2831-9A6F-E585-22CD89C45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008" y="3731833"/>
            <a:ext cx="4171553" cy="254503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3B344B8-70AA-308F-3874-1BF69319D789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Abordagem Teórica </a:t>
            </a:r>
            <a:endParaRPr lang="pt-BR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89875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0D70-0355-D3CE-0311-BBF49000F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9CBF34-313C-9AD6-1023-13F5256569E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D92292-8ED6-D315-EA51-57D6E890E1BC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4444EE5-1C5E-74F0-487D-B0B9117ACA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D94CBB7-229C-9A2F-6C75-36A5555B6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553DA30-2F86-5511-D585-45AB6D6D66B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4.1. </a:t>
            </a:r>
            <a:r>
              <a:rPr lang="pt-BR" sz="1600" dirty="0">
                <a:latin typeface="+mj-lt"/>
              </a:rPr>
              <a:t>Descrição do Problema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6E1FD8D-B828-FFF0-50B2-7A117F368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548535"/>
            <a:ext cx="5074578" cy="42226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/>
              <p:nvPr/>
            </p:nvSpPr>
            <p:spPr>
              <a:xfrm>
                <a:off x="1223682" y="2268119"/>
                <a:ext cx="4376488" cy="36464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Objeto:</a:t>
                </a:r>
                <a:r>
                  <a:rPr lang="pt-BR" sz="1400" dirty="0"/>
                  <a:t> Robô móvel em plano 2D.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Descrição do ambiente:</a:t>
                </a:r>
                <a:r>
                  <a:rPr lang="pt-BR" sz="1400" dirty="0"/>
                  <a:t> 4 estações base fixas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1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1400" dirty="0"/>
                  <a:t> (âncoras).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Desafio:</a:t>
                </a:r>
                <a:r>
                  <a:rPr lang="pt-BR" sz="1400" dirty="0"/>
                  <a:t> Melhorar a estimativa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1400" dirty="0"/>
                  <a:t> do robô via medições de distância ruidosas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1400" dirty="0"/>
                  <a:t> do robô até as torres i.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Fonte: </a:t>
                </a:r>
                <a:r>
                  <a:rPr lang="pt-BR" sz="1400" dirty="0" err="1"/>
                  <a:t>Fałek</a:t>
                </a:r>
                <a:r>
                  <a:rPr lang="pt-BR" sz="1400" dirty="0"/>
                  <a:t> e </a:t>
                </a:r>
                <a:r>
                  <a:rPr lang="pt-BR" sz="1400" dirty="0" err="1"/>
                  <a:t>Keniewski</a:t>
                </a:r>
                <a:r>
                  <a:rPr lang="pt-BR" sz="1400" dirty="0"/>
                  <a:t> (2010)</a:t>
                </a:r>
                <a:endParaRPr lang="pt-BR" sz="1400" b="1" dirty="0"/>
              </a:p>
              <a:p>
                <a:endParaRPr lang="pt-BR" sz="1400" dirty="0"/>
              </a:p>
              <a:p>
                <a:endParaRPr lang="pt-BR" sz="1400" dirty="0"/>
              </a:p>
              <a:p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  <a:p>
                <a:r>
                  <a:rPr lang="pt-BR" sz="1400" dirty="0"/>
                  <a:t>	</a:t>
                </a:r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p>
                        <m:sSupPr>
                          <m:ctrlP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268119"/>
                <a:ext cx="4376488" cy="3646447"/>
              </a:xfrm>
              <a:prstGeom prst="rect">
                <a:avLst/>
              </a:prstGeom>
              <a:blipFill>
                <a:blip r:embed="rId4"/>
                <a:stretch>
                  <a:fillRect l="-279" t="-3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/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blipFill>
                <a:blip r:embed="rId5"/>
                <a:stretch>
                  <a:fillRect l="-16667" r="-22917" b="-31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C395E829-A64C-F42E-525B-96615A5ED584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10/26</a:t>
            </a:r>
          </a:p>
        </p:txBody>
      </p:sp>
    </p:spTree>
    <p:extLst>
      <p:ext uri="{BB962C8B-B14F-4D97-AF65-F5344CB8AC3E}">
        <p14:creationId xmlns:p14="http://schemas.microsoft.com/office/powerpoint/2010/main" val="3856707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67FA-8528-F504-3C6D-7F11B22AB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1799290-59A3-FA27-8CCA-EF9A8A56D4C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BEC988-788D-EE1F-098C-F82B72CFADF6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9C687CB-1381-2EEE-DBC0-987E22B68E45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127D6BA-E897-042D-4E8E-92C198105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690756B-04EE-59D4-3EC5-9BD6CB8EE9DA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4.2. </a:t>
            </a:r>
            <a:r>
              <a:rPr lang="pt-BR" sz="1600" dirty="0">
                <a:latin typeface="+mj-lt"/>
              </a:rPr>
              <a:t>Descrição dos Modelos Utilizados (PVA) - </a:t>
            </a:r>
            <a:r>
              <a:rPr lang="pt-BR" sz="1600" dirty="0" err="1"/>
              <a:t>Fałek</a:t>
            </a:r>
            <a:r>
              <a:rPr lang="pt-BR" sz="1600" dirty="0"/>
              <a:t> e </a:t>
            </a:r>
            <a:r>
              <a:rPr lang="pt-BR" sz="1600" dirty="0" err="1"/>
              <a:t>Keniewski</a:t>
            </a:r>
            <a:r>
              <a:rPr lang="pt-BR" sz="1600" dirty="0"/>
              <a:t> (2010)</a:t>
            </a:r>
            <a:r>
              <a:rPr lang="pt-BR" sz="1600" dirty="0">
                <a:latin typeface="+mj-lt"/>
              </a:rPr>
              <a:t> 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0A6400CB-455D-630B-CE39-C7663143DBB3}"/>
              </a:ext>
            </a:extLst>
          </p:cNvPr>
          <p:cNvCxnSpPr>
            <a:cxnSpLocks/>
          </p:cNvCxnSpPr>
          <p:nvPr/>
        </p:nvCxnSpPr>
        <p:spPr>
          <a:xfrm>
            <a:off x="6007511" y="2181211"/>
            <a:ext cx="0" cy="40875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74EA37E8-F708-A8DB-793B-05E0862D459D}"/>
              </a:ext>
            </a:extLst>
          </p:cNvPr>
          <p:cNvSpPr txBox="1"/>
          <p:nvPr/>
        </p:nvSpPr>
        <p:spPr>
          <a:xfrm>
            <a:off x="2285370" y="1822764"/>
            <a:ext cx="22657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Transição de Estados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C603B95-715B-48F2-F61F-C2F2EB312A68}"/>
              </a:ext>
            </a:extLst>
          </p:cNvPr>
          <p:cNvSpPr txBox="1"/>
          <p:nvPr/>
        </p:nvSpPr>
        <p:spPr>
          <a:xfrm>
            <a:off x="7978667" y="1880244"/>
            <a:ext cx="27350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Observação (Não linear)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DAADD22-773C-748E-DC67-41B40F23F51E}"/>
              </a:ext>
            </a:extLst>
          </p:cNvPr>
          <p:cNvSpPr txBox="1"/>
          <p:nvPr/>
        </p:nvSpPr>
        <p:spPr>
          <a:xfrm>
            <a:off x="1223682" y="2198700"/>
            <a:ext cx="1656773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Estado: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/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blipFill>
                <a:blip r:embed="rId3"/>
                <a:stretch>
                  <a:fillRect l="-1342" t="-5000" r="-5369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ABD44121-5344-D400-641A-98E4CB6F3F05}"/>
              </a:ext>
            </a:extLst>
          </p:cNvPr>
          <p:cNvSpPr txBox="1"/>
          <p:nvPr/>
        </p:nvSpPr>
        <p:spPr>
          <a:xfrm>
            <a:off x="6169925" y="3044536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4875689-8E12-AF98-6A10-21325DA00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1125" y="3389474"/>
            <a:ext cx="2621396" cy="139706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813350-0FBD-4BFA-9632-1B9052E8771B}"/>
              </a:ext>
            </a:extLst>
          </p:cNvPr>
          <p:cNvSpPr txBox="1"/>
          <p:nvPr/>
        </p:nvSpPr>
        <p:spPr>
          <a:xfrm>
            <a:off x="1169375" y="4891180"/>
            <a:ext cx="282270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do modelo:</a:t>
            </a:r>
            <a:endParaRPr lang="pt-BR" sz="1400" b="1" dirty="0">
              <a:latin typeface="+mj-lt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C6D01C-1EF1-0C3C-962C-99E4CB2F64E1}"/>
              </a:ext>
            </a:extLst>
          </p:cNvPr>
          <p:cNvSpPr txBox="1"/>
          <p:nvPr/>
        </p:nvSpPr>
        <p:spPr>
          <a:xfrm>
            <a:off x="6169925" y="2248765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Observações: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/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sz="1600" b="1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blipFill>
                <a:blip r:embed="rId5"/>
                <a:stretch>
                  <a:fillRect l="-765" r="-255" b="-94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aixaDeTexto 20">
            <a:extLst>
              <a:ext uri="{FF2B5EF4-FFF2-40B4-BE49-F238E27FC236}">
                <a16:creationId xmlns:a16="http://schemas.microsoft.com/office/drawing/2014/main" id="{11DF2B90-4C9C-4F4F-218B-440BAA079F74}"/>
              </a:ext>
            </a:extLst>
          </p:cNvPr>
          <p:cNvSpPr txBox="1"/>
          <p:nvPr/>
        </p:nvSpPr>
        <p:spPr>
          <a:xfrm>
            <a:off x="1240061" y="3005010"/>
            <a:ext cx="2775581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19439981-D1C1-9BA1-B4DA-AE243D7941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84" y="3479670"/>
            <a:ext cx="3003812" cy="400110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902B71E3-B624-67E5-7957-0E0EF9FFF0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0028" y="5479346"/>
            <a:ext cx="2749771" cy="3010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/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𝐜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blipFill>
                <a:blip r:embed="rId8"/>
                <a:stretch>
                  <a:fillRect l="-7692" r="-6509" b="-268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/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16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1600" b="0" i="0" smtClean="0">
                        <a:latin typeface="Cambria Math" panose="02040503050406030204" pitchFamily="18" charset="0"/>
                      </a:rPr>
                      <m:t>ΔT</m:t>
                    </m:r>
                    <m:r>
                      <a:rPr lang="pt-BR" sz="1600" b="0" i="0" smtClean="0">
                        <a:latin typeface="Cambria Math" panose="02040503050406030204" pitchFamily="18" charset="0"/>
                      </a:rPr>
                      <m:t>≪1)</m:t>
                    </m:r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blipFill>
                <a:blip r:embed="rId9"/>
                <a:stretch>
                  <a:fillRect l="-15267" t="-27500" r="-11450" b="-5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aixaDeTexto 27">
            <a:extLst>
              <a:ext uri="{FF2B5EF4-FFF2-40B4-BE49-F238E27FC236}">
                <a16:creationId xmlns:a16="http://schemas.microsoft.com/office/drawing/2014/main" id="{4188225C-FD96-7230-8782-45F8E8C17349}"/>
              </a:ext>
            </a:extLst>
          </p:cNvPr>
          <p:cNvSpPr txBox="1"/>
          <p:nvPr/>
        </p:nvSpPr>
        <p:spPr>
          <a:xfrm>
            <a:off x="1327285" y="5456816"/>
            <a:ext cx="10273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Contínuo: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5AF6AEA-FCEF-9665-35CD-79B0839E59AE}"/>
              </a:ext>
            </a:extLst>
          </p:cNvPr>
          <p:cNvSpPr txBox="1"/>
          <p:nvPr/>
        </p:nvSpPr>
        <p:spPr>
          <a:xfrm>
            <a:off x="1327285" y="5970116"/>
            <a:ext cx="935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Discreto:</a:t>
            </a:r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B446E402-3B68-B9CC-F5A2-A8FD8D35CD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873" y="4051812"/>
            <a:ext cx="4031332" cy="1202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/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blipFill>
                <a:blip r:embed="rId11"/>
                <a:stretch>
                  <a:fillRect l="-2410" b="-1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CaixaDeTexto 32">
            <a:extLst>
              <a:ext uri="{FF2B5EF4-FFF2-40B4-BE49-F238E27FC236}">
                <a16:creationId xmlns:a16="http://schemas.microsoft.com/office/drawing/2014/main" id="{BC339033-D7C3-0097-4965-8804BEF4C3E4}"/>
              </a:ext>
            </a:extLst>
          </p:cNvPr>
          <p:cNvSpPr txBox="1"/>
          <p:nvPr/>
        </p:nvSpPr>
        <p:spPr>
          <a:xfrm>
            <a:off x="6129627" y="5319955"/>
            <a:ext cx="2876720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da medição: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/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b="1" dirty="0"/>
              </a:p>
            </p:txBody>
          </p:sp>
        </mc:Choice>
        <mc:Fallback xmlns=""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blipFill>
                <a:blip r:embed="rId12"/>
                <a:stretch>
                  <a:fillRect l="-1907" r="-2725" b="-3414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CaixaDeTexto 34">
            <a:extLst>
              <a:ext uri="{FF2B5EF4-FFF2-40B4-BE49-F238E27FC236}">
                <a16:creationId xmlns:a16="http://schemas.microsoft.com/office/drawing/2014/main" id="{3B4809B2-FD5F-2CE2-338D-DB336C4FF16F}"/>
              </a:ext>
            </a:extLst>
          </p:cNvPr>
          <p:cNvSpPr txBox="1"/>
          <p:nvPr/>
        </p:nvSpPr>
        <p:spPr>
          <a:xfrm>
            <a:off x="11525490" y="6478213"/>
            <a:ext cx="6862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11/26</a:t>
            </a:r>
          </a:p>
        </p:txBody>
      </p:sp>
    </p:spTree>
    <p:extLst>
      <p:ext uri="{BB962C8B-B14F-4D97-AF65-F5344CB8AC3E}">
        <p14:creationId xmlns:p14="http://schemas.microsoft.com/office/powerpoint/2010/main" val="114688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B90B0-F056-4DC2-12AA-B84280BBF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7D710C0F-0EA7-A39E-8A75-316262DCE0A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8E6976D-35A9-A20E-D131-28C492EC197F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8A0991A-D7FC-5320-D570-F4C528BE2FE8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71A7BA76-5AC5-C0CB-E3A0-3059CB05D1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D6A988E-789C-5778-5FC8-8F94C2AB377A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4.3. Fronteiros do Escopo: </a:t>
            </a:r>
            <a:r>
              <a:rPr lang="pt-BR" sz="1600" dirty="0">
                <a:latin typeface="+mj-lt"/>
              </a:rPr>
              <a:t>Herdados vs. Expandidos 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1552D199-B300-8CEA-2DD9-701CA9EF42AF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12/26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A362798-4182-3BB0-2955-5E95A0F8D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863" y="2482580"/>
            <a:ext cx="10108273" cy="210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806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9FBE-F26B-7BE1-16A7-340E728F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2A8AC32-8E61-EB25-4474-2E491352E28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D2A11EC-DBBB-C053-A914-255842042833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FD59C17-397B-33FA-522F-835BC76B773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FA4863D7-9B3A-E55E-866D-4C8CB5347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495687C-9FE6-8DCC-FB28-D88A746303BD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5.1. </a:t>
            </a:r>
            <a:r>
              <a:rPr lang="pt-BR" sz="1600" dirty="0">
                <a:latin typeface="+mj-lt"/>
              </a:rPr>
              <a:t>Arquitetura do </a:t>
            </a:r>
            <a:r>
              <a:rPr lang="pt-BR" sz="1600" dirty="0" err="1">
                <a:latin typeface="+mj-lt"/>
              </a:rPr>
              <a:t>do</a:t>
            </a:r>
            <a:r>
              <a:rPr lang="pt-BR" sz="1600" dirty="0">
                <a:latin typeface="+mj-lt"/>
              </a:rPr>
              <a:t> Simulador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85C71B4-E830-8111-F5AF-C891CA2E56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755" y="2473010"/>
            <a:ext cx="4928707" cy="2772398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7CD3B3B-EBBC-1F80-0EBC-1032A23C8DA2}"/>
              </a:ext>
            </a:extLst>
          </p:cNvPr>
          <p:cNvSpPr txBox="1"/>
          <p:nvPr/>
        </p:nvSpPr>
        <p:spPr>
          <a:xfrm>
            <a:off x="2575588" y="2123341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Arquitetura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F25A5FC-EF3A-E0FA-F951-5A19AA0930C6}"/>
              </a:ext>
            </a:extLst>
          </p:cNvPr>
          <p:cNvSpPr txBox="1"/>
          <p:nvPr/>
        </p:nvSpPr>
        <p:spPr>
          <a:xfrm>
            <a:off x="8408055" y="2167363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Interface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33DE513-3B0F-2815-540C-2283548FD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1047" y="2521850"/>
            <a:ext cx="5213198" cy="2772399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A0463D-0666-A995-2E87-7CAA47BC982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13/26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BB3A37C-C2BB-D3B5-AFEC-DDCE40644C9E}"/>
              </a:ext>
            </a:extLst>
          </p:cNvPr>
          <p:cNvSpPr txBox="1"/>
          <p:nvPr/>
        </p:nvSpPr>
        <p:spPr>
          <a:xfrm>
            <a:off x="1223682" y="5757704"/>
            <a:ext cx="9872602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Construída em Python, utilizando </a:t>
            </a:r>
            <a:r>
              <a:rPr lang="pt-BR" sz="1400" dirty="0" err="1">
                <a:latin typeface="+mj-lt"/>
              </a:rPr>
              <a:t>Tkinter</a:t>
            </a:r>
            <a:r>
              <a:rPr lang="pt-BR" sz="1400" dirty="0">
                <a:latin typeface="+mj-lt"/>
              </a:rPr>
              <a:t> para a GUI, </a:t>
            </a:r>
            <a:r>
              <a:rPr lang="pt-BR" sz="1400" dirty="0" err="1">
                <a:latin typeface="+mj-lt"/>
              </a:rPr>
              <a:t>NumPy</a:t>
            </a:r>
            <a:r>
              <a:rPr lang="pt-BR" sz="1400" dirty="0">
                <a:latin typeface="+mj-lt"/>
              </a:rPr>
              <a:t> para operações , </a:t>
            </a:r>
            <a:r>
              <a:rPr lang="pt-BR" sz="1400" dirty="0" err="1">
                <a:latin typeface="+mj-lt"/>
              </a:rPr>
              <a:t>Matplotlib</a:t>
            </a:r>
            <a:r>
              <a:rPr lang="pt-BR" sz="1400" dirty="0">
                <a:latin typeface="+mj-lt"/>
              </a:rPr>
              <a:t> para gráficos e </a:t>
            </a:r>
            <a:r>
              <a:rPr lang="pt-BR" sz="1400" dirty="0" err="1">
                <a:latin typeface="+mj-lt"/>
              </a:rPr>
              <a:t>OpenCV</a:t>
            </a:r>
            <a:r>
              <a:rPr lang="pt-BR" sz="1400" dirty="0">
                <a:latin typeface="+mj-lt"/>
              </a:rPr>
              <a:t> para desenhar cenas..</a:t>
            </a:r>
          </a:p>
        </p:txBody>
      </p:sp>
    </p:spTree>
    <p:extLst>
      <p:ext uri="{BB962C8B-B14F-4D97-AF65-F5344CB8AC3E}">
        <p14:creationId xmlns:p14="http://schemas.microsoft.com/office/powerpoint/2010/main" val="1294719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6304-85BF-C769-044C-52398C3F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EEEF4A-6E11-EA27-2E1A-A426949938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40AF6D6-9611-8EE3-2710-6FB5AD149B7E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07E4E75-9EF9-438E-9EC5-A27B19E9054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A6C8F00-1AED-C377-99AE-FC4F7373F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12EF499-6D5C-A207-6D95-4E3EEEEEB419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5.2. </a:t>
            </a:r>
            <a:r>
              <a:rPr lang="pt-BR" sz="1600" dirty="0">
                <a:latin typeface="+mj-lt"/>
              </a:rPr>
              <a:t>Métricas de Avaliação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C12668D-8B74-A40A-2BA9-20380A9B2E70}"/>
              </a:ext>
            </a:extLst>
          </p:cNvPr>
          <p:cNvSpPr txBox="1"/>
          <p:nvPr/>
        </p:nvSpPr>
        <p:spPr>
          <a:xfrm>
            <a:off x="1067723" y="2054903"/>
            <a:ext cx="31100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NIS</a:t>
            </a:r>
          </a:p>
          <a:p>
            <a:pPr algn="ctr"/>
            <a:r>
              <a:rPr lang="pt-BR" sz="1400" b="1" dirty="0">
                <a:latin typeface="+mj-lt"/>
              </a:rPr>
              <a:t>(</a:t>
            </a:r>
            <a:r>
              <a:rPr lang="pt-BR" sz="1400" b="1" i="1" dirty="0" err="1">
                <a:latin typeface="+mj-lt"/>
              </a:rPr>
              <a:t>Normalized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Innovation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Squared</a:t>
            </a:r>
            <a:r>
              <a:rPr lang="pt-BR" sz="1400" b="1" dirty="0">
                <a:latin typeface="+mj-lt"/>
              </a:rPr>
              <a:t>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E376460-2774-CF8F-5E6A-95E052576C90}"/>
              </a:ext>
            </a:extLst>
          </p:cNvPr>
          <p:cNvSpPr txBox="1"/>
          <p:nvPr/>
        </p:nvSpPr>
        <p:spPr>
          <a:xfrm>
            <a:off x="8789356" y="1963813"/>
            <a:ext cx="232076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BR" sz="1400" b="1" dirty="0"/>
              <a:t>TAXA DE INLIERS (NEES)*</a:t>
            </a:r>
            <a:endParaRPr lang="pt-BR" sz="1400" b="1" dirty="0"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BA75288-DCFE-299A-B157-46D530BAB1FB}"/>
              </a:ext>
            </a:extLst>
          </p:cNvPr>
          <p:cNvSpPr txBox="1"/>
          <p:nvPr/>
        </p:nvSpPr>
        <p:spPr>
          <a:xfrm>
            <a:off x="4315513" y="2023512"/>
            <a:ext cx="3486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RMSE</a:t>
            </a:r>
          </a:p>
          <a:p>
            <a:pPr algn="ctr"/>
            <a:r>
              <a:rPr lang="pt-BR" sz="1400" b="1" dirty="0">
                <a:latin typeface="+mj-lt"/>
              </a:rPr>
              <a:t>(Root </a:t>
            </a:r>
            <a:r>
              <a:rPr lang="pt-BR" sz="1400" b="1" dirty="0" err="1">
                <a:latin typeface="+mj-lt"/>
              </a:rPr>
              <a:t>Mean</a:t>
            </a:r>
            <a:r>
              <a:rPr lang="pt-BR" sz="1400" b="1" dirty="0">
                <a:latin typeface="+mj-lt"/>
              </a:rPr>
              <a:t> Square Error)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0E9900E3-594C-9E23-8E23-C8CEDAE38D4F}"/>
              </a:ext>
            </a:extLst>
          </p:cNvPr>
          <p:cNvCxnSpPr>
            <a:cxnSpLocks/>
          </p:cNvCxnSpPr>
          <p:nvPr/>
        </p:nvCxnSpPr>
        <p:spPr>
          <a:xfrm>
            <a:off x="4274553" y="1976149"/>
            <a:ext cx="40958" cy="38930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CE6C506-4142-7425-64D1-4D34FA51B433}"/>
              </a:ext>
            </a:extLst>
          </p:cNvPr>
          <p:cNvCxnSpPr>
            <a:cxnSpLocks/>
          </p:cNvCxnSpPr>
          <p:nvPr/>
        </p:nvCxnSpPr>
        <p:spPr>
          <a:xfrm>
            <a:off x="7802393" y="2014365"/>
            <a:ext cx="0" cy="3854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227CC324-ED6C-30E4-8B66-70981BA85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896" y="3991757"/>
            <a:ext cx="2710698" cy="795393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F35A71FE-2B5C-083D-69EE-54D3E89D9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396" y="3452319"/>
            <a:ext cx="1874469" cy="379028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B95A0296-9F3C-EC93-9BD6-D8DFB1013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937" y="3888877"/>
            <a:ext cx="2059386" cy="379028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AEE3F49D-01EF-F25D-A0A8-C1721A4519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1472" y="4365279"/>
            <a:ext cx="1646063" cy="518205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E03B0792-B789-94BA-CB83-F9026157FF1F}"/>
              </a:ext>
            </a:extLst>
          </p:cNvPr>
          <p:cNvSpPr txBox="1"/>
          <p:nvPr/>
        </p:nvSpPr>
        <p:spPr>
          <a:xfrm>
            <a:off x="1081880" y="2670511"/>
            <a:ext cx="3105823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 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B6FA6EF-ACE1-FAA8-51DE-20AEDA7167B2}"/>
              </a:ext>
            </a:extLst>
          </p:cNvPr>
          <p:cNvSpPr txBox="1"/>
          <p:nvPr/>
        </p:nvSpPr>
        <p:spPr>
          <a:xfrm>
            <a:off x="4517714" y="2604875"/>
            <a:ext cx="3156569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Mede a magnitude média do desvio geométrico entre a posição real e a posição estimada pelo filtro.</a:t>
            </a:r>
            <a:r>
              <a:rPr lang="pt-BR" sz="1400" dirty="0">
                <a:latin typeface="+mj-lt"/>
              </a:rPr>
              <a:t>.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FD5A4B0-1930-E828-1F09-D2BA5E111C7F}"/>
              </a:ext>
            </a:extLst>
          </p:cNvPr>
          <p:cNvSpPr txBox="1"/>
          <p:nvPr/>
        </p:nvSpPr>
        <p:spPr>
          <a:xfrm>
            <a:off x="8040781" y="2408780"/>
            <a:ext cx="3450650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</a:t>
            </a:r>
            <a:r>
              <a:rPr lang="pt-BR" sz="1400" b="1" dirty="0">
                <a:latin typeface="+mj-lt"/>
              </a:rPr>
              <a:t>apenas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visual</a:t>
            </a:r>
            <a:r>
              <a:rPr lang="pt-BR" sz="1400" dirty="0">
                <a:latin typeface="+mj-lt"/>
              </a:rPr>
              <a:t> para avaliar a crença do robô (</a:t>
            </a:r>
            <a:r>
              <a:rPr lang="pt-BR" sz="1400" b="1" dirty="0">
                <a:latin typeface="+mj-lt"/>
              </a:rPr>
              <a:t>P</a:t>
            </a:r>
            <a:r>
              <a:rPr lang="pt-BR" sz="1400" dirty="0">
                <a:latin typeface="+mj-lt"/>
              </a:rPr>
              <a:t>) de forma semelhante ao NIS.</a:t>
            </a: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E87BA6D6-B6E6-C3EE-7059-851C9C844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8593" y="3249979"/>
            <a:ext cx="1539792" cy="33453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76B524A-9693-975F-B6C8-FA8908FEE2A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413"/>
          <a:stretch>
            <a:fillRect/>
          </a:stretch>
        </p:blipFill>
        <p:spPr>
          <a:xfrm>
            <a:off x="8148593" y="3693578"/>
            <a:ext cx="2917056" cy="2704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/>
              <p:nvPr/>
            </p:nvSpPr>
            <p:spPr>
              <a:xfrm>
                <a:off x="1752396" y="4950594"/>
                <a:ext cx="1890325" cy="30284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𝐼𝐶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=[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396" y="4950594"/>
                <a:ext cx="1890325" cy="302840"/>
              </a:xfrm>
              <a:prstGeom prst="rect">
                <a:avLst/>
              </a:prstGeom>
              <a:blipFill>
                <a:blip r:embed="rId9"/>
                <a:stretch>
                  <a:fillRect l="-2236" r="-3834" b="-2692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CaixaDeTexto 37">
            <a:extLst>
              <a:ext uri="{FF2B5EF4-FFF2-40B4-BE49-F238E27FC236}">
                <a16:creationId xmlns:a16="http://schemas.microsoft.com/office/drawing/2014/main" id="{D35D09BC-73F9-9096-3577-A5578F19658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14/26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36021A3-EA72-7126-F8A1-2E66B5F58121}"/>
                  </a:ext>
                </a:extLst>
              </p:cNvPr>
              <p:cNvSpPr txBox="1"/>
              <p:nvPr/>
            </p:nvSpPr>
            <p:spPr>
              <a:xfrm>
                <a:off x="8840224" y="4678222"/>
                <a:ext cx="2036711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𝑇𝐼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∈[0,051;7,378 ]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36021A3-EA72-7126-F8A1-2E66B5F58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0224" y="4678222"/>
                <a:ext cx="2036711" cy="276999"/>
              </a:xfrm>
              <a:prstGeom prst="rect">
                <a:avLst/>
              </a:prstGeom>
              <a:blipFill>
                <a:blip r:embed="rId10"/>
                <a:stretch>
                  <a:fillRect l="-2083" r="-3869" b="-3333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B4534B1A-C061-7374-0296-7F138A054873}"/>
                  </a:ext>
                </a:extLst>
              </p:cNvPr>
              <p:cNvSpPr txBox="1"/>
              <p:nvPr/>
            </p:nvSpPr>
            <p:spPr>
              <a:xfrm>
                <a:off x="1563433" y="5361706"/>
                <a:ext cx="2268250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∈[0,484; 11,143]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B4534B1A-C061-7374-0296-7F138A054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433" y="5361706"/>
                <a:ext cx="2268250" cy="276999"/>
              </a:xfrm>
              <a:prstGeom prst="rect">
                <a:avLst/>
              </a:prstGeom>
              <a:blipFill>
                <a:blip r:embed="rId11"/>
                <a:stretch>
                  <a:fillRect l="-1067" t="-2128" r="-2667" b="-3404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Agrupar 19">
            <a:extLst>
              <a:ext uri="{FF2B5EF4-FFF2-40B4-BE49-F238E27FC236}">
                <a16:creationId xmlns:a16="http://schemas.microsoft.com/office/drawing/2014/main" id="{9E72DF3D-2466-CBC2-E7AB-7132B00F3DC3}"/>
              </a:ext>
            </a:extLst>
          </p:cNvPr>
          <p:cNvGrpSpPr/>
          <p:nvPr/>
        </p:nvGrpSpPr>
        <p:grpSpPr>
          <a:xfrm>
            <a:off x="8148593" y="4090471"/>
            <a:ext cx="1709988" cy="358971"/>
            <a:chOff x="8342974" y="4073101"/>
            <a:chExt cx="1709988" cy="358971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6FF992CD-3657-3219-32D7-9D7B5B8F5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 r="28270" b="5702"/>
            <a:stretch>
              <a:fillRect/>
            </a:stretch>
          </p:blipFill>
          <p:spPr>
            <a:xfrm>
              <a:off x="8850868" y="4073101"/>
              <a:ext cx="1202094" cy="35897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163023-4BB2-CB84-A83D-A7168D55DC9E}"/>
                    </a:ext>
                  </a:extLst>
                </p:cNvPr>
                <p:cNvSpPr txBox="1"/>
                <p:nvPr/>
              </p:nvSpPr>
              <p:spPr>
                <a:xfrm>
                  <a:off x="8342974" y="4155073"/>
                  <a:ext cx="568361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𝑇𝐼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 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163023-4BB2-CB84-A83D-A7168D55D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74" y="4155073"/>
                  <a:ext cx="568361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0753" b="-652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D694162-FA6C-A95C-1CD7-0E00457C1859}"/>
                  </a:ext>
                </a:extLst>
              </p:cNvPr>
              <p:cNvSpPr txBox="1"/>
              <p:nvPr/>
            </p:nvSpPr>
            <p:spPr>
              <a:xfrm>
                <a:off x="2085137" y="5750101"/>
                <a:ext cx="1116972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NIS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D694162-FA6C-A95C-1CD7-0E00457C1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137" y="5750101"/>
                <a:ext cx="1116972" cy="276999"/>
              </a:xfrm>
              <a:prstGeom prst="rect">
                <a:avLst/>
              </a:prstGeom>
              <a:blipFill>
                <a:blip r:embed="rId14"/>
                <a:stretch>
                  <a:fillRect l="-3784" r="-4865" b="-4167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767B6360-FF92-1E2D-C221-3EC02FC245D2}"/>
                  </a:ext>
                </a:extLst>
              </p:cNvPr>
              <p:cNvSpPr txBox="1"/>
              <p:nvPr/>
            </p:nvSpPr>
            <p:spPr>
              <a:xfrm>
                <a:off x="9280416" y="5109012"/>
                <a:ext cx="1116972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NIS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767B6360-FF92-1E2D-C221-3EC02FC24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0416" y="5109012"/>
                <a:ext cx="1116972" cy="276999"/>
              </a:xfrm>
              <a:prstGeom prst="rect">
                <a:avLst/>
              </a:prstGeom>
              <a:blipFill>
                <a:blip r:embed="rId15"/>
                <a:stretch>
                  <a:fillRect l="-3763" r="-4301" b="-4167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E63C62C6-08D9-0649-6D5B-3DE9756741FC}"/>
              </a:ext>
            </a:extLst>
          </p:cNvPr>
          <p:cNvSpPr txBox="1"/>
          <p:nvPr/>
        </p:nvSpPr>
        <p:spPr>
          <a:xfrm>
            <a:off x="8918489" y="6051307"/>
            <a:ext cx="3450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Fontes: Chen et al. (2018) , </a:t>
            </a:r>
            <a:r>
              <a:rPr lang="pt-BR" sz="1400" dirty="0" err="1"/>
              <a:t>Fałek</a:t>
            </a:r>
            <a:r>
              <a:rPr lang="pt-BR" sz="1400" dirty="0"/>
              <a:t> (2020)</a:t>
            </a:r>
          </a:p>
        </p:txBody>
      </p:sp>
    </p:spTree>
    <p:extLst>
      <p:ext uri="{BB962C8B-B14F-4D97-AF65-F5344CB8AC3E}">
        <p14:creationId xmlns:p14="http://schemas.microsoft.com/office/powerpoint/2010/main" val="3021983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05AC-5401-8EEA-76F2-14E8615F8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 39">
            <a:extLst>
              <a:ext uri="{FF2B5EF4-FFF2-40B4-BE49-F238E27FC236}">
                <a16:creationId xmlns:a16="http://schemas.microsoft.com/office/drawing/2014/main" id="{D1E80547-D014-13A4-762D-FBA8BA38B3F2}"/>
              </a:ext>
            </a:extLst>
          </p:cNvPr>
          <p:cNvSpPr/>
          <p:nvPr/>
        </p:nvSpPr>
        <p:spPr>
          <a:xfrm>
            <a:off x="7167716" y="3696929"/>
            <a:ext cx="3800601" cy="9783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1332B9-241C-16CC-CB5F-1AB887370C8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755D69-B12B-CE7C-728A-92AC1E62569C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8D2C822-ADA0-8BF2-2441-23516F35A1C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C41B1BCB-5AE2-4E60-799F-6C7336BAB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6FB08AE-E3B3-5F46-3EC2-789591F81342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5.2. </a:t>
            </a:r>
            <a:r>
              <a:rPr lang="pt-BR" sz="1600" dirty="0">
                <a:latin typeface="+mj-lt"/>
              </a:rPr>
              <a:t>Métricas de Avaliação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4EAB5B53-A963-67C8-D550-CDACB4FBE5D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15/26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CAE43D3-019E-3556-5FE7-3E7DDCD50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682" y="2414895"/>
            <a:ext cx="4408794" cy="3306595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E8151344-06CE-3FD9-9C76-54D9EA340759}"/>
              </a:ext>
            </a:extLst>
          </p:cNvPr>
          <p:cNvCxnSpPr>
            <a:cxnSpLocks/>
          </p:cNvCxnSpPr>
          <p:nvPr/>
        </p:nvCxnSpPr>
        <p:spPr>
          <a:xfrm>
            <a:off x="6096000" y="2171682"/>
            <a:ext cx="0" cy="3854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DB67FB39-644B-E922-BA55-F2283C80B80E}"/>
              </a:ext>
            </a:extLst>
          </p:cNvPr>
          <p:cNvCxnSpPr>
            <a:cxnSpLocks/>
          </p:cNvCxnSpPr>
          <p:nvPr/>
        </p:nvCxnSpPr>
        <p:spPr>
          <a:xfrm flipV="1">
            <a:off x="7167716" y="3040721"/>
            <a:ext cx="0" cy="225158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9D1ECABE-B9A1-0F42-303D-A81CDE7496A1}"/>
              </a:ext>
            </a:extLst>
          </p:cNvPr>
          <p:cNvCxnSpPr>
            <a:cxnSpLocks/>
          </p:cNvCxnSpPr>
          <p:nvPr/>
        </p:nvCxnSpPr>
        <p:spPr>
          <a:xfrm>
            <a:off x="7167716" y="5292308"/>
            <a:ext cx="410129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12D0C20E-ADB2-1553-01DD-F8BF7D87DB6D}"/>
              </a:ext>
            </a:extLst>
          </p:cNvPr>
          <p:cNvSpPr txBox="1"/>
          <p:nvPr/>
        </p:nvSpPr>
        <p:spPr>
          <a:xfrm>
            <a:off x="6559525" y="2934063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NIS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3A28B20-D553-9A70-4DB1-492A3CA1B3A9}"/>
              </a:ext>
            </a:extLst>
          </p:cNvPr>
          <p:cNvSpPr txBox="1"/>
          <p:nvPr/>
        </p:nvSpPr>
        <p:spPr>
          <a:xfrm>
            <a:off x="10968318" y="5292308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Tempo</a:t>
            </a:r>
          </a:p>
        </p:txBody>
      </p:sp>
      <p:cxnSp>
        <p:nvCxnSpPr>
          <p:cNvPr id="35" name="Conector reto 34">
            <a:extLst>
              <a:ext uri="{FF2B5EF4-FFF2-40B4-BE49-F238E27FC236}">
                <a16:creationId xmlns:a16="http://schemas.microsoft.com/office/drawing/2014/main" id="{37AFCCD7-A5CB-4FFB-54D3-E510FD8622F1}"/>
              </a:ext>
            </a:extLst>
          </p:cNvPr>
          <p:cNvCxnSpPr/>
          <p:nvPr/>
        </p:nvCxnSpPr>
        <p:spPr>
          <a:xfrm>
            <a:off x="7167716" y="3696929"/>
            <a:ext cx="3800602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A3741AA-4367-D335-15F6-C40B4435DA43}"/>
              </a:ext>
            </a:extLst>
          </p:cNvPr>
          <p:cNvCxnSpPr/>
          <p:nvPr/>
        </p:nvCxnSpPr>
        <p:spPr>
          <a:xfrm>
            <a:off x="7167716" y="4675239"/>
            <a:ext cx="3800602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A668818-05F3-6563-3282-4BE447531DBB}"/>
              </a:ext>
            </a:extLst>
          </p:cNvPr>
          <p:cNvSpPr txBox="1"/>
          <p:nvPr/>
        </p:nvSpPr>
        <p:spPr>
          <a:xfrm>
            <a:off x="8361801" y="3805105"/>
            <a:ext cx="1462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Consistente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363E4054-F1EE-131F-70B4-9618C7A5E7D9}"/>
              </a:ext>
            </a:extLst>
          </p:cNvPr>
          <p:cNvSpPr txBox="1"/>
          <p:nvPr/>
        </p:nvSpPr>
        <p:spPr>
          <a:xfrm>
            <a:off x="6559525" y="400141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IC</a:t>
            </a:r>
          </a:p>
        </p:txBody>
      </p:sp>
      <p:sp>
        <p:nvSpPr>
          <p:cNvPr id="43" name="Chave Esquerda 42">
            <a:extLst>
              <a:ext uri="{FF2B5EF4-FFF2-40B4-BE49-F238E27FC236}">
                <a16:creationId xmlns:a16="http://schemas.microsoft.com/office/drawing/2014/main" id="{996953FC-433B-B2FC-95D5-952B141D2A14}"/>
              </a:ext>
            </a:extLst>
          </p:cNvPr>
          <p:cNvSpPr/>
          <p:nvPr/>
        </p:nvSpPr>
        <p:spPr>
          <a:xfrm>
            <a:off x="6963803" y="3696929"/>
            <a:ext cx="125781" cy="97830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989D61F9-5855-4490-D503-138411DA4B92}"/>
              </a:ext>
            </a:extLst>
          </p:cNvPr>
          <p:cNvSpPr txBox="1"/>
          <p:nvPr/>
        </p:nvSpPr>
        <p:spPr>
          <a:xfrm>
            <a:off x="8370775" y="4823639"/>
            <a:ext cx="1337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Pessimista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01C0BB68-9BE7-4150-9EBD-169886E7F7C7}"/>
              </a:ext>
            </a:extLst>
          </p:cNvPr>
          <p:cNvSpPr txBox="1"/>
          <p:nvPr/>
        </p:nvSpPr>
        <p:spPr>
          <a:xfrm>
            <a:off x="8556531" y="3179194"/>
            <a:ext cx="1091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Otimista</a:t>
            </a:r>
          </a:p>
        </p:txBody>
      </p: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2BF0F720-4694-79FA-4298-02211F2FF7BF}"/>
              </a:ext>
            </a:extLst>
          </p:cNvPr>
          <p:cNvCxnSpPr>
            <a:cxnSpLocks/>
          </p:cNvCxnSpPr>
          <p:nvPr/>
        </p:nvCxnSpPr>
        <p:spPr>
          <a:xfrm>
            <a:off x="7167716" y="4328632"/>
            <a:ext cx="410129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BBC59E81-1F8D-1EAF-2ED9-341188CCF2D6}"/>
              </a:ext>
            </a:extLst>
          </p:cNvPr>
          <p:cNvSpPr txBox="1"/>
          <p:nvPr/>
        </p:nvSpPr>
        <p:spPr>
          <a:xfrm>
            <a:off x="11239370" y="4143966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E[NIS]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5D7C893-1E61-C191-B018-4BFAD1571FE6}"/>
              </a:ext>
            </a:extLst>
          </p:cNvPr>
          <p:cNvSpPr txBox="1"/>
          <p:nvPr/>
        </p:nvSpPr>
        <p:spPr>
          <a:xfrm>
            <a:off x="7983794" y="6051307"/>
            <a:ext cx="4385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Fontes: adaptado de Chen et al. (2018) e </a:t>
            </a:r>
            <a:r>
              <a:rPr lang="pt-BR" sz="1400" dirty="0" err="1"/>
              <a:t>Fałek</a:t>
            </a:r>
            <a:r>
              <a:rPr lang="pt-BR" sz="1400" dirty="0"/>
              <a:t> (2020)</a:t>
            </a:r>
          </a:p>
        </p:txBody>
      </p:sp>
    </p:spTree>
    <p:extLst>
      <p:ext uri="{BB962C8B-B14F-4D97-AF65-F5344CB8AC3E}">
        <p14:creationId xmlns:p14="http://schemas.microsoft.com/office/powerpoint/2010/main" val="3448811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6B3CC-6E4B-D347-B556-57FC82337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71E0AF1-6F19-7BCA-2CF3-4D30A38B9DA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5EEF730-AF45-4B4C-B74A-807B72BA2436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D247280-F307-DDD1-4CE6-F7E81E563A5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EB2AA75-3B76-BC01-395C-AD7B321D4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306683-83ED-81EB-863A-C2FCC4F4FBB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5.3. </a:t>
            </a:r>
            <a:r>
              <a:rPr lang="pt-BR" sz="1600" dirty="0">
                <a:latin typeface="+mj-lt"/>
              </a:rPr>
              <a:t>Cenários Experimentais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B7D3F6D-3F6C-E11A-4E5C-DA4DD514C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691" y="2502588"/>
            <a:ext cx="4790613" cy="2586931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115F090-7260-4A51-B4BD-7E35FF803C03}"/>
              </a:ext>
            </a:extLst>
          </p:cNvPr>
          <p:cNvSpPr txBox="1"/>
          <p:nvPr/>
        </p:nvSpPr>
        <p:spPr>
          <a:xfrm>
            <a:off x="2285429" y="5688989"/>
            <a:ext cx="32995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Taxa de amostragem = 1 / FPS = 33 </a:t>
            </a:r>
            <a:r>
              <a:rPr lang="pt-BR" sz="1400" dirty="0" err="1"/>
              <a:t>ms</a:t>
            </a:r>
            <a:r>
              <a:rPr lang="pt-BR" sz="1400" dirty="0"/>
              <a:t>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3A808C0-2AA1-7B55-74A6-BAAE657A841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16/26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57CFF3B-865F-2D7E-C301-9468D1205F60}"/>
              </a:ext>
            </a:extLst>
          </p:cNvPr>
          <p:cNvSpPr txBox="1"/>
          <p:nvPr/>
        </p:nvSpPr>
        <p:spPr>
          <a:xfrm>
            <a:off x="8982960" y="2067350"/>
            <a:ext cx="14158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 err="1"/>
              <a:t>Fałek</a:t>
            </a:r>
            <a:r>
              <a:rPr lang="pt-BR" sz="1200" b="1" dirty="0"/>
              <a:t> (2020)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006B17BD-35B7-1C07-1B16-F80306F10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920" y="2031895"/>
            <a:ext cx="6247550" cy="3310169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1705548D-CCB6-473C-E8FD-4C5C150A916C}"/>
              </a:ext>
            </a:extLst>
          </p:cNvPr>
          <p:cNvSpPr/>
          <p:nvPr/>
        </p:nvSpPr>
        <p:spPr>
          <a:xfrm>
            <a:off x="7254240" y="2414895"/>
            <a:ext cx="4620064" cy="1297825"/>
          </a:xfrm>
          <a:prstGeom prst="rect">
            <a:avLst/>
          </a:prstGeom>
          <a:noFill/>
          <a:ln w="952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7F6C01B-97F5-9704-8B3D-3EC665C3DCA7}"/>
              </a:ext>
            </a:extLst>
          </p:cNvPr>
          <p:cNvSpPr/>
          <p:nvPr/>
        </p:nvSpPr>
        <p:spPr>
          <a:xfrm>
            <a:off x="7254240" y="3800413"/>
            <a:ext cx="4620064" cy="1364626"/>
          </a:xfrm>
          <a:prstGeom prst="rect">
            <a:avLst/>
          </a:prstGeom>
          <a:noFill/>
          <a:ln w="9525">
            <a:solidFill>
              <a:schemeClr val="tx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E730C56-438A-A570-81A8-BADC646CE9C3}"/>
              </a:ext>
            </a:extLst>
          </p:cNvPr>
          <p:cNvSpPr txBox="1"/>
          <p:nvPr/>
        </p:nvSpPr>
        <p:spPr>
          <a:xfrm>
            <a:off x="9247871" y="5214042"/>
            <a:ext cx="14158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Proposto</a:t>
            </a:r>
          </a:p>
        </p:txBody>
      </p:sp>
    </p:spTree>
    <p:extLst>
      <p:ext uri="{BB962C8B-B14F-4D97-AF65-F5344CB8AC3E}">
        <p14:creationId xmlns:p14="http://schemas.microsoft.com/office/powerpoint/2010/main" val="4267425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F3FF-D2CB-62D0-F488-0C0251B4B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5595F78-5FBE-D0DB-4BD6-23A79166502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735713F-A8A0-D3E4-A437-056DDECDE46A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256F07B-8E0A-4932-A48A-56FC4AED68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CC4C8788-4254-F452-62A6-7F8FEF8E1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F56DFA7-FD66-EED5-C39C-C6434FB4F4AB}"/>
              </a:ext>
            </a:extLst>
          </p:cNvPr>
          <p:cNvSpPr txBox="1"/>
          <p:nvPr/>
        </p:nvSpPr>
        <p:spPr>
          <a:xfrm>
            <a:off x="1223682" y="1342275"/>
            <a:ext cx="2068158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6.1 Trajetórias</a:t>
            </a:r>
            <a:endParaRPr lang="pt-BR" sz="1600" dirty="0">
              <a:latin typeface="+mj-lt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4F0BB7B-7A75-E806-BE1A-C0204D6F1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" y="2502133"/>
            <a:ext cx="3486476" cy="3486476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BE99AE4-D60E-5648-50C8-E260911370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4002" y="2415232"/>
            <a:ext cx="3660278" cy="3660278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FFB05775-020D-DB9A-B713-6426AD00573C}"/>
              </a:ext>
            </a:extLst>
          </p:cNvPr>
          <p:cNvSpPr txBox="1"/>
          <p:nvPr/>
        </p:nvSpPr>
        <p:spPr>
          <a:xfrm>
            <a:off x="2743200" y="2009474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Filtro sintonizado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45E396-75B2-BA98-4AAA-CD17ADFB3D31}"/>
              </a:ext>
            </a:extLst>
          </p:cNvPr>
          <p:cNvSpPr txBox="1"/>
          <p:nvPr/>
        </p:nvSpPr>
        <p:spPr>
          <a:xfrm>
            <a:off x="6593841" y="2009474"/>
            <a:ext cx="35204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Filtro não sintonizado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23E3D2C-A04C-1C09-3E6B-8B6F4D153A4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17/26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309A4CC-9945-304F-D4A8-A8DE700D24A2}"/>
              </a:ext>
            </a:extLst>
          </p:cNvPr>
          <p:cNvSpPr txBox="1"/>
          <p:nvPr/>
        </p:nvSpPr>
        <p:spPr>
          <a:xfrm>
            <a:off x="4878472" y="1550424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u="sng" dirty="0"/>
              <a:t>Cenário 2</a:t>
            </a:r>
          </a:p>
        </p:txBody>
      </p:sp>
    </p:spTree>
    <p:extLst>
      <p:ext uri="{BB962C8B-B14F-4D97-AF65-F5344CB8AC3E}">
        <p14:creationId xmlns:p14="http://schemas.microsoft.com/office/powerpoint/2010/main" val="3430317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BFA6-B95B-7749-3B45-4CD3E3BA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886884E-CA83-8A33-5FB9-13BA51C8CAC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47CD8C3-01CC-994F-7DE6-92DBB628A76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091530D-794B-B659-D530-084DA649442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D90228DE-2173-6478-A443-1E3E19B11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A72AB2A-4123-A3DA-274D-505E730A4D2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6.2. Gráficos do RMSE</a:t>
            </a:r>
            <a:endParaRPr lang="pt-BR" sz="1600" dirty="0">
              <a:latin typeface="+mj-lt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F486AA-B75D-B542-7096-D6711B77BFE2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Sintonizado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8BD0F5-0CEC-A8EE-265F-3C50969F2D59}"/>
              </a:ext>
            </a:extLst>
          </p:cNvPr>
          <p:cNvSpPr txBox="1"/>
          <p:nvPr/>
        </p:nvSpPr>
        <p:spPr>
          <a:xfrm>
            <a:off x="7785858" y="2200986"/>
            <a:ext cx="2093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Não Sintonizado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0133A7-9271-64DC-1BD3-A33DF1C5C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55" y="2758991"/>
            <a:ext cx="4892035" cy="244601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3110BC4-A25B-8D91-F261-667470716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119" y="2648614"/>
            <a:ext cx="5333546" cy="2666773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3454759-D19A-E9CB-4250-5745CBE8DE77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18/26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BDA592C-B3B7-3A76-07FC-44A63AD02B30}"/>
              </a:ext>
            </a:extLst>
          </p:cNvPr>
          <p:cNvSpPr txBox="1"/>
          <p:nvPr/>
        </p:nvSpPr>
        <p:spPr>
          <a:xfrm>
            <a:off x="4878472" y="1550424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u="sng" dirty="0"/>
              <a:t>Cenário 2</a:t>
            </a:r>
          </a:p>
        </p:txBody>
      </p:sp>
    </p:spTree>
    <p:extLst>
      <p:ext uri="{BB962C8B-B14F-4D97-AF65-F5344CB8AC3E}">
        <p14:creationId xmlns:p14="http://schemas.microsoft.com/office/powerpoint/2010/main" val="1777222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E3A4-02A8-1BE6-6DD6-B896F8B4F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AF3EE1B-4530-4C8E-5000-7C1C95007E6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8A3E75-4EF2-CBCF-707E-31E1B124CAA1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3A6EBFD-C1FB-4856-B429-E4571B15D5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A8C80D7-A6B4-DFC1-3E3A-18CEE539C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4938E1C-1D9A-A2B4-6D54-A40599A85336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</a:t>
            </a:r>
            <a:r>
              <a:rPr lang="pt-BR" sz="1600" b="1" dirty="0"/>
              <a:t>NIS e Histogramas:</a:t>
            </a:r>
            <a:r>
              <a:rPr lang="pt-BR" sz="1600" b="1" dirty="0">
                <a:latin typeface="+mj-lt"/>
              </a:rPr>
              <a:t> </a:t>
            </a:r>
            <a:r>
              <a:rPr lang="pt-BR" sz="1600" dirty="0">
                <a:latin typeface="+mj-lt"/>
              </a:rPr>
              <a:t>Cenários Sintonizados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62229A6-BCF6-5B2E-022F-BCFC8A953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96" y="2717763"/>
            <a:ext cx="5820896" cy="249366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DB2A678-6D54-1C3D-6C6A-1BB916DAEA09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NIS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0D6747-454F-1B24-8C8F-2277917AE04A}"/>
              </a:ext>
            </a:extLst>
          </p:cNvPr>
          <p:cNvSpPr txBox="1"/>
          <p:nvPr/>
        </p:nvSpPr>
        <p:spPr>
          <a:xfrm>
            <a:off x="7669161" y="2191336"/>
            <a:ext cx="2588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Histogramas dos Erros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058BC59-72FB-D43B-6BA2-00528848E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263" y="2588735"/>
            <a:ext cx="5163115" cy="2726063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5E67D041-86F0-3208-E612-2D08BEB72CFC}"/>
              </a:ext>
            </a:extLst>
          </p:cNvPr>
          <p:cNvSpPr txBox="1"/>
          <p:nvPr/>
        </p:nvSpPr>
        <p:spPr>
          <a:xfrm>
            <a:off x="11494373" y="6488668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19/26</a:t>
            </a:r>
          </a:p>
        </p:txBody>
      </p:sp>
    </p:spTree>
    <p:extLst>
      <p:ext uri="{BB962C8B-B14F-4D97-AF65-F5344CB8AC3E}">
        <p14:creationId xmlns:p14="http://schemas.microsoft.com/office/powerpoint/2010/main" val="30590477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2CDD-2BC6-F7D4-922B-1D51E0D17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E9F39A4-E5B2-061A-0CC4-CF4167501F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536B11-FD18-3C91-E03D-C983DD55AD5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3C5D6B7-6333-490B-0229-70DCEBC5269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2E6DCC4-DD9A-1847-DED0-712678C7B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56F26E2-575E-34DE-F3BC-25BD8BE552A4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NIS e Histogramas: </a:t>
            </a:r>
            <a:r>
              <a:rPr lang="pt-BR" sz="1600" dirty="0">
                <a:latin typeface="+mj-lt"/>
              </a:rPr>
              <a:t>Cenários Não sintonizados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6E07041-D4B6-9484-9CCB-876D3A433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601" y="2674650"/>
            <a:ext cx="5387204" cy="2670382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FC034D6-BD58-3CBA-566D-0DD9224F0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" y="2765288"/>
            <a:ext cx="5492113" cy="2489105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1893BEF9-7422-E140-80C1-AD7F769C5C55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NIS 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4A39D1F-BAE9-FBAB-FCC5-4495345D5A65}"/>
              </a:ext>
            </a:extLst>
          </p:cNvPr>
          <p:cNvSpPr txBox="1"/>
          <p:nvPr/>
        </p:nvSpPr>
        <p:spPr>
          <a:xfrm>
            <a:off x="7698659" y="2191336"/>
            <a:ext cx="25591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Histogramas dos Erros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3736CE7-FD88-6D40-7373-867B0608F04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20/26</a:t>
            </a:r>
          </a:p>
        </p:txBody>
      </p:sp>
    </p:spTree>
    <p:extLst>
      <p:ext uri="{BB962C8B-B14F-4D97-AF65-F5344CB8AC3E}">
        <p14:creationId xmlns:p14="http://schemas.microsoft.com/office/powerpoint/2010/main" val="3860198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05CBC-BE4E-391C-5778-6606E9C68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EAB0061-6BED-9C92-A21A-CE1BA3FDD4E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2DCFF2-AC4F-CD8A-7CCB-81AD43B1464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2A57A21-5333-46D5-234F-7A2903BD7FB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A1B43DE7-CC8C-CFED-0D07-75BF31205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56CA75C-8F16-2EF6-403B-A7348F7A108B}"/>
              </a:ext>
            </a:extLst>
          </p:cNvPr>
          <p:cNvSpPr txBox="1"/>
          <p:nvPr/>
        </p:nvSpPr>
        <p:spPr>
          <a:xfrm>
            <a:off x="1223682" y="1342275"/>
            <a:ext cx="2689557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6.4. </a:t>
            </a:r>
            <a:r>
              <a:rPr lang="pt-BR" sz="1600" dirty="0">
                <a:latin typeface="+mj-lt"/>
              </a:rPr>
              <a:t>Caso especial: Oclusão</a:t>
            </a:r>
          </a:p>
        </p:txBody>
      </p:sp>
      <p:pic>
        <p:nvPicPr>
          <p:cNvPr id="3" name="20260624-0255-30.7980916">
            <a:hlinkClick r:id="" action="ppaction://media"/>
            <a:extLst>
              <a:ext uri="{FF2B5EF4-FFF2-40B4-BE49-F238E27FC236}">
                <a16:creationId xmlns:a16="http://schemas.microsoft.com/office/drawing/2014/main" id="{8B752AFE-A1AC-DC19-E5A7-D3B395235EA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24781" y="2300051"/>
            <a:ext cx="4704570" cy="33639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692AEAF-A5D6-BA81-2EA1-43240ADDF5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076" y="2094271"/>
            <a:ext cx="3775459" cy="3775459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8E9BBF5-B30C-DC78-4E09-59A84770E49F}"/>
              </a:ext>
            </a:extLst>
          </p:cNvPr>
          <p:cNvSpPr txBox="1"/>
          <p:nvPr/>
        </p:nvSpPr>
        <p:spPr>
          <a:xfrm>
            <a:off x="2981333" y="1917671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Animação com ROI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1833185-3871-BE1F-DDA4-6BC64C441FA2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21/26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ACC899F-4FE4-4A47-BDFC-F8C7746B2749}"/>
              </a:ext>
            </a:extLst>
          </p:cNvPr>
          <p:cNvSpPr txBox="1"/>
          <p:nvPr/>
        </p:nvSpPr>
        <p:spPr>
          <a:xfrm>
            <a:off x="7854776" y="1651886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u="sng" dirty="0"/>
              <a:t>Cenário 6</a:t>
            </a:r>
          </a:p>
        </p:txBody>
      </p:sp>
    </p:spTree>
    <p:extLst>
      <p:ext uri="{BB962C8B-B14F-4D97-AF65-F5344CB8AC3E}">
        <p14:creationId xmlns:p14="http://schemas.microsoft.com/office/powerpoint/2010/main" val="3662342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68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4AD1-86FA-5791-4297-9D60DF2DD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501ECE9-E5FA-29D6-F7F8-62F9EF75081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6A9F36-BA1C-3467-9A2E-265F96734C4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4ECF515-37B7-3652-7BF6-6C247BBA9FF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1F7D7925-05F5-3AED-1936-153C903F3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C463EFC-DE92-7056-37FC-F2DCF5CD2C0E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6.5. </a:t>
            </a:r>
            <a:r>
              <a:rPr lang="pt-BR" sz="1600" dirty="0">
                <a:latin typeface="+mj-lt"/>
              </a:rPr>
              <a:t>Resumo dos Resultados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19D46EB-E6D4-9D75-6B3D-ACDF787F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939" y="1980233"/>
            <a:ext cx="8150121" cy="375197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CA83981-7035-D4CD-FDA9-64CA809F143E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22/26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7EE85FE-AE8B-3D98-8AF2-DD61A7CAB6AA}"/>
              </a:ext>
            </a:extLst>
          </p:cNvPr>
          <p:cNvSpPr txBox="1"/>
          <p:nvPr/>
        </p:nvSpPr>
        <p:spPr>
          <a:xfrm>
            <a:off x="2488070" y="5986278"/>
            <a:ext cx="72158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 err="1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Sistemas a GPS podem ter erros de até 3 metros, melhorando devido a configuração.</a:t>
            </a:r>
          </a:p>
        </p:txBody>
      </p:sp>
    </p:spTree>
    <p:extLst>
      <p:ext uri="{BB962C8B-B14F-4D97-AF65-F5344CB8AC3E}">
        <p14:creationId xmlns:p14="http://schemas.microsoft.com/office/powerpoint/2010/main" val="36824399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ED10E-4A02-5379-0A9F-E0549F8F4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4DC45E8-0496-A4E6-970B-4389982F3C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22BD58-A360-3797-88E3-D5050CC97160}"/>
              </a:ext>
            </a:extLst>
          </p:cNvPr>
          <p:cNvSpPr txBox="1"/>
          <p:nvPr/>
        </p:nvSpPr>
        <p:spPr>
          <a:xfrm>
            <a:off x="1223682" y="887884"/>
            <a:ext cx="1781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7. Conclusão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805B022-E7D8-59E0-410B-E2369FBC26DE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1C6A74F-76BE-8870-1FB1-6EE22AEE0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B033EE-736C-8CB7-7323-269B1C3F57BB}"/>
              </a:ext>
            </a:extLst>
          </p:cNvPr>
          <p:cNvSpPr txBox="1"/>
          <p:nvPr/>
        </p:nvSpPr>
        <p:spPr>
          <a:xfrm>
            <a:off x="1290090" y="3285817"/>
            <a:ext cx="3429698" cy="2281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b="1" dirty="0">
                <a:latin typeface="+mj-lt"/>
              </a:rPr>
              <a:t>Contribuições: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 dirty="0"/>
              <a:t>Simulador Python:</a:t>
            </a:r>
            <a:r>
              <a:rPr lang="pt-BR" sz="1200" dirty="0"/>
              <a:t> Arquitetura interativa com interface gráfica (GUI).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 dirty="0"/>
              <a:t>ROI Dinâmica:</a:t>
            </a:r>
            <a:r>
              <a:rPr lang="pt-BR" sz="1200" dirty="0"/>
              <a:t> Conceito de região de interesse preditiva para Visão Computacional.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 dirty="0"/>
              <a:t>Valor Didático:</a:t>
            </a:r>
            <a:r>
              <a:rPr lang="pt-BR" sz="1200" dirty="0"/>
              <a:t> Ferramenta para estudo de sintonia e comportamento de filtros.</a:t>
            </a:r>
            <a:endParaRPr lang="pt-BR" sz="1200" dirty="0">
              <a:latin typeface="+mj-lt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C885E31-D4EE-BA8B-EACD-3CD1CAA11E5F}"/>
              </a:ext>
            </a:extLst>
          </p:cNvPr>
          <p:cNvSpPr txBox="1"/>
          <p:nvPr/>
        </p:nvSpPr>
        <p:spPr>
          <a:xfrm>
            <a:off x="6095999" y="3285817"/>
            <a:ext cx="4265766" cy="1450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b="1" dirty="0">
                <a:latin typeface="+mj-lt"/>
              </a:rPr>
              <a:t>Limitações e Futuro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 dirty="0"/>
              <a:t>Escopo:</a:t>
            </a:r>
            <a:r>
              <a:rPr lang="pt-BR" sz="1200" dirty="0"/>
              <a:t> Resultados em ambiente simulado com ruído puramente Gaussiano.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 dirty="0"/>
              <a:t>Simplificações:</a:t>
            </a:r>
            <a:r>
              <a:rPr lang="pt-BR" sz="1200" dirty="0"/>
              <a:t> Ausência de efeitos reais como </a:t>
            </a:r>
            <a:r>
              <a:rPr lang="pt-BR" sz="1200" i="1" dirty="0" err="1"/>
              <a:t>Multipath</a:t>
            </a:r>
            <a:r>
              <a:rPr lang="pt-BR" sz="1200" dirty="0"/>
              <a:t> e </a:t>
            </a:r>
            <a:r>
              <a:rPr lang="pt-BR" sz="1200" i="1" dirty="0"/>
              <a:t>NLOS</a:t>
            </a:r>
            <a:r>
              <a:rPr lang="pt-BR" sz="1200" dirty="0"/>
              <a:t>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E41A5E0-4330-4543-039E-1D753371815E}"/>
              </a:ext>
            </a:extLst>
          </p:cNvPr>
          <p:cNvSpPr txBox="1"/>
          <p:nvPr/>
        </p:nvSpPr>
        <p:spPr>
          <a:xfrm>
            <a:off x="1145172" y="2029543"/>
            <a:ext cx="9518543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Esse estudo serviu como forma de analisar na prática o comportamento de um filtro de Kalman e entender seu comportamento, associando à área de </a:t>
            </a:r>
            <a:r>
              <a:rPr lang="pt-BR" sz="1400" b="1" dirty="0">
                <a:latin typeface="+mj-lt"/>
              </a:rPr>
              <a:t>robótica probabilística </a:t>
            </a:r>
            <a:r>
              <a:rPr lang="pt-BR" sz="1400" dirty="0">
                <a:latin typeface="+mj-lt"/>
              </a:rPr>
              <a:t>e verificar o comportamento do </a:t>
            </a:r>
            <a:r>
              <a:rPr lang="pt-BR" sz="1400" b="1" dirty="0">
                <a:latin typeface="+mj-lt"/>
              </a:rPr>
              <a:t>NIS</a:t>
            </a:r>
            <a:r>
              <a:rPr lang="pt-BR" sz="1400" dirty="0">
                <a:latin typeface="+mj-lt"/>
              </a:rPr>
              <a:t> e </a:t>
            </a:r>
            <a:r>
              <a:rPr lang="pt-BR" sz="1400" b="1" dirty="0">
                <a:latin typeface="+mj-lt"/>
              </a:rPr>
              <a:t>RMSE </a:t>
            </a:r>
            <a:r>
              <a:rPr lang="pt-BR" sz="1400" dirty="0">
                <a:latin typeface="+mj-lt"/>
              </a:rPr>
              <a:t>na avaliação do Filtro.</a:t>
            </a:r>
            <a:endParaRPr lang="pt-BR" sz="1400" b="1" dirty="0">
              <a:latin typeface="+mj-lt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5AF0704-186C-9276-63E4-6CAC9B2DF5C8}"/>
              </a:ext>
            </a:extLst>
          </p:cNvPr>
          <p:cNvSpPr txBox="1"/>
          <p:nvPr/>
        </p:nvSpPr>
        <p:spPr>
          <a:xfrm>
            <a:off x="1223682" y="5909591"/>
            <a:ext cx="1039315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i="1" dirty="0" err="1">
                <a:solidFill>
                  <a:srgbClr val="FF0000"/>
                </a:solidFill>
                <a:latin typeface="+mj-lt"/>
              </a:rPr>
              <a:t>Obs</a:t>
            </a:r>
            <a:r>
              <a:rPr lang="pt-BR" sz="1400" i="1" dirty="0">
                <a:solidFill>
                  <a:srgbClr val="FF0000"/>
                </a:solidFill>
                <a:latin typeface="+mj-lt"/>
              </a:rPr>
              <a:t>: Interface e demais resultados podem ser encontrados no Github do projeto (</a:t>
            </a:r>
            <a:r>
              <a:rPr lang="pt-BR" sz="1400" i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</a:t>
            </a:r>
            <a:r>
              <a:rPr lang="pt-BR" sz="1400" i="1" dirty="0" err="1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SauloJose</a:t>
            </a:r>
            <a:r>
              <a:rPr lang="pt-BR" sz="1400" i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pt-BR" sz="1400" i="1" dirty="0" err="1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PASKalmanTraj</a:t>
            </a:r>
            <a:r>
              <a:rPr lang="pt-BR" sz="1400" dirty="0"/>
              <a:t>)</a:t>
            </a:r>
            <a:r>
              <a:rPr lang="pt-BR" sz="1400" dirty="0">
                <a:latin typeface="+mj-lt"/>
              </a:rPr>
              <a:t>.</a:t>
            </a:r>
            <a:endParaRPr lang="pt-BR" sz="1400" b="1" dirty="0">
              <a:latin typeface="+mj-lt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BF77C7C-9AB7-7BD3-8A4E-684CBB3AB363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23/26</a:t>
            </a:r>
          </a:p>
        </p:txBody>
      </p:sp>
    </p:spTree>
    <p:extLst>
      <p:ext uri="{BB962C8B-B14F-4D97-AF65-F5344CB8AC3E}">
        <p14:creationId xmlns:p14="http://schemas.microsoft.com/office/powerpoint/2010/main" val="40217011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EB86-C955-956C-A431-D0F35AFB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A330555-BD6E-C960-08EF-087CF6B9A2F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3E33A62-98EA-9FFD-BE61-F390F89400B5}"/>
              </a:ext>
            </a:extLst>
          </p:cNvPr>
          <p:cNvSpPr txBox="1"/>
          <p:nvPr/>
        </p:nvSpPr>
        <p:spPr>
          <a:xfrm>
            <a:off x="1223682" y="887884"/>
            <a:ext cx="2706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8. Trabalhos Futuros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D29C171-0FED-BC5B-3402-1AC2515BBD1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6D7B30E-09A0-C4AD-89BD-11F1CD1DD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388E82A-AF66-C8B8-41CC-84C658626645}"/>
              </a:ext>
            </a:extLst>
          </p:cNvPr>
          <p:cNvSpPr txBox="1"/>
          <p:nvPr/>
        </p:nvSpPr>
        <p:spPr>
          <a:xfrm>
            <a:off x="1375982" y="2017125"/>
            <a:ext cx="8977386" cy="1353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Implementar algoritmos de </a:t>
            </a:r>
            <a:r>
              <a:rPr lang="pt-BR" sz="1400" b="1" dirty="0">
                <a:latin typeface="+mj-lt"/>
              </a:rPr>
              <a:t>Sintonia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Automática</a:t>
            </a:r>
            <a:r>
              <a:rPr lang="pt-BR" sz="1400" dirty="0">
                <a:latin typeface="+mj-lt"/>
              </a:rPr>
              <a:t> das matrizes Q e R;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Integrar com algoritmos de visão computacional utilizando a estratégia de ROI dinâmico para diminuir custo computacional no processamento de imagens;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Utilizar </a:t>
            </a:r>
            <a:r>
              <a:rPr lang="pt-BR" sz="1400" b="1" dirty="0">
                <a:latin typeface="+mj-lt"/>
              </a:rPr>
              <a:t>filtros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avançados</a:t>
            </a:r>
            <a:r>
              <a:rPr lang="pt-BR" sz="1400" dirty="0">
                <a:latin typeface="+mj-lt"/>
              </a:rPr>
              <a:t>, como </a:t>
            </a:r>
            <a:r>
              <a:rPr lang="pt-BR" sz="1400" dirty="0" err="1">
                <a:latin typeface="+mj-lt"/>
              </a:rPr>
              <a:t>Unscented</a:t>
            </a:r>
            <a:r>
              <a:rPr lang="pt-BR" sz="1400" dirty="0">
                <a:latin typeface="+mj-lt"/>
              </a:rPr>
              <a:t> Kalman Filter (UKF) e comparar com o EKF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BB5A66-9A75-BE43-36A9-32B01C3BF15D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24/26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2284C2C-8560-65E1-7504-3B7985D2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382" y="3815962"/>
            <a:ext cx="4793235" cy="2248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844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09903"/>
            <a:ext cx="9547809" cy="3389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CARON, F.; DUFLOS, E.; POMORSKI, D.; VANHEEGHE, P. Gps/</a:t>
            </a:r>
            <a:r>
              <a:rPr lang="pt-BR" sz="1200" dirty="0" err="1">
                <a:latin typeface="+mj-lt"/>
              </a:rPr>
              <a:t>imu</a:t>
            </a:r>
            <a:r>
              <a:rPr lang="pt-BR" sz="1200" dirty="0">
                <a:latin typeface="+mj-lt"/>
              </a:rPr>
              <a:t> data fusion </a:t>
            </a:r>
            <a:r>
              <a:rPr lang="pt-BR" sz="1200" dirty="0" err="1">
                <a:latin typeface="+mj-lt"/>
              </a:rPr>
              <a:t>using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multisensor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filtering</a:t>
            </a:r>
            <a:r>
              <a:rPr lang="pt-BR" sz="1200" dirty="0">
                <a:latin typeface="+mj-lt"/>
              </a:rPr>
              <a:t>: </a:t>
            </a:r>
            <a:r>
              <a:rPr lang="pt-BR" sz="1200" dirty="0" err="1">
                <a:latin typeface="+mj-lt"/>
              </a:rPr>
              <a:t>Introduction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of</a:t>
            </a:r>
            <a:r>
              <a:rPr lang="pt-BR" sz="1200" dirty="0">
                <a:latin typeface="+mj-lt"/>
              </a:rPr>
              <a:t> contextual </a:t>
            </a:r>
            <a:r>
              <a:rPr lang="pt-BR" sz="1200" dirty="0" err="1">
                <a:latin typeface="+mj-lt"/>
              </a:rPr>
              <a:t>aspects</a:t>
            </a:r>
            <a:r>
              <a:rPr lang="pt-BR" sz="1200" dirty="0">
                <a:latin typeface="+mj-lt"/>
              </a:rPr>
              <a:t>. </a:t>
            </a:r>
            <a:r>
              <a:rPr lang="pt-BR" sz="1200" dirty="0" err="1">
                <a:latin typeface="+mj-lt"/>
              </a:rPr>
              <a:t>Information</a:t>
            </a:r>
            <a:r>
              <a:rPr lang="pt-BR" sz="1200" dirty="0">
                <a:latin typeface="+mj-lt"/>
              </a:rPr>
              <a:t> Fusion, v. 7, n. 2, p. 221–230, 2006. Disponível em: </a:t>
            </a:r>
            <a:r>
              <a:rPr lang="pt-BR" sz="1200" dirty="0">
                <a:latin typeface="+mj-lt"/>
                <a:hlinkClick r:id="rId3"/>
              </a:rPr>
              <a:t>https://www.sciencedirect.com/</a:t>
            </a:r>
            <a:r>
              <a:rPr lang="pt-BR" sz="1200" dirty="0" err="1">
                <a:latin typeface="+mj-lt"/>
                <a:hlinkClick r:id="rId3"/>
              </a:rPr>
              <a:t>science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article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pii</a:t>
            </a:r>
            <a:r>
              <a:rPr lang="pt-BR" sz="1200" dirty="0">
                <a:latin typeface="+mj-lt"/>
                <a:hlinkClick r:id="rId3"/>
              </a:rPr>
              <a:t>/S156625350400065X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CHEN, S. Y. Kalman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robot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vision</a:t>
            </a:r>
            <a:r>
              <a:rPr lang="pt-BR" sz="1200" dirty="0">
                <a:latin typeface="+mj-lt"/>
              </a:rPr>
              <a:t>: A </a:t>
            </a:r>
            <a:r>
              <a:rPr lang="pt-BR" sz="1200" dirty="0" err="1">
                <a:latin typeface="+mj-lt"/>
              </a:rPr>
              <a:t>survey</a:t>
            </a:r>
            <a:r>
              <a:rPr lang="pt-BR" sz="1200" dirty="0">
                <a:latin typeface="+mj-lt"/>
              </a:rPr>
              <a:t>. IEEE </a:t>
            </a:r>
            <a:r>
              <a:rPr lang="pt-BR" sz="1200" dirty="0" err="1">
                <a:latin typeface="+mj-lt"/>
              </a:rPr>
              <a:t>Transactions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on</a:t>
            </a:r>
            <a:r>
              <a:rPr lang="pt-BR" sz="1200" dirty="0">
                <a:latin typeface="+mj-lt"/>
              </a:rPr>
              <a:t> Industrial </a:t>
            </a:r>
            <a:r>
              <a:rPr lang="pt-BR" sz="1200" dirty="0" err="1">
                <a:latin typeface="+mj-lt"/>
              </a:rPr>
              <a:t>Electronics</a:t>
            </a:r>
            <a:r>
              <a:rPr lang="pt-BR" sz="1200" dirty="0">
                <a:latin typeface="+mj-lt"/>
              </a:rPr>
              <a:t>, v. 59, n. 11, p. 4409–4419, 2012.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b="1" dirty="0">
                <a:latin typeface="+mj-lt"/>
              </a:rPr>
              <a:t>CHEN, Z.; HECKMAN, C.; JULIER, S. </a:t>
            </a:r>
            <a:r>
              <a:rPr lang="pt-BR" sz="1200" b="1" dirty="0" err="1">
                <a:latin typeface="+mj-lt"/>
              </a:rPr>
              <a:t>Weak</a:t>
            </a:r>
            <a:r>
              <a:rPr lang="pt-BR" sz="1200" b="1" dirty="0">
                <a:latin typeface="+mj-lt"/>
              </a:rPr>
              <a:t> in </a:t>
            </a:r>
            <a:r>
              <a:rPr lang="pt-BR" sz="1200" b="1" dirty="0" err="1">
                <a:latin typeface="+mj-lt"/>
              </a:rPr>
              <a:t>the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nees</a:t>
            </a:r>
            <a:r>
              <a:rPr lang="pt-BR" sz="1200" b="1" dirty="0">
                <a:latin typeface="+mj-lt"/>
              </a:rPr>
              <a:t>?: </a:t>
            </a:r>
            <a:r>
              <a:rPr lang="pt-BR" sz="1200" b="1" dirty="0" err="1">
                <a:latin typeface="+mj-lt"/>
              </a:rPr>
              <a:t>Auto-tuning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kalman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filters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with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bayesian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optimization</a:t>
            </a:r>
            <a:r>
              <a:rPr lang="pt-BR" sz="1200" b="1" dirty="0">
                <a:latin typeface="+mj-lt"/>
              </a:rPr>
              <a:t>. [S. l.: s. n.], 2018. Disponível em: </a:t>
            </a:r>
            <a:r>
              <a:rPr lang="pt-BR" sz="1200" b="1" dirty="0">
                <a:latin typeface="+mj-lt"/>
                <a:hlinkClick r:id="rId4"/>
              </a:rPr>
              <a:t>https://arxiv.org/</a:t>
            </a:r>
            <a:r>
              <a:rPr lang="pt-BR" sz="1200" b="1" dirty="0" err="1">
                <a:latin typeface="+mj-lt"/>
                <a:hlinkClick r:id="rId4"/>
              </a:rPr>
              <a:t>abs</a:t>
            </a:r>
            <a:r>
              <a:rPr lang="pt-BR" sz="1200" b="1" dirty="0">
                <a:latin typeface="+mj-lt"/>
                <a:hlinkClick r:id="rId4"/>
              </a:rPr>
              <a:t>/1807.08855</a:t>
            </a:r>
            <a:r>
              <a:rPr lang="pt-BR" sz="1200" b="1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b="1" dirty="0">
                <a:latin typeface="+mj-lt"/>
              </a:rPr>
              <a:t>FAŁEK, P.; KANIEWSKI, P. Computer </a:t>
            </a:r>
            <a:r>
              <a:rPr lang="pt-BR" sz="1200" b="1" dirty="0" err="1">
                <a:latin typeface="+mj-lt"/>
              </a:rPr>
              <a:t>application</a:t>
            </a:r>
            <a:r>
              <a:rPr lang="pt-BR" sz="1200" b="1" dirty="0">
                <a:latin typeface="+mj-lt"/>
              </a:rPr>
              <a:t> for </a:t>
            </a:r>
            <a:r>
              <a:rPr lang="pt-BR" sz="1200" b="1" dirty="0" err="1">
                <a:latin typeface="+mj-lt"/>
              </a:rPr>
              <a:t>testing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kalman</a:t>
            </a:r>
            <a:r>
              <a:rPr lang="pt-BR" sz="1200" b="1" dirty="0">
                <a:latin typeface="+mj-lt"/>
              </a:rPr>
              <a:t> </a:t>
            </a:r>
            <a:r>
              <a:rPr lang="pt-BR" sz="1200" b="1" dirty="0" err="1">
                <a:latin typeface="+mj-lt"/>
              </a:rPr>
              <a:t>filter</a:t>
            </a:r>
            <a:r>
              <a:rPr lang="pt-BR" sz="1200" b="1" dirty="0">
                <a:latin typeface="+mj-lt"/>
              </a:rPr>
              <a:t>. In: CONFERENCE PROCEEDINGS OF SPIE, 11442., 2020. </a:t>
            </a:r>
            <a:r>
              <a:rPr lang="pt-BR" sz="1200" b="1" dirty="0" err="1">
                <a:latin typeface="+mj-lt"/>
              </a:rPr>
              <a:t>Proceedings</a:t>
            </a:r>
            <a:r>
              <a:rPr lang="pt-BR" sz="1200" b="1" dirty="0">
                <a:latin typeface="+mj-lt"/>
              </a:rPr>
              <a:t> [...]. [S. l.]: SPIE, 2020. p. 1144213.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SILVA, S. J. A. Ferramenta de simulação e rastreamento bidimensional via EKF. 2026. Repositório GitHub. Disponível em: </a:t>
            </a:r>
            <a:r>
              <a:rPr lang="pt-BR" sz="1200" dirty="0">
                <a:latin typeface="+mj-lt"/>
                <a:hlinkClick r:id="rId5"/>
              </a:rPr>
              <a:t>https://github.com/</a:t>
            </a:r>
            <a:r>
              <a:rPr lang="pt-BR" sz="1200" dirty="0" err="1">
                <a:latin typeface="+mj-lt"/>
                <a:hlinkClick r:id="rId5"/>
              </a:rPr>
              <a:t>SauloJose</a:t>
            </a:r>
            <a:r>
              <a:rPr lang="pt-BR" sz="1200" dirty="0">
                <a:latin typeface="+mj-lt"/>
                <a:hlinkClick r:id="rId5"/>
              </a:rPr>
              <a:t>/</a:t>
            </a:r>
            <a:r>
              <a:rPr lang="pt-BR" sz="1200" dirty="0" err="1">
                <a:latin typeface="+mj-lt"/>
                <a:hlinkClick r:id="rId5"/>
              </a:rPr>
              <a:t>PASKalmanTraj</a:t>
            </a:r>
            <a:r>
              <a:rPr lang="pt-BR" sz="1200" dirty="0">
                <a:latin typeface="+mj-lt"/>
              </a:rPr>
              <a:t>. Acesso em: 13 jun. 2026.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Simon, D. </a:t>
            </a:r>
            <a:r>
              <a:rPr lang="pt-BR" sz="1200" dirty="0" err="1">
                <a:latin typeface="+mj-lt"/>
              </a:rPr>
              <a:t>Optimal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State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Estimation</a:t>
            </a:r>
            <a:r>
              <a:rPr lang="pt-BR" sz="1200" dirty="0">
                <a:latin typeface="+mj-lt"/>
              </a:rPr>
              <a:t>: Kalman, H∞, </a:t>
            </a:r>
            <a:r>
              <a:rPr lang="pt-BR" sz="1200" dirty="0" err="1">
                <a:latin typeface="+mj-lt"/>
              </a:rPr>
              <a:t>and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Nonlinear</a:t>
            </a:r>
            <a:r>
              <a:rPr lang="pt-BR" sz="1200" dirty="0">
                <a:latin typeface="+mj-lt"/>
              </a:rPr>
              <a:t> Approaches. Wiley, 2006;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b="1" dirty="0" err="1">
                <a:latin typeface="+mj-lt"/>
              </a:rPr>
              <a:t>Thrun</a:t>
            </a:r>
            <a:r>
              <a:rPr lang="pt-BR" sz="1200" b="1" dirty="0">
                <a:latin typeface="+mj-lt"/>
              </a:rPr>
              <a:t>, S., </a:t>
            </a:r>
            <a:r>
              <a:rPr lang="pt-BR" sz="1200" b="1" dirty="0" err="1">
                <a:latin typeface="+mj-lt"/>
              </a:rPr>
              <a:t>Burgard</a:t>
            </a:r>
            <a:r>
              <a:rPr lang="pt-BR" sz="1200" b="1" dirty="0">
                <a:latin typeface="+mj-lt"/>
              </a:rPr>
              <a:t>, W., &amp; Fox, D. Probabilistic Robotics. MIT Press, 2005.;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1EF1703-2347-A7A3-6A13-63B4DE6BD17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25/26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3" y="5811848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D0647B1-1CDC-4088-5B86-2F29E5725778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26/26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7DA5516-2780-DEE7-C4EC-F7EA574FC0C0}"/>
              </a:ext>
            </a:extLst>
          </p:cNvPr>
          <p:cNvSpPr txBox="1"/>
          <p:nvPr/>
        </p:nvSpPr>
        <p:spPr>
          <a:xfrm>
            <a:off x="4488425" y="6396623"/>
            <a:ext cx="321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b="1" dirty="0"/>
              <a:t>24/06/2026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4420</TotalTime>
  <Words>1833</Words>
  <Application>Microsoft Office PowerPoint</Application>
  <PresentationFormat>Widescreen</PresentationFormat>
  <Paragraphs>236</Paragraphs>
  <Slides>26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Personalizar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528</cp:revision>
  <dcterms:created xsi:type="dcterms:W3CDTF">2025-08-24T00:23:34Z</dcterms:created>
  <dcterms:modified xsi:type="dcterms:W3CDTF">2026-06-26T19:41:02Z</dcterms:modified>
</cp:coreProperties>
</file>