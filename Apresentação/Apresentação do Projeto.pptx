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57" r:id="rId3"/>
    <p:sldId id="270" r:id="rId4"/>
    <p:sldId id="414" r:id="rId5"/>
    <p:sldId id="439" r:id="rId6"/>
    <p:sldId id="409" r:id="rId7"/>
    <p:sldId id="440" r:id="rId8"/>
    <p:sldId id="435" r:id="rId9"/>
    <p:sldId id="417" r:id="rId10"/>
    <p:sldId id="438" r:id="rId11"/>
    <p:sldId id="410" r:id="rId12"/>
    <p:sldId id="420" r:id="rId13"/>
    <p:sldId id="411" r:id="rId14"/>
    <p:sldId id="425" r:id="rId15"/>
    <p:sldId id="444" r:id="rId16"/>
    <p:sldId id="428" r:id="rId17"/>
    <p:sldId id="412" r:id="rId18"/>
    <p:sldId id="441" r:id="rId19"/>
    <p:sldId id="431" r:id="rId20"/>
    <p:sldId id="442" r:id="rId21"/>
    <p:sldId id="443" r:id="rId22"/>
    <p:sldId id="429" r:id="rId23"/>
    <p:sldId id="413" r:id="rId24"/>
    <p:sldId id="433" r:id="rId25"/>
    <p:sldId id="380" r:id="rId26"/>
    <p:sldId id="273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191E"/>
    <a:srgbClr val="D7FF86"/>
    <a:srgbClr val="C1E5F5"/>
    <a:srgbClr val="FFE5E5"/>
    <a:srgbClr val="E9F5FB"/>
    <a:srgbClr val="FFFFFF"/>
    <a:srgbClr val="2F9E4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020" autoAdjust="0"/>
  </p:normalViewPr>
  <p:slideViewPr>
    <p:cSldViewPr snapToGrid="0">
      <p:cViewPr varScale="1">
        <p:scale>
          <a:sx n="78" d="100"/>
          <a:sy n="78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80AFB-2E3F-42DC-9796-A7A23E86EABD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721C4-8263-461E-8B3B-AC8C523E1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7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AEAD-B871-745C-25F1-240FEA0AD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8777E-2E06-D8A3-057D-0141147A9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C4ED1-A464-72AF-3406-3DB207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7D17D-DC9E-875A-D4F9-7EF647E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675DBC-E339-37F0-1BCC-B3914BE6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694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F1D6C-1D5D-A0B9-6455-90C4DF7F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15C5E-5A3E-97A0-E331-014C1F762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73B20-95FA-CCCD-76E7-7D15064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73DA8-1764-085E-FBDF-BA8FED4E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27B59-8E2F-D65D-218D-8848CE64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381" y="6481041"/>
            <a:ext cx="2743200" cy="365125"/>
          </a:xfrm>
        </p:spPr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03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5AEF6-BFCD-AF5F-E11F-05C2E54B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63CFCD-BFFD-F010-885B-BA0231ED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9062E-0F2F-9615-BE51-BB1C8F9B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4D0E3-D19E-8351-1C90-A9D248B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91183-BC19-F62D-4919-CFDDADA9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0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9B419-93F1-00B4-B822-0C6C55C3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ED323-33B2-1A19-3DE1-BE909EFB9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9B5E3E-5C8A-D639-F597-A7388C4D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84E66-C891-2BDE-3196-3274E00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F74336-D9A7-389C-08F0-53DFF1BE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DBB875-658F-3EAB-E4AC-177C7923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04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6AAA-0307-8322-5BA5-459C88AB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2A430E-ED16-B93D-C617-481CC93B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07A939-EEE0-1546-EE90-BDE4279E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471581-0638-71C6-B3CF-1EBBB500D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12D75F-1A72-DD02-134E-03270286B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8C5A5F-AAD8-5C1B-CBD2-154B017D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03B748-EFF7-51BA-F5D1-D723560F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05E4B8-92EC-8079-EEA1-0AFB0701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98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5FE2-55F1-168D-572C-199729C2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2A637A-7428-34D1-0CF0-A0E0825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524F7-F631-DC22-1EE6-A65A457B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2D5828-13E0-BD36-EC26-45B02DE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29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EF7B4-754C-4D82-6EBA-C231A488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FEDAF3-030A-AAE4-24FA-B8707B84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4F61E9-DD33-DD18-055B-A08C3F13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12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F664C-4663-4CC6-64DC-4A1ED4EE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7D5E0-751D-22AC-6F81-DB39ECB5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2A5B98-1D2E-7742-BD6E-6CD574205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25DA36-AA40-7B7E-E183-6EFFC174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49C72-4A58-531F-134E-B297435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E04949-A313-4E38-BDFD-E93CB5C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7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092F-5896-D22D-2112-8016CDCD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8022BE-5115-E31E-9DBA-C1838FDB5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686221-8440-F759-3714-3E267B5D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3106F-8AC5-86E3-5393-AAD57E1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6A1E77-1BFB-BFDE-4EAC-7EE39E9A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F6B004-A6F2-C6BE-E0E6-AF3E44AA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1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2688D-1D26-B34B-8F01-8AEED2E2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1A4866-3D79-D6DA-78A0-6600A45AC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EDC72-9E83-F7D4-353E-608AFE16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120ED-27F9-F2F8-F5C8-E8431AD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8F66A-490A-4C93-6B43-07F79D71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3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3D5CE6-6FC6-9E20-0073-B14D2E26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DAF59E-354D-FB95-572B-E0F308EBC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78D85-ECB0-5C33-720F-4352A483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45E7-F369-2451-D6BC-92D43076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4E07FA-E87C-CFFC-2EB4-CEE0F665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509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617D0-E671-AC85-3B19-1723D0C3F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B13935-5D72-E67C-7754-4FBC1B73E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DD7A5-85D0-9ACF-7E65-89421DFA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49ACE4-65BF-B0F7-9384-859297B1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04CA7E-7820-907E-2D93-2E4F6210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605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9FF82-F671-6F3E-DE2F-7853305F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0808A-4B9F-D105-B564-26B52C8AD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18A9F3-A9B0-8B18-A9FE-9AD61BDF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B0C10-91DD-41F7-7652-41F70B279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CB164E-7F11-FD1A-28D7-20EB78057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8785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37363-9643-791E-804C-8232400A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E2F4E9-0165-66BC-F2D3-88AB82AFF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82167-B63C-50A4-1E92-699274A8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1750DB-323E-BEF6-56B8-49151346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68E000-1A7F-9B85-4394-000164FE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075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9E491-20C9-C814-F9F6-D42F4DF0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47B3FA-A92A-E3C0-5463-DD0076725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963947-C174-9A01-4191-88B0D6FBE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2D9860-C2E2-67A6-670F-57D80BD5B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02E71B-A814-4981-51FD-E84A3DD8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60826A-618A-2F1C-7DC1-5E0AE342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154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62B3E-2248-83D6-C824-1A600390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914164-5DF4-8ABF-BFE8-657A83D34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F38FA7-BF04-E9EA-7A96-300EEFE77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139F58-ED6C-936A-6E46-6573A897E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774EDFC-860B-0735-911D-598712824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5724F80-C74C-C927-51C5-DD41A1C3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910A56-45F8-4CA3-3B49-E7A5E240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F41B81-19FF-3C87-1364-8BB53195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8449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B3768-F3E1-AB3B-E537-8FD922E5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E7163A-AF9C-16E6-96BC-D9CF3B21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6B64CA-2AD0-36F6-1838-0CF1807B4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C08C1-F144-5A68-2D84-AFBF32C9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3555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3B6355-45CD-B194-172A-C280EBF6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2CAA397-B1A8-5CBD-8763-E140CB1D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8F75B4-E35C-0579-E0D7-18EB44E94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440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1E0F0-91C9-181E-E7A0-266466E5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7CC64E-4A2C-6335-BB7F-8B615333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D8FC24-C24D-E92C-31EB-2B86098E0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A18A8D-D28C-A501-1690-4E670F2B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9BF936-B1FE-B0A4-8354-F5899858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C9CDFF-B287-CE15-8059-4AB871A9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818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5DBE9-DC8D-A919-CF84-7D740042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03D358-674B-97C4-C2D8-0808748EB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98EFE5-9B0B-310E-87EA-ECA6B5430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A85E48-A118-7CE3-FE62-71CD5098B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D79EAF-800C-C0E6-4E20-835A3212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89E41A-54A2-D992-1070-79CB0519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701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C5D3A-0AD6-992E-B0C8-DC8A3639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E80888-9FCD-AB87-F116-B45FD57A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AF9029-8369-2285-8AFC-2F3521AE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9F8740-DFD9-EA88-8E71-7A2D14C3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F934BA-3334-4710-AD91-245D9322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61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6885EF-8182-6875-2522-86A047D11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BDAA1D-A158-8E03-7A30-0A5D6236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07AD0E-8011-21D4-200A-93CE07EB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C2CFEE-75A5-C9D8-B19B-690BED920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66BBE-E6F7-6FF3-5574-C0E141C9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11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475304-372F-B050-AC47-29D153D5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60DDA8-A757-6423-C510-7514400FB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6EB7F-73AB-00AB-E52A-ABDD6F076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15B1-8A60-47FC-9A9C-8EB8FFA1BE11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C1BDC2-8CEA-962F-B2F7-799979B86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B85AF-5142-5959-614B-DD93B12A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8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9EF7A64-DD7B-2387-8F16-1BBCA8CE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F0BE48-F3CB-0FBA-ACA8-AFFA4829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D9E988-78F5-0F09-4AB4-07B973CB8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AD2BF-1B60-4235-8F29-0DAC4243CFC8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0187A1-2742-5BFE-6536-4AD7F6DC6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D6687B-4797-138B-9B56-865207C3A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F8357-E5A1-495E-B127-144BBF611E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19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%3A%2F%2Fgithub.com%2FSauloJose%2FPASKalmanTraj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56625350400065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google.com/search?q=https%3A%2F%2Fgithub.com%2FSauloJose%2FPASKalmanTraj" TargetMode="External"/><Relationship Id="rId4" Type="http://schemas.openxmlformats.org/officeDocument/2006/relationships/hyperlink" Target="https://www.google.com/search?q=https%3A%2F%2Farxiv.org%2Fabs%2F1807.08855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36D3A2E-52AE-4705-B182-7D672A273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1224" y="4446446"/>
            <a:ext cx="3972232" cy="8181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Professor: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Dr. Edson Porto da Silva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Aluno: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4A5047E-7E22-4696-AED2-4B5A3BF6E2F0}"/>
              </a:ext>
            </a:extLst>
          </p:cNvPr>
          <p:cNvSpPr txBox="1">
            <a:spLocks/>
          </p:cNvSpPr>
          <p:nvPr/>
        </p:nvSpPr>
        <p:spPr>
          <a:xfrm>
            <a:off x="1682175" y="3258378"/>
            <a:ext cx="8670331" cy="106976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pt-BR" b="1" dirty="0">
                <a:solidFill>
                  <a:schemeClr val="bg2"/>
                </a:solidFill>
              </a:rPr>
              <a:t>RASTREAMENTO BIDIMENSIONAL DE ALVOS VIA FILTRO DE KALMAN ESTENDIDO EM SISTEMAS DE POSICIONAMENTO POR ESTAÇAO BASE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C55D7-217E-66E1-0BA4-DB510E93A830}"/>
              </a:ext>
            </a:extLst>
          </p:cNvPr>
          <p:cNvSpPr txBox="1"/>
          <p:nvPr/>
        </p:nvSpPr>
        <p:spPr>
          <a:xfrm>
            <a:off x="3785417" y="6027291"/>
            <a:ext cx="4463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dirty="0"/>
              <a:t>saulo.jose.silva@ee.ufcg.edu.br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Logomarcas">
            <a:extLst>
              <a:ext uri="{FF2B5EF4-FFF2-40B4-BE49-F238E27FC236}">
                <a16:creationId xmlns:a16="http://schemas.microsoft.com/office/drawing/2014/main" id="{2FA05E7E-E458-9BA7-D4BC-D3F4C6FF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2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397D17-0CD9-2E8A-9A91-4304C151E554}"/>
              </a:ext>
            </a:extLst>
          </p:cNvPr>
          <p:cNvSpPr txBox="1"/>
          <p:nvPr/>
        </p:nvSpPr>
        <p:spPr>
          <a:xfrm>
            <a:off x="2416493" y="2613066"/>
            <a:ext cx="73590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PROCESSAMENTO ADAPTATIVO DE SINAIS - 2026</a:t>
            </a:r>
            <a:endParaRPr lang="pt-BR" sz="2000" b="1" dirty="0">
              <a:latin typeface="Arial Black" panose="020B0A040201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7B83F3-E9B0-83EA-3152-1D81F512D632}"/>
              </a:ext>
            </a:extLst>
          </p:cNvPr>
          <p:cNvSpPr txBox="1"/>
          <p:nvPr/>
        </p:nvSpPr>
        <p:spPr>
          <a:xfrm>
            <a:off x="4488425" y="6396623"/>
            <a:ext cx="32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b="1" dirty="0"/>
              <a:t>24/06/2026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7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B643-7218-2B01-BCDA-649ADFC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4F2F874-FC0B-56C2-8CB8-AF9C780E919F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B4EAFF-A4D5-F2CA-1FDA-5F545B089B4A}"/>
              </a:ext>
            </a:extLst>
          </p:cNvPr>
          <p:cNvSpPr txBox="1"/>
          <p:nvPr/>
        </p:nvSpPr>
        <p:spPr>
          <a:xfrm>
            <a:off x="1223682" y="88788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535880-AE30-AD40-3D1C-D2DDC19274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29E21E1-0ACB-1AEF-B647-FC8B575F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9469" y="1726766"/>
            <a:ext cx="9888300" cy="4087034"/>
          </a:xfrm>
        </p:spPr>
        <p:txBody>
          <a:bodyPr numCol="2">
            <a:normAutofit/>
          </a:bodyPr>
          <a:lstStyle/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Contexto e Motivação;</a:t>
            </a:r>
            <a:endParaRPr lang="pt-BR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Objetivos;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Fundamentação Teórica;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3.1. Conceito de </a:t>
            </a:r>
            <a:r>
              <a:rPr lang="pt-BR" sz="1050" dirty="0" err="1">
                <a:latin typeface="Arial" panose="020B0604020202020204" pitchFamily="34" charset="0"/>
                <a:cs typeface="Arial" panose="020B0604020202020204" pitchFamily="34" charset="0"/>
              </a:rPr>
              <a:t>Belief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 (Crença) e Filtros de </a:t>
            </a:r>
            <a:r>
              <a:rPr lang="pt-BR" sz="1050" dirty="0" err="1"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/>
              <a:t>3.2. 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Filtro de Kalman;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33. Por que EKF?;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Formulação do Problema;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4.1. Descrição do Problema;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4.2. Descrição dos Modelos;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Metodologia;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5.1. A arquitetura do simulador;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5.2. Métricas de Avaliação;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5.3. Cenários Experimentais;</a:t>
            </a:r>
          </a:p>
          <a:p>
            <a:pPr lvl="1" algn="just">
              <a:lnSpc>
                <a:spcPct val="100000"/>
              </a:lnSpc>
            </a:pPr>
            <a:endParaRPr lang="pt-BR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Resultados;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6.1. Trajetórias;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6.2. Gráficos de RMSE;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6.3. NIS e Histogramas;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6.4. Caso Especial: Oclusão;</a:t>
            </a:r>
          </a:p>
          <a:p>
            <a:pPr lvl="1" algn="just">
              <a:lnSpc>
                <a:spcPct val="100000"/>
              </a:lnSpc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6.5. Resumo dos resultados;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Conclusão;</a:t>
            </a:r>
          </a:p>
          <a:p>
            <a:pPr marL="342900" indent="-342900" algn="just">
              <a:lnSpc>
                <a:spcPct val="100000"/>
              </a:lnSpc>
              <a:buAutoNum type="arabicPeriod"/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Trabalhos Futuros</a:t>
            </a:r>
          </a:p>
          <a:p>
            <a:pPr algn="just">
              <a:lnSpc>
                <a:spcPct val="100000"/>
              </a:lnSpc>
            </a:pP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649A176D-48AC-0BE4-8D78-2B7EB3A4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6A43142-BB92-87FD-0A99-66019A24F411}"/>
              </a:ext>
            </a:extLst>
          </p:cNvPr>
          <p:cNvCxnSpPr>
            <a:cxnSpLocks/>
          </p:cNvCxnSpPr>
          <p:nvPr/>
        </p:nvCxnSpPr>
        <p:spPr>
          <a:xfrm>
            <a:off x="5909188" y="1592826"/>
            <a:ext cx="0" cy="4445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46B9C3F-71E9-5FDD-DFE9-693113F70CF0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02/25</a:t>
            </a:r>
          </a:p>
        </p:txBody>
      </p:sp>
    </p:spTree>
    <p:extLst>
      <p:ext uri="{BB962C8B-B14F-4D97-AF65-F5344CB8AC3E}">
        <p14:creationId xmlns:p14="http://schemas.microsoft.com/office/powerpoint/2010/main" val="395979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9D35-F631-75F8-E5F3-1CF33D64A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8C34EF7-2A48-A108-7DCA-86169AA2702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93C3CF6-F6DB-A1D4-1BFF-DDCD450B57C8}"/>
              </a:ext>
            </a:extLst>
          </p:cNvPr>
          <p:cNvSpPr txBox="1"/>
          <p:nvPr/>
        </p:nvSpPr>
        <p:spPr>
          <a:xfrm>
            <a:off x="1223682" y="887884"/>
            <a:ext cx="311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Contexto e Motivação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EF56090-3847-ED3A-BFCD-CF1757FA3A9C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2AC8F017-6538-6AEF-FC13-AA560BFA3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EFC7C48-2E84-E79F-BCA0-5C2BBBE8096D}"/>
              </a:ext>
            </a:extLst>
          </p:cNvPr>
          <p:cNvSpPr txBox="1"/>
          <p:nvPr/>
        </p:nvSpPr>
        <p:spPr>
          <a:xfrm>
            <a:off x="1223682" y="1738103"/>
            <a:ext cx="9129686" cy="296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b="1" dirty="0"/>
              <a:t>Localização</a:t>
            </a:r>
            <a:r>
              <a:rPr lang="pt-BR" sz="1400" dirty="0"/>
              <a:t> é um requisito </a:t>
            </a:r>
            <a:r>
              <a:rPr lang="pt-BR" sz="1400" b="1" dirty="0"/>
              <a:t>fundamental</a:t>
            </a:r>
            <a:r>
              <a:rPr lang="pt-BR" sz="1400" dirty="0"/>
              <a:t> para a autonomia de robôs móveis.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pt-BR" sz="1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dirty="0"/>
              <a:t>Em </a:t>
            </a:r>
            <a:r>
              <a:rPr lang="pt-BR" sz="1400" i="1" dirty="0"/>
              <a:t>Probabilistic Robotics</a:t>
            </a:r>
            <a:r>
              <a:rPr lang="pt-BR" sz="1400" dirty="0"/>
              <a:t>, </a:t>
            </a:r>
            <a:r>
              <a:rPr lang="pt-BR" sz="1400" dirty="0" err="1"/>
              <a:t>Thrun</a:t>
            </a:r>
            <a:r>
              <a:rPr lang="pt-BR" sz="1400" dirty="0"/>
              <a:t>, </a:t>
            </a:r>
            <a:r>
              <a:rPr lang="pt-BR" sz="1400" dirty="0" err="1"/>
              <a:t>Burgard</a:t>
            </a:r>
            <a:r>
              <a:rPr lang="pt-BR" sz="1400" dirty="0"/>
              <a:t> e Fox (2005) destacam a localização como </a:t>
            </a:r>
            <a:r>
              <a:rPr lang="pt-BR" sz="1400" b="1" dirty="0"/>
              <a:t>um dos problemas fundamentais da robótica móvel.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pt-BR" sz="1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b="1" dirty="0"/>
              <a:t>Erros</a:t>
            </a:r>
            <a:r>
              <a:rPr lang="pt-BR" sz="1400" dirty="0"/>
              <a:t> </a:t>
            </a:r>
            <a:r>
              <a:rPr lang="pt-BR" sz="1400" b="1" dirty="0"/>
              <a:t>instrumentais</a:t>
            </a:r>
            <a:r>
              <a:rPr lang="pt-BR" sz="1400" dirty="0"/>
              <a:t> e </a:t>
            </a:r>
            <a:r>
              <a:rPr lang="pt-BR" sz="1400" b="1" dirty="0"/>
              <a:t>ruídos</a:t>
            </a:r>
            <a:r>
              <a:rPr lang="pt-BR" sz="1400" dirty="0"/>
              <a:t> </a:t>
            </a:r>
            <a:r>
              <a:rPr lang="pt-BR" sz="1400" b="1" dirty="0"/>
              <a:t>aleatórios</a:t>
            </a:r>
            <a:r>
              <a:rPr lang="pt-BR" sz="1400" dirty="0"/>
              <a:t> comprometem a qualidade das </a:t>
            </a:r>
            <a:r>
              <a:rPr lang="pt-BR" sz="1400" b="1" dirty="0"/>
              <a:t>estimativas</a:t>
            </a:r>
            <a:r>
              <a:rPr lang="pt-BR" sz="1400" dirty="0"/>
              <a:t> de posição;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pt-BR" sz="1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dirty="0"/>
              <a:t>Soluções baseadas em GPS/IMU e </a:t>
            </a:r>
            <a:r>
              <a:rPr lang="pt-BR" sz="1400" b="1" dirty="0"/>
              <a:t>multilateração</a:t>
            </a:r>
            <a:r>
              <a:rPr lang="pt-BR" sz="1400" dirty="0"/>
              <a:t> demandam técnicas de </a:t>
            </a:r>
            <a:r>
              <a:rPr lang="pt-BR" sz="1400" b="1" dirty="0"/>
              <a:t>filtragem</a:t>
            </a:r>
            <a:r>
              <a:rPr lang="pt-BR" sz="1400" dirty="0"/>
              <a:t> </a:t>
            </a:r>
            <a:r>
              <a:rPr lang="pt-BR" sz="1400" b="1" dirty="0"/>
              <a:t>probabilística</a:t>
            </a:r>
            <a:r>
              <a:rPr lang="pt-BR" sz="1400" dirty="0"/>
              <a:t> para reduzir incertezas.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3C695FC-9241-4447-6970-2590BA3F448F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03/25</a:t>
            </a:r>
          </a:p>
        </p:txBody>
      </p:sp>
    </p:spTree>
    <p:extLst>
      <p:ext uri="{BB962C8B-B14F-4D97-AF65-F5344CB8AC3E}">
        <p14:creationId xmlns:p14="http://schemas.microsoft.com/office/powerpoint/2010/main" val="327898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6660-DA1D-D9D7-108F-1D48FCAD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BA72657-3D57-A9A0-5BC7-6FF2479CE9C4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F792606-6FD8-F936-A756-3C6764F45E15}"/>
              </a:ext>
            </a:extLst>
          </p:cNvPr>
          <p:cNvSpPr txBox="1"/>
          <p:nvPr/>
        </p:nvSpPr>
        <p:spPr>
          <a:xfrm>
            <a:off x="1223682" y="887884"/>
            <a:ext cx="311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Contexto e Motivação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D857DFC-5C93-31E8-ED8F-AAA9CDBCBFD8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05FCF287-49C8-8C32-E9D1-97A554D02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76B05A79-5BC3-B02D-A47A-3786579E2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514" y="1645231"/>
            <a:ext cx="5559887" cy="4455423"/>
          </a:xfrm>
          <a:prstGeom prst="rect">
            <a:avLst/>
          </a:prstGeom>
        </p:spPr>
      </p:pic>
      <p:pic>
        <p:nvPicPr>
          <p:cNvPr id="26" name="Imagem 25" descr="Untitled">
            <a:extLst>
              <a:ext uri="{FF2B5EF4-FFF2-40B4-BE49-F238E27FC236}">
                <a16:creationId xmlns:a16="http://schemas.microsoft.com/office/drawing/2014/main" id="{C89A9442-7820-2CAB-A30A-C6CF35B85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588" y="2138936"/>
            <a:ext cx="3025642" cy="3413729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9F62083A-6433-1CAB-3B79-CFE15CFF5DE5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04/26</a:t>
            </a:r>
          </a:p>
        </p:txBody>
      </p:sp>
    </p:spTree>
    <p:extLst>
      <p:ext uri="{BB962C8B-B14F-4D97-AF65-F5344CB8AC3E}">
        <p14:creationId xmlns:p14="http://schemas.microsoft.com/office/powerpoint/2010/main" val="182138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5DA9-C19A-9694-13D3-7BF92BB4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52A243-99FB-23EC-D174-4D378BDB07B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0F9F13-B7A9-94C9-0098-73D07CF7B7E9}"/>
              </a:ext>
            </a:extLst>
          </p:cNvPr>
          <p:cNvSpPr txBox="1"/>
          <p:nvPr/>
        </p:nvSpPr>
        <p:spPr>
          <a:xfrm>
            <a:off x="1223682" y="887884"/>
            <a:ext cx="16353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Objetivos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F88969D-9B23-3DAD-CFC3-5EC7A261630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98786219-376C-B1FB-8934-C388E088F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92A66D6-BFBC-D2BD-BB1E-6AF10117F812}"/>
              </a:ext>
            </a:extLst>
          </p:cNvPr>
          <p:cNvSpPr txBox="1"/>
          <p:nvPr/>
        </p:nvSpPr>
        <p:spPr>
          <a:xfrm>
            <a:off x="1223682" y="1777366"/>
            <a:ext cx="9440034" cy="107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>
                <a:latin typeface="+mj-lt"/>
              </a:rPr>
              <a:t>Objetivo Geral</a:t>
            </a:r>
          </a:p>
          <a:p>
            <a:pPr lvl="1" algn="just">
              <a:lnSpc>
                <a:spcPct val="150000"/>
              </a:lnSpc>
            </a:pPr>
            <a:r>
              <a:rPr lang="pt-BR" sz="1400" dirty="0">
                <a:latin typeface="+mj-lt"/>
              </a:rPr>
              <a:t>Desenvolver, Implementar e avaliar o desempenho de um </a:t>
            </a:r>
            <a:r>
              <a:rPr lang="pt-BR" sz="1400" b="1" dirty="0">
                <a:latin typeface="+mj-lt"/>
              </a:rPr>
              <a:t>Filtro de Kalman Estendido (EKF) </a:t>
            </a:r>
            <a:r>
              <a:rPr lang="pt-BR" sz="1400" dirty="0">
                <a:latin typeface="+mj-lt"/>
              </a:rPr>
              <a:t>para o contexto de </a:t>
            </a:r>
            <a:r>
              <a:rPr lang="pt-BR" sz="1400" b="1" dirty="0">
                <a:latin typeface="+mj-lt"/>
              </a:rPr>
              <a:t>rastreamento</a:t>
            </a:r>
            <a:r>
              <a:rPr lang="pt-BR" sz="1400" dirty="0">
                <a:latin typeface="+mj-lt"/>
              </a:rPr>
              <a:t> bidimensional sob </a:t>
            </a:r>
            <a:r>
              <a:rPr lang="pt-BR" sz="1400" b="1" dirty="0">
                <a:latin typeface="+mj-lt"/>
              </a:rPr>
              <a:t>restrições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não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lineares</a:t>
            </a:r>
            <a:r>
              <a:rPr lang="pt-BR" sz="1400" dirty="0">
                <a:latin typeface="+mj-lt"/>
              </a:rPr>
              <a:t> de medição.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593843-7F34-8639-7E71-B1E95EB8D242}"/>
              </a:ext>
            </a:extLst>
          </p:cNvPr>
          <p:cNvSpPr txBox="1"/>
          <p:nvPr/>
        </p:nvSpPr>
        <p:spPr>
          <a:xfrm>
            <a:off x="1223682" y="3125582"/>
            <a:ext cx="9440034" cy="2369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600" b="1" dirty="0">
                <a:latin typeface="+mj-lt"/>
              </a:rPr>
              <a:t>Objetivo Específicos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400" b="1" dirty="0">
                <a:latin typeface="+mj-lt"/>
              </a:rPr>
              <a:t>Modelar</a:t>
            </a:r>
            <a:r>
              <a:rPr lang="pt-BR" sz="1400" dirty="0">
                <a:latin typeface="+mj-lt"/>
              </a:rPr>
              <a:t> a cinemática do alvo (modelo PVA) e as equações não-lineares de medição de distância (</a:t>
            </a:r>
            <a:r>
              <a:rPr lang="pt-BR" sz="1400" i="1" dirty="0">
                <a:latin typeface="+mj-lt"/>
              </a:rPr>
              <a:t>range-</a:t>
            </a:r>
            <a:r>
              <a:rPr lang="pt-BR" sz="1400" i="1" dirty="0" err="1">
                <a:latin typeface="+mj-lt"/>
              </a:rPr>
              <a:t>only</a:t>
            </a:r>
            <a:r>
              <a:rPr lang="pt-BR" sz="1400" dirty="0">
                <a:latin typeface="+mj-lt"/>
              </a:rPr>
              <a:t>);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400" b="1" dirty="0">
                <a:latin typeface="+mj-lt"/>
              </a:rPr>
              <a:t>Estruturar</a:t>
            </a:r>
            <a:r>
              <a:rPr lang="pt-BR" sz="1400" dirty="0">
                <a:latin typeface="+mj-lt"/>
              </a:rPr>
              <a:t> o algoritmo recursivo do Filtro de Kalman Estendido (EKF) para o rastreamento 2D;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400" b="1" dirty="0">
                <a:latin typeface="+mj-lt"/>
              </a:rPr>
              <a:t>Desenvolver</a:t>
            </a:r>
            <a:r>
              <a:rPr lang="pt-BR" sz="1400" dirty="0">
                <a:latin typeface="+mj-lt"/>
              </a:rPr>
              <a:t> um ambiente de simulação modular em Python com interface gráfica (GUI) interativa;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400" b="1" dirty="0">
                <a:latin typeface="+mj-lt"/>
              </a:rPr>
              <a:t>Validar</a:t>
            </a:r>
            <a:r>
              <a:rPr lang="pt-BR" sz="1400" dirty="0">
                <a:latin typeface="+mj-lt"/>
              </a:rPr>
              <a:t> o estimador combinando métricas geométricas (RMSE, Taxa de Inliers) e estatísticas (NIS) relativo à sua sintonia;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pt-BR" sz="1400" b="1" dirty="0">
                <a:latin typeface="+mj-lt"/>
              </a:rPr>
              <a:t>Analisar</a:t>
            </a:r>
            <a:r>
              <a:rPr lang="pt-BR" sz="1400" dirty="0">
                <a:latin typeface="+mj-lt"/>
              </a:rPr>
              <a:t> a precisão e o comportamento do modelo sob condições de oclusão temporária de sinal.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89D6AB-ED4E-D809-8DED-C44F7B26EE06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05/25</a:t>
            </a:r>
          </a:p>
        </p:txBody>
      </p:sp>
    </p:spTree>
    <p:extLst>
      <p:ext uri="{BB962C8B-B14F-4D97-AF65-F5344CB8AC3E}">
        <p14:creationId xmlns:p14="http://schemas.microsoft.com/office/powerpoint/2010/main" val="11136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0513A-1137-D25D-698B-06CA18DA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4E17784-693A-A5E0-E795-3DF6DEE98EC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3A00B1-4673-5E7F-C992-C02313C5D761}"/>
              </a:ext>
            </a:extLst>
          </p:cNvPr>
          <p:cNvSpPr txBox="1"/>
          <p:nvPr/>
        </p:nvSpPr>
        <p:spPr>
          <a:xfrm>
            <a:off x="1223682" y="887884"/>
            <a:ext cx="6423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Fundamentação Teórica: Robótica Probabilística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A3AA830-CC26-5EFE-3A3F-F1C592DCB6F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BA5323FE-DB2A-43CB-6BC0-A3229F69D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4B7B1E2-3640-871D-455E-F67118927921}"/>
              </a:ext>
            </a:extLst>
          </p:cNvPr>
          <p:cNvSpPr txBox="1"/>
          <p:nvPr/>
        </p:nvSpPr>
        <p:spPr>
          <a:xfrm>
            <a:off x="1223682" y="1396557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3.1. </a:t>
            </a:r>
            <a:r>
              <a:rPr lang="pt-BR" sz="1600" dirty="0">
                <a:latin typeface="+mj-lt"/>
              </a:rPr>
              <a:t>Conceito de </a:t>
            </a:r>
            <a:r>
              <a:rPr lang="pt-BR" sz="1600" i="1" dirty="0" err="1">
                <a:latin typeface="+mj-lt"/>
              </a:rPr>
              <a:t>Belief</a:t>
            </a:r>
            <a:r>
              <a:rPr lang="pt-BR" sz="1600" dirty="0">
                <a:latin typeface="+mj-lt"/>
              </a:rPr>
              <a:t> (Crença) e Filtros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endParaRPr lang="pt-BR" sz="1600" dirty="0"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471CCA-DC9F-2FAB-FC2F-E518DA8DED08}"/>
              </a:ext>
            </a:extLst>
          </p:cNvPr>
          <p:cNvSpPr txBox="1"/>
          <p:nvPr/>
        </p:nvSpPr>
        <p:spPr>
          <a:xfrm>
            <a:off x="1321928" y="4632106"/>
            <a:ext cx="9801519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i="1" dirty="0"/>
              <a:t>“[...] A </a:t>
            </a:r>
            <a:r>
              <a:rPr lang="pt-BR" i="1" dirty="0" err="1"/>
              <a:t>robot</a:t>
            </a:r>
            <a:r>
              <a:rPr lang="pt-BR" i="1" dirty="0"/>
              <a:t> </a:t>
            </a:r>
            <a:r>
              <a:rPr lang="pt-BR" i="1" dirty="0" err="1"/>
              <a:t>that</a:t>
            </a:r>
            <a:r>
              <a:rPr lang="pt-BR" i="1" dirty="0"/>
              <a:t> </a:t>
            </a:r>
            <a:r>
              <a:rPr lang="pt-BR" i="1" dirty="0" err="1"/>
              <a:t>carries</a:t>
            </a:r>
            <a:r>
              <a:rPr lang="pt-BR" i="1" dirty="0"/>
              <a:t> a </a:t>
            </a:r>
            <a:r>
              <a:rPr lang="pt-BR" i="1" dirty="0" err="1"/>
              <a:t>notion</a:t>
            </a:r>
            <a:r>
              <a:rPr lang="pt-BR" i="1" dirty="0"/>
              <a:t> </a:t>
            </a:r>
            <a:r>
              <a:rPr lang="pt-BR" i="1" dirty="0" err="1"/>
              <a:t>of</a:t>
            </a:r>
            <a:r>
              <a:rPr lang="pt-BR" i="1" dirty="0"/>
              <a:t> its </a:t>
            </a:r>
            <a:r>
              <a:rPr lang="pt-BR" i="1" dirty="0" err="1"/>
              <a:t>own</a:t>
            </a:r>
            <a:r>
              <a:rPr lang="pt-BR" i="1" dirty="0"/>
              <a:t> </a:t>
            </a:r>
            <a:r>
              <a:rPr lang="pt-BR" i="1" dirty="0" err="1"/>
              <a:t>uncertainty</a:t>
            </a:r>
            <a:r>
              <a:rPr lang="pt-BR" i="1" dirty="0"/>
              <a:t>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that</a:t>
            </a:r>
            <a:r>
              <a:rPr lang="pt-BR" i="1" dirty="0"/>
              <a:t> </a:t>
            </a:r>
            <a:r>
              <a:rPr lang="pt-BR" i="1" dirty="0" err="1"/>
              <a:t>acts</a:t>
            </a:r>
            <a:r>
              <a:rPr lang="pt-BR" i="1" dirty="0"/>
              <a:t> </a:t>
            </a:r>
            <a:r>
              <a:rPr lang="pt-BR" i="1" dirty="0" err="1"/>
              <a:t>accordingly</a:t>
            </a:r>
            <a:r>
              <a:rPr lang="pt-BR" i="1" dirty="0"/>
              <a:t>, </a:t>
            </a:r>
            <a:r>
              <a:rPr lang="pt-BR" i="1" dirty="0" err="1"/>
              <a:t>will</a:t>
            </a:r>
            <a:r>
              <a:rPr lang="pt-BR" i="1" dirty="0"/>
              <a:t> do </a:t>
            </a:r>
            <a:r>
              <a:rPr lang="pt-BR" i="1" dirty="0" err="1"/>
              <a:t>better</a:t>
            </a:r>
            <a:r>
              <a:rPr lang="pt-BR" i="1" dirty="0"/>
              <a:t> </a:t>
            </a:r>
            <a:r>
              <a:rPr lang="pt-BR" i="1" dirty="0" err="1"/>
              <a:t>than</a:t>
            </a:r>
            <a:r>
              <a:rPr lang="pt-BR" i="1" dirty="0"/>
              <a:t> </a:t>
            </a:r>
            <a:r>
              <a:rPr lang="pt-BR" i="1" dirty="0" err="1"/>
              <a:t>one</a:t>
            </a:r>
            <a:r>
              <a:rPr lang="pt-BR" i="1" dirty="0"/>
              <a:t> </a:t>
            </a:r>
            <a:r>
              <a:rPr lang="pt-BR" i="1" dirty="0" err="1"/>
              <a:t>tha</a:t>
            </a:r>
            <a:r>
              <a:rPr lang="pt-BR" i="1" dirty="0"/>
              <a:t> does </a:t>
            </a:r>
            <a:r>
              <a:rPr lang="pt-BR" i="1" dirty="0" err="1"/>
              <a:t>not</a:t>
            </a:r>
            <a:r>
              <a:rPr lang="pt-BR" i="1" dirty="0"/>
              <a:t>.”  </a:t>
            </a:r>
          </a:p>
          <a:p>
            <a:pPr algn="r">
              <a:lnSpc>
                <a:spcPct val="150000"/>
              </a:lnSpc>
            </a:pPr>
            <a:r>
              <a:rPr lang="pt-BR" i="1" dirty="0"/>
              <a:t>- THRUN; BURGARD; FOX, 2005.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32315F-49EF-909F-917C-274CEDC6D423}"/>
              </a:ext>
            </a:extLst>
          </p:cNvPr>
          <p:cNvSpPr/>
          <p:nvPr/>
        </p:nvSpPr>
        <p:spPr>
          <a:xfrm>
            <a:off x="2949677" y="2220854"/>
            <a:ext cx="1809135" cy="1017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Modelo determinístico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723531-7AB9-929C-EB4D-DA3A4A6389DA}"/>
              </a:ext>
            </a:extLst>
          </p:cNvPr>
          <p:cNvSpPr/>
          <p:nvPr/>
        </p:nvSpPr>
        <p:spPr>
          <a:xfrm>
            <a:off x="6772164" y="2220854"/>
            <a:ext cx="1809135" cy="10172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Modelo Probabilístico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5822E0E5-FDA7-3A2A-DE36-E807EE13F902}"/>
              </a:ext>
            </a:extLst>
          </p:cNvPr>
          <p:cNvSpPr/>
          <p:nvPr/>
        </p:nvSpPr>
        <p:spPr>
          <a:xfrm>
            <a:off x="5308288" y="2572169"/>
            <a:ext cx="914400" cy="31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96B3D92-7D49-9FD8-D9A0-D6B9E03E4108}"/>
                  </a:ext>
                </a:extLst>
              </p:cNvPr>
              <p:cNvSpPr txBox="1"/>
              <p:nvPr/>
            </p:nvSpPr>
            <p:spPr>
              <a:xfrm>
                <a:off x="2876822" y="3487344"/>
                <a:ext cx="1909689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−1 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96B3D92-7D49-9FD8-D9A0-D6B9E03E4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822" y="3487344"/>
                <a:ext cx="1909689" cy="617861"/>
              </a:xfrm>
              <a:prstGeom prst="rect">
                <a:avLst/>
              </a:prstGeom>
              <a:blipFill>
                <a:blip r:embed="rId3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0A325BE-8A4C-65B6-F1A1-015D5DFD854E}"/>
                  </a:ext>
                </a:extLst>
              </p:cNvPr>
              <p:cNvSpPr txBox="1"/>
              <p:nvPr/>
            </p:nvSpPr>
            <p:spPr>
              <a:xfrm>
                <a:off x="6644878" y="3522465"/>
                <a:ext cx="2063705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~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0A325BE-8A4C-65B6-F1A1-015D5DFD8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878" y="3522465"/>
                <a:ext cx="2063705" cy="617861"/>
              </a:xfrm>
              <a:prstGeom prst="rect">
                <a:avLst/>
              </a:prstGeom>
              <a:blipFill>
                <a:blip r:embed="rId4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40375F-7E8F-B7D6-C170-F312D501E5FB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06/25</a:t>
            </a:r>
          </a:p>
        </p:txBody>
      </p:sp>
    </p:spTree>
    <p:extLst>
      <p:ext uri="{BB962C8B-B14F-4D97-AF65-F5344CB8AC3E}">
        <p14:creationId xmlns:p14="http://schemas.microsoft.com/office/powerpoint/2010/main" val="191135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68EE-2F2A-24DB-F3E5-82C76DC5F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80A12D8-8386-D93A-47D3-F1D10490DFA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B5F404D-7D76-02F2-CB28-AAD306F14714}"/>
              </a:ext>
            </a:extLst>
          </p:cNvPr>
          <p:cNvSpPr txBox="1"/>
          <p:nvPr/>
        </p:nvSpPr>
        <p:spPr>
          <a:xfrm>
            <a:off x="1223682" y="887884"/>
            <a:ext cx="6423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Fundamentação Teórica: Robótica Probabilística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5A4F987-818F-D30B-5CE5-0ACEC184874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8B47F50F-5C9A-6E77-D1DD-0F1B87F19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FFA363F-61BB-51E6-C244-092A21D85462}"/>
              </a:ext>
            </a:extLst>
          </p:cNvPr>
          <p:cNvSpPr txBox="1"/>
          <p:nvPr/>
        </p:nvSpPr>
        <p:spPr>
          <a:xfrm>
            <a:off x="1223682" y="1396557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3.1. </a:t>
            </a:r>
            <a:r>
              <a:rPr lang="pt-BR" sz="1600" dirty="0">
                <a:latin typeface="+mj-lt"/>
              </a:rPr>
              <a:t>Conceito de </a:t>
            </a:r>
            <a:r>
              <a:rPr lang="pt-BR" sz="1600" i="1" dirty="0" err="1">
                <a:latin typeface="+mj-lt"/>
              </a:rPr>
              <a:t>Belief</a:t>
            </a:r>
            <a:r>
              <a:rPr lang="pt-BR" sz="1600" dirty="0">
                <a:latin typeface="+mj-lt"/>
              </a:rPr>
              <a:t> (Crença) e Filtros de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endParaRPr lang="pt-BR" sz="1600" dirty="0">
              <a:latin typeface="+mj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833CC6-BC3C-E370-99BD-5F70D9A2B3C4}"/>
              </a:ext>
            </a:extLst>
          </p:cNvPr>
          <p:cNvSpPr txBox="1"/>
          <p:nvPr/>
        </p:nvSpPr>
        <p:spPr>
          <a:xfrm>
            <a:off x="1223682" y="2113646"/>
            <a:ext cx="6690495" cy="103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/>
              <a:t>A </a:t>
            </a:r>
            <a:r>
              <a:rPr lang="pt-BR" sz="1400" b="1" dirty="0"/>
              <a:t>crença</a:t>
            </a:r>
            <a:r>
              <a:rPr lang="pt-BR" sz="1400" dirty="0"/>
              <a:t> (</a:t>
            </a:r>
            <a:r>
              <a:rPr lang="pt-BR" sz="1400" i="1" dirty="0" err="1"/>
              <a:t>belief</a:t>
            </a:r>
            <a:r>
              <a:rPr lang="pt-BR" sz="1400" dirty="0"/>
              <a:t>) representa a </a:t>
            </a:r>
            <a:r>
              <a:rPr lang="pt-BR" sz="1400" b="1" dirty="0"/>
              <a:t>estimativa</a:t>
            </a:r>
            <a:r>
              <a:rPr lang="pt-BR" sz="1400" dirty="0"/>
              <a:t> que o robô possui sobre </a:t>
            </a:r>
            <a:r>
              <a:rPr lang="pt-BR" sz="1400" b="1" dirty="0"/>
              <a:t>seu</a:t>
            </a:r>
            <a:r>
              <a:rPr lang="pt-BR" sz="1400" dirty="0"/>
              <a:t> </a:t>
            </a:r>
            <a:r>
              <a:rPr lang="pt-BR" sz="1400" b="1" dirty="0"/>
              <a:t>estado</a:t>
            </a:r>
            <a:r>
              <a:rPr lang="pt-BR" sz="1400" dirty="0"/>
              <a:t> e </a:t>
            </a:r>
            <a:r>
              <a:rPr lang="pt-BR" sz="1400" b="1" dirty="0"/>
              <a:t>sua</a:t>
            </a:r>
            <a:r>
              <a:rPr lang="pt-BR" sz="1400" dirty="0"/>
              <a:t> </a:t>
            </a:r>
            <a:r>
              <a:rPr lang="pt-BR" sz="1400" b="1" dirty="0"/>
              <a:t>incerteza</a:t>
            </a:r>
            <a:r>
              <a:rPr lang="pt-BR" sz="1400" dirty="0"/>
              <a:t>, enquanto o </a:t>
            </a:r>
            <a:r>
              <a:rPr lang="pt-BR" sz="1400" b="1" dirty="0"/>
              <a:t>Filtro</a:t>
            </a:r>
            <a:r>
              <a:rPr lang="pt-BR" sz="1400" dirty="0"/>
              <a:t> </a:t>
            </a:r>
            <a:r>
              <a:rPr lang="pt-BR" sz="1400" b="1" dirty="0"/>
              <a:t>de</a:t>
            </a:r>
            <a:r>
              <a:rPr lang="pt-BR" sz="1400" dirty="0"/>
              <a:t> </a:t>
            </a:r>
            <a:r>
              <a:rPr lang="pt-BR" sz="1400" b="1" dirty="0" err="1"/>
              <a:t>Bayes</a:t>
            </a:r>
            <a:r>
              <a:rPr lang="pt-BR" sz="1400" dirty="0"/>
              <a:t> é o método matemático que atualiza essa estimativa com base nas medições dos sensores e no modelo do sistema.</a:t>
            </a:r>
            <a:endParaRPr lang="pt-BR" sz="1400" dirty="0">
              <a:latin typeface="+mj-lt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B0E2F7D-0D7F-2453-FC4C-76C135FDE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13" y="4317634"/>
            <a:ext cx="4231534" cy="165248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49E01CF1-6DA6-306D-9DC0-8771F3544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211" y="3531987"/>
            <a:ext cx="2420938" cy="368096"/>
          </a:xfrm>
          <a:prstGeom prst="rect">
            <a:avLst/>
          </a:prstGeom>
          <a:ln>
            <a:noFill/>
          </a:ln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B259E1F-DAE0-E6F3-322B-3A8F74DD1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04" y="1560392"/>
            <a:ext cx="3461849" cy="4779631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892ACB7C-925D-4E73-0444-895B9A3444A7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07/25</a:t>
            </a:r>
          </a:p>
        </p:txBody>
      </p:sp>
    </p:spTree>
    <p:extLst>
      <p:ext uri="{BB962C8B-B14F-4D97-AF65-F5344CB8AC3E}">
        <p14:creationId xmlns:p14="http://schemas.microsoft.com/office/powerpoint/2010/main" val="3414279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C121-3EF6-2D61-63D8-5E99EE06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CE1C0CC-894E-EB9B-1E5E-963E005D3AA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802BA2-28C4-4C44-B525-643BE999A744}"/>
              </a:ext>
            </a:extLst>
          </p:cNvPr>
          <p:cNvSpPr txBox="1"/>
          <p:nvPr/>
        </p:nvSpPr>
        <p:spPr>
          <a:xfrm>
            <a:off x="1223682" y="887884"/>
            <a:ext cx="6423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Fundamentação Teórica: Robótica Probabilística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E8F5887-128F-4EC0-484F-62BDBE70A1B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59BF23AC-211D-639F-4E94-7D9D39184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710934D-AF9D-5AF4-8206-5C39F440AE53}"/>
              </a:ext>
            </a:extLst>
          </p:cNvPr>
          <p:cNvSpPr txBox="1"/>
          <p:nvPr/>
        </p:nvSpPr>
        <p:spPr>
          <a:xfrm>
            <a:off x="1223682" y="1396557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3.2. </a:t>
            </a:r>
            <a:r>
              <a:rPr lang="pt-BR" sz="1600" dirty="0">
                <a:latin typeface="+mj-lt"/>
              </a:rPr>
              <a:t>Filtro de Kalman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9D8CF1-EA21-D736-CF8E-48E24DCC6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428704"/>
            <a:ext cx="5401221" cy="271253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157C754-2261-E081-7BDF-5945D2162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019" y="3828978"/>
            <a:ext cx="3863665" cy="206781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55B6D77-35AD-0104-6611-BC2C9C636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84" y="1848572"/>
            <a:ext cx="2494629" cy="784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A340735-3AE6-6569-96E5-C0501554E1C1}"/>
                  </a:ext>
                </a:extLst>
              </p:cNvPr>
              <p:cNvSpPr txBox="1"/>
              <p:nvPr/>
            </p:nvSpPr>
            <p:spPr>
              <a:xfrm>
                <a:off x="1312338" y="2729162"/>
                <a:ext cx="9872602" cy="706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1400" dirty="0"/>
                  <a:t>O Filtro de Kalman é aplicado a modelos lineares do tipo </a:t>
                </a:r>
                <a:r>
                  <a:rPr lang="pt-BR" sz="1400" b="1" dirty="0"/>
                  <a:t>Gauss-Markov</a:t>
                </a:r>
                <a:r>
                  <a:rPr lang="pt-BR" sz="1400" dirty="0"/>
                  <a:t>, assumindo que os ruídos de processo e de medição são </a:t>
                </a:r>
                <a:r>
                  <a:rPr lang="pt-BR" sz="1400" b="1" dirty="0"/>
                  <a:t>Gaussianos</a:t>
                </a:r>
                <a:r>
                  <a:rPr lang="pt-BR" sz="1400" dirty="0"/>
                  <a:t> de média nula, isto é,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pt-BR" sz="14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pt-BR" sz="1400" b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1400" b="1" i="1">
                        <a:latin typeface="Cambria Math" panose="02040503050406030204" pitchFamily="18" charset="0"/>
                      </a:rPr>
                      <m:t>𝓝</m:t>
                    </m:r>
                    <m:d>
                      <m:d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</m:d>
                  </m:oMath>
                </a14:m>
                <a:r>
                  <a:rPr lang="pt-BR" sz="1400" dirty="0"/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1" i="1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pt-BR" sz="1400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pt-BR" sz="1400" b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pt-BR" sz="1400" b="1" i="1">
                        <a:latin typeface="Cambria Math" panose="02040503050406030204" pitchFamily="18" charset="0"/>
                      </a:rPr>
                      <m:t>𝓝</m:t>
                    </m:r>
                    <m:r>
                      <a:rPr lang="pt-BR" sz="1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pt-BR" sz="1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1400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pt-BR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1400" dirty="0"/>
                  <a:t>.</a:t>
                </a:r>
                <a:endParaRPr lang="pt-BR" sz="14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6A340735-3AE6-6569-96E5-C0501554E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338" y="2729162"/>
                <a:ext cx="9872602" cy="706540"/>
              </a:xfrm>
              <a:prstGeom prst="rect">
                <a:avLst/>
              </a:prstGeom>
              <a:blipFill>
                <a:blip r:embed="rId6"/>
                <a:stretch>
                  <a:fillRect l="-185" r="-123" b="-77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30F287-0C52-79B4-293A-9C8D6C47A2A3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08/25</a:t>
            </a:r>
          </a:p>
        </p:txBody>
      </p:sp>
    </p:spTree>
    <p:extLst>
      <p:ext uri="{BB962C8B-B14F-4D97-AF65-F5344CB8AC3E}">
        <p14:creationId xmlns:p14="http://schemas.microsoft.com/office/powerpoint/2010/main" val="33015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052B-827B-261A-2DA4-386ADC03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CBE88FB-A703-85A3-DB8D-65C7D7C410A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FC8F96B-4872-356A-D6FB-5CFF07057297}"/>
              </a:ext>
            </a:extLst>
          </p:cNvPr>
          <p:cNvSpPr txBox="1"/>
          <p:nvPr/>
        </p:nvSpPr>
        <p:spPr>
          <a:xfrm>
            <a:off x="1223682" y="887884"/>
            <a:ext cx="6423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Fundamentação Teórica: Robótica Probabilística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623D9CF-003F-8894-BAEB-F71404AA55A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84A47140-A9EB-6403-EE01-5CA34E87A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5869483-98C7-B24C-DF5B-423D1D0E6BDC}"/>
              </a:ext>
            </a:extLst>
          </p:cNvPr>
          <p:cNvSpPr txBox="1"/>
          <p:nvPr/>
        </p:nvSpPr>
        <p:spPr>
          <a:xfrm>
            <a:off x="1223682" y="1396557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3.2. </a:t>
            </a:r>
            <a:r>
              <a:rPr lang="pt-BR" sz="1600" dirty="0">
                <a:latin typeface="+mj-lt"/>
              </a:rPr>
              <a:t>Por que o EKF?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19DB1C3-07DC-E7E9-CB2D-C1DCCC6D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231" y="1931952"/>
            <a:ext cx="2434936" cy="8256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D88965C-54C5-0111-C7B3-C24C7396865D}"/>
                  </a:ext>
                </a:extLst>
              </p:cNvPr>
              <p:cNvSpPr txBox="1"/>
              <p:nvPr/>
            </p:nvSpPr>
            <p:spPr>
              <a:xfrm>
                <a:off x="1223682" y="2866809"/>
                <a:ext cx="10053918" cy="706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1400" dirty="0"/>
                  <a:t>Quando o modelo de transição de estados ou de observação não é no </a:t>
                </a:r>
                <a:r>
                  <a:rPr lang="pt-BR" sz="1400" b="1" dirty="0"/>
                  <a:t>formato linear</a:t>
                </a:r>
                <a:r>
                  <a:rPr lang="pt-BR" sz="1400" dirty="0"/>
                  <a:t>, é utilizado uma linearização por expansão de </a:t>
                </a:r>
                <a:r>
                  <a:rPr lang="pt-BR" sz="1400" b="1" dirty="0"/>
                  <a:t>séries</a:t>
                </a:r>
                <a:r>
                  <a:rPr lang="pt-BR" sz="1400" dirty="0"/>
                  <a:t> </a:t>
                </a:r>
                <a:r>
                  <a:rPr lang="pt-BR" sz="1400" b="1" dirty="0"/>
                  <a:t>de</a:t>
                </a:r>
                <a:r>
                  <a:rPr lang="pt-BR" sz="1400" dirty="0"/>
                  <a:t> </a:t>
                </a:r>
                <a:r>
                  <a:rPr lang="pt-BR" sz="1400" b="1" dirty="0"/>
                  <a:t>Taylor</a:t>
                </a:r>
                <a:r>
                  <a:rPr lang="pt-BR" sz="1400" dirty="0"/>
                  <a:t> calculando, portanto, as jacobianas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1400" b="1" dirty="0">
                    <a:latin typeface="+mj-lt"/>
                  </a:rPr>
                  <a:t> </a:t>
                </a:r>
                <a:r>
                  <a:rPr lang="pt-BR" sz="1400" dirty="0">
                    <a:latin typeface="+mj-lt"/>
                  </a:rPr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pt-BR" sz="1400" b="1" dirty="0">
                    <a:latin typeface="+mj-lt"/>
                  </a:rPr>
                  <a:t>, </a:t>
                </a:r>
                <a:r>
                  <a:rPr lang="pt-BR" sz="1400" dirty="0">
                    <a:latin typeface="+mj-lt"/>
                  </a:rPr>
                  <a:t>substituindo as matrizes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1400" b="1" dirty="0">
                    <a:latin typeface="+mj-lt"/>
                  </a:rPr>
                  <a:t> </a:t>
                </a:r>
                <a:r>
                  <a:rPr lang="pt-BR" sz="1400" dirty="0">
                    <a:latin typeface="+mj-lt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1400" b="1" dirty="0">
                    <a:latin typeface="+mj-lt"/>
                  </a:rPr>
                  <a:t> </a:t>
                </a:r>
                <a:r>
                  <a:rPr lang="pt-BR" sz="1400" dirty="0">
                    <a:latin typeface="+mj-lt"/>
                  </a:rPr>
                  <a:t>no algoritmo do filtro.</a:t>
                </a:r>
                <a:endParaRPr lang="pt-BR" sz="1400" b="1" dirty="0">
                  <a:latin typeface="+mj-lt"/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9D88965C-54C5-0111-C7B3-C24C73968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2866809"/>
                <a:ext cx="10053918" cy="706540"/>
              </a:xfrm>
              <a:prstGeom prst="rect">
                <a:avLst/>
              </a:prstGeom>
              <a:blipFill>
                <a:blip r:embed="rId4"/>
                <a:stretch>
                  <a:fillRect l="-182" r="-182" b="-86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B985984C-6C75-0ED0-C3FB-723BF76C8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153" y="4070280"/>
            <a:ext cx="2908776" cy="155941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A6DCE1-3365-0379-2EF3-1A17A2A6FDD5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09/25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1F7B6114-2831-9A6F-E585-22CD89C45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008" y="3731833"/>
            <a:ext cx="4171553" cy="254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7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0D70-0355-D3CE-0311-BBF49000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F9CBF34-313C-9AD6-1023-13F5256569E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CD92292-8ED6-D315-EA51-57D6E890E1BC}"/>
              </a:ext>
            </a:extLst>
          </p:cNvPr>
          <p:cNvSpPr txBox="1"/>
          <p:nvPr/>
        </p:nvSpPr>
        <p:spPr>
          <a:xfrm>
            <a:off x="1223682" y="887884"/>
            <a:ext cx="354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Formulação do Problema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4444EE5-1C5E-74F0-487D-B0B9117ACAE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8D94CBB7-229C-9A2F-6C75-36A5555B6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553DA30-2F86-5511-D585-45AB6D6D66BC}"/>
              </a:ext>
            </a:extLst>
          </p:cNvPr>
          <p:cNvSpPr txBox="1"/>
          <p:nvPr/>
        </p:nvSpPr>
        <p:spPr>
          <a:xfrm>
            <a:off x="1223682" y="1396557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4.1. </a:t>
            </a:r>
            <a:r>
              <a:rPr lang="pt-BR" sz="1600" dirty="0">
                <a:latin typeface="+mj-lt"/>
              </a:rPr>
              <a:t>Descrição do Problema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6E1FD8D-B828-FFF0-50B2-7A117F368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548535"/>
            <a:ext cx="5074578" cy="4222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15AE95F-0899-1D57-4131-02D29B5C362D}"/>
                  </a:ext>
                </a:extLst>
              </p:cNvPr>
              <p:cNvSpPr txBox="1"/>
              <p:nvPr/>
            </p:nvSpPr>
            <p:spPr>
              <a:xfrm>
                <a:off x="1223682" y="2268119"/>
                <a:ext cx="4376488" cy="3154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pt-BR" sz="1400" b="1" dirty="0"/>
                  <a:t>Objeto:</a:t>
                </a:r>
                <a:r>
                  <a:rPr lang="pt-BR" sz="1400" dirty="0"/>
                  <a:t> Robô móvel em plano 2D.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pt-BR" sz="14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pt-BR" sz="1400" b="1" dirty="0"/>
                  <a:t>Descrição do ambiente:</a:t>
                </a:r>
                <a:r>
                  <a:rPr lang="pt-BR" sz="1400" dirty="0"/>
                  <a:t> 4 estações base fixas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1400" dirty="0"/>
                  <a:t> (âncoras).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pt-BR" sz="14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pt-BR" sz="1400" b="1" dirty="0"/>
                  <a:t>Desafio:</a:t>
                </a:r>
                <a:r>
                  <a:rPr lang="pt-BR" sz="1400" dirty="0"/>
                  <a:t> Melhorar a estimativa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1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1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pt-BR" sz="1400" dirty="0"/>
                  <a:t> do robô via medições de distância ruidosas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t-BR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1400" dirty="0"/>
                  <a:t> do robô até as torres i.</a:t>
                </a:r>
              </a:p>
              <a:p>
                <a:endParaRPr lang="pt-BR" sz="1400" dirty="0"/>
              </a:p>
              <a:p>
                <a:endParaRPr lang="pt-BR" sz="1400" dirty="0"/>
              </a:p>
              <a:p>
                <a:endParaRPr lang="pt-B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pt-BR" sz="1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  <a:p>
                <a:r>
                  <a:rPr lang="pt-BR" sz="1400" dirty="0"/>
                  <a:t>	</a:t>
                </a:r>
                <a:endParaRPr lang="pt-B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p>
                        <m:sSupPr>
                          <m:ctrlPr>
                            <a:rPr lang="pt-B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15AE95F-0899-1D57-4131-02D29B5C3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2268119"/>
                <a:ext cx="4376488" cy="3154005"/>
              </a:xfrm>
              <a:prstGeom prst="rect">
                <a:avLst/>
              </a:prstGeom>
              <a:blipFill>
                <a:blip r:embed="rId4"/>
                <a:stretch>
                  <a:fillRect l="-279" t="-3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5401338-211E-2AB2-733C-56F03EBC613A}"/>
                  </a:ext>
                </a:extLst>
              </p:cNvPr>
              <p:cNvSpPr txBox="1"/>
              <p:nvPr/>
            </p:nvSpPr>
            <p:spPr>
              <a:xfrm>
                <a:off x="8234516" y="4141750"/>
                <a:ext cx="58501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F5401338-211E-2AB2-733C-56F03EBC6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16" y="4141750"/>
                <a:ext cx="585019" cy="246221"/>
              </a:xfrm>
              <a:prstGeom prst="rect">
                <a:avLst/>
              </a:prstGeom>
              <a:blipFill>
                <a:blip r:embed="rId5"/>
                <a:stretch>
                  <a:fillRect l="-16667" r="-22917" b="-317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C395E829-A64C-F42E-525B-96615A5ED584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10/25</a:t>
            </a:r>
          </a:p>
        </p:txBody>
      </p:sp>
    </p:spTree>
    <p:extLst>
      <p:ext uri="{BB962C8B-B14F-4D97-AF65-F5344CB8AC3E}">
        <p14:creationId xmlns:p14="http://schemas.microsoft.com/office/powerpoint/2010/main" val="3856707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67FA-8528-F504-3C6D-7F11B22A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1799290-59A3-FA27-8CCA-EF9A8A56D4C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0BEC988-788D-EE1F-098C-F82B72CFADF6}"/>
              </a:ext>
            </a:extLst>
          </p:cNvPr>
          <p:cNvSpPr txBox="1"/>
          <p:nvPr/>
        </p:nvSpPr>
        <p:spPr>
          <a:xfrm>
            <a:off x="1223682" y="887884"/>
            <a:ext cx="35461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Formulação do Problema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9C687CB-1381-2EEE-DBC0-987E22B68E45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8127D6BA-E897-042D-4E8E-92C19810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690756B-04EE-59D4-3EC5-9BD6CB8EE9DA}"/>
              </a:ext>
            </a:extLst>
          </p:cNvPr>
          <p:cNvSpPr txBox="1"/>
          <p:nvPr/>
        </p:nvSpPr>
        <p:spPr>
          <a:xfrm>
            <a:off x="1223682" y="1396557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4.2. </a:t>
            </a:r>
            <a:r>
              <a:rPr lang="pt-BR" sz="1600" dirty="0">
                <a:latin typeface="+mj-lt"/>
              </a:rPr>
              <a:t>Descrição dos Modelos Utilizados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A6400CB-455D-630B-CE39-C7663143DBB3}"/>
              </a:ext>
            </a:extLst>
          </p:cNvPr>
          <p:cNvCxnSpPr>
            <a:cxnSpLocks/>
          </p:cNvCxnSpPr>
          <p:nvPr/>
        </p:nvCxnSpPr>
        <p:spPr>
          <a:xfrm>
            <a:off x="6007511" y="2181211"/>
            <a:ext cx="0" cy="4087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EA37E8-F708-A8DB-793B-05E0862D459D}"/>
              </a:ext>
            </a:extLst>
          </p:cNvPr>
          <p:cNvSpPr txBox="1"/>
          <p:nvPr/>
        </p:nvSpPr>
        <p:spPr>
          <a:xfrm>
            <a:off x="2285370" y="1822764"/>
            <a:ext cx="22657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u="sng" dirty="0"/>
              <a:t>Transição de Estados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603B95-715B-48F2-F61F-C2F2EB312A68}"/>
              </a:ext>
            </a:extLst>
          </p:cNvPr>
          <p:cNvSpPr txBox="1"/>
          <p:nvPr/>
        </p:nvSpPr>
        <p:spPr>
          <a:xfrm>
            <a:off x="7978667" y="1880244"/>
            <a:ext cx="27350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u="sng" dirty="0"/>
              <a:t>Observação (Não linear)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DAADD22-773C-748E-DC67-41B40F23F51E}"/>
              </a:ext>
            </a:extLst>
          </p:cNvPr>
          <p:cNvSpPr txBox="1"/>
          <p:nvPr/>
        </p:nvSpPr>
        <p:spPr>
          <a:xfrm>
            <a:off x="1223682" y="2198700"/>
            <a:ext cx="1656773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Vetor de Estado:</a:t>
            </a:r>
            <a:endParaRPr lang="pt-BR" sz="1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45980A8-ABDC-5A70-A7F4-2816BEDF5663}"/>
                  </a:ext>
                </a:extLst>
              </p:cNvPr>
              <p:cNvSpPr txBox="1"/>
              <p:nvPr/>
            </p:nvSpPr>
            <p:spPr>
              <a:xfrm>
                <a:off x="2400028" y="2693772"/>
                <a:ext cx="181947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sz="16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pt-BR" sz="16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pt-BR" sz="16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pt-BR" sz="1600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̈"/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̈"/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45980A8-ABDC-5A70-A7F4-2816BEDF5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028" y="2693772"/>
                <a:ext cx="1819472" cy="246221"/>
              </a:xfrm>
              <a:prstGeom prst="rect">
                <a:avLst/>
              </a:prstGeom>
              <a:blipFill>
                <a:blip r:embed="rId3"/>
                <a:stretch>
                  <a:fillRect l="-1342" t="-5000" r="-5369" b="-2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D44121-5344-D400-641A-98E4CB6F3F05}"/>
              </a:ext>
            </a:extLst>
          </p:cNvPr>
          <p:cNvSpPr txBox="1"/>
          <p:nvPr/>
        </p:nvSpPr>
        <p:spPr>
          <a:xfrm>
            <a:off x="6169925" y="3044536"/>
            <a:ext cx="4584114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Matriz de Transição de Estados:</a:t>
            </a:r>
            <a:endParaRPr lang="pt-BR" sz="1400" b="1" dirty="0">
              <a:latin typeface="+mj-lt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4875689-8E12-AF98-6A10-21325DA00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125" y="3389474"/>
            <a:ext cx="2621396" cy="1397062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8A813350-0FBD-4BFA-9632-1B9052E8771B}"/>
              </a:ext>
            </a:extLst>
          </p:cNvPr>
          <p:cNvSpPr txBox="1"/>
          <p:nvPr/>
        </p:nvSpPr>
        <p:spPr>
          <a:xfrm>
            <a:off x="1169375" y="4891180"/>
            <a:ext cx="2822705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Covariância do erro do modelo:</a:t>
            </a:r>
            <a:endParaRPr lang="pt-BR" sz="1400" b="1" dirty="0">
              <a:latin typeface="+mj-lt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5C6D01C-1EF1-0C3C-962C-99E4CB2F64E1}"/>
              </a:ext>
            </a:extLst>
          </p:cNvPr>
          <p:cNvSpPr txBox="1"/>
          <p:nvPr/>
        </p:nvSpPr>
        <p:spPr>
          <a:xfrm>
            <a:off x="6169925" y="2248765"/>
            <a:ext cx="4584114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Vetor de Observações:</a:t>
            </a:r>
            <a:endParaRPr lang="pt-BR" sz="1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FFD0EFA6-3232-0A4D-28DE-7A327319134E}"/>
                  </a:ext>
                </a:extLst>
              </p:cNvPr>
              <p:cNvSpPr txBox="1"/>
              <p:nvPr/>
            </p:nvSpPr>
            <p:spPr>
              <a:xfrm>
                <a:off x="7872334" y="2594077"/>
                <a:ext cx="2388410" cy="3266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6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1600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4,</m:t>
                                  </m:r>
                                  <m:r>
                                    <a:rPr lang="pt-B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FFD0EFA6-3232-0A4D-28DE-7A327319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334" y="2594077"/>
                <a:ext cx="2388410" cy="326693"/>
              </a:xfrm>
              <a:prstGeom prst="rect">
                <a:avLst/>
              </a:prstGeom>
              <a:blipFill>
                <a:blip r:embed="rId5"/>
                <a:stretch>
                  <a:fillRect l="-765" r="-255" b="-94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ixaDeTexto 20">
            <a:extLst>
              <a:ext uri="{FF2B5EF4-FFF2-40B4-BE49-F238E27FC236}">
                <a16:creationId xmlns:a16="http://schemas.microsoft.com/office/drawing/2014/main" id="{11DF2B90-4C9C-4F4F-218B-440BAA079F74}"/>
              </a:ext>
            </a:extLst>
          </p:cNvPr>
          <p:cNvSpPr txBox="1"/>
          <p:nvPr/>
        </p:nvSpPr>
        <p:spPr>
          <a:xfrm>
            <a:off x="1240061" y="3005010"/>
            <a:ext cx="2775581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Matriz de Transição de Estados:</a:t>
            </a:r>
            <a:endParaRPr lang="pt-BR" sz="1400" b="1" dirty="0">
              <a:latin typeface="+mj-lt"/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9439981-D1C1-9BA1-B4DA-AE243D794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84" y="3479670"/>
            <a:ext cx="3003812" cy="40011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02B71E3-B624-67E5-7957-0E0EF9FFF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028" y="5479346"/>
            <a:ext cx="2749771" cy="3010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2736E820-ABD5-F52C-9879-3EB7009A497A}"/>
                  </a:ext>
                </a:extLst>
              </p:cNvPr>
              <p:cNvSpPr txBox="1"/>
              <p:nvPr/>
            </p:nvSpPr>
            <p:spPr>
              <a:xfrm>
                <a:off x="2441222" y="5970116"/>
                <a:ext cx="102739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sub>
                      </m:sSub>
                      <m:r>
                        <a:rPr lang="pt-BR" sz="1600" b="1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sub>
                      </m:sSub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1600" b="0" i="0" smtClean="0">
                          <a:latin typeface="Cambria Math" panose="02040503050406030204" pitchFamily="18" charset="0"/>
                        </a:rPr>
                        <m:t>ΔT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2736E820-ABD5-F52C-9879-3EB7009A4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222" y="5970116"/>
                <a:ext cx="1027393" cy="246221"/>
              </a:xfrm>
              <a:prstGeom prst="rect">
                <a:avLst/>
              </a:prstGeom>
              <a:blipFill>
                <a:blip r:embed="rId8"/>
                <a:stretch>
                  <a:fillRect l="-7692" r="-6509" b="-268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95C4871-6729-0FE9-4563-323C53930385}"/>
                  </a:ext>
                </a:extLst>
              </p:cNvPr>
              <p:cNvSpPr txBox="1"/>
              <p:nvPr/>
            </p:nvSpPr>
            <p:spPr>
              <a:xfrm>
                <a:off x="3999263" y="5960944"/>
                <a:ext cx="80009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 b="0" i="0" smtClean="0">
                        <a:latin typeface="Cambria Math" panose="02040503050406030204" pitchFamily="18" charset="0"/>
                      </a:rPr>
                      <m:t>ΔT</m:t>
                    </m:r>
                    <m:r>
                      <a:rPr lang="pt-BR" sz="1600" b="0" i="0" smtClean="0">
                        <a:latin typeface="Cambria Math" panose="02040503050406030204" pitchFamily="18" charset="0"/>
                      </a:rPr>
                      <m:t>≪1)</m:t>
                    </m:r>
                  </m:oMath>
                </a14:m>
                <a:endParaRPr lang="pt-BR" sz="16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B95C4871-6729-0FE9-4563-323C53930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263" y="5960944"/>
                <a:ext cx="800091" cy="246221"/>
              </a:xfrm>
              <a:prstGeom prst="rect">
                <a:avLst/>
              </a:prstGeom>
              <a:blipFill>
                <a:blip r:embed="rId9"/>
                <a:stretch>
                  <a:fillRect l="-15267" t="-27500" r="-11450" b="-5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aixaDeTexto 27">
            <a:extLst>
              <a:ext uri="{FF2B5EF4-FFF2-40B4-BE49-F238E27FC236}">
                <a16:creationId xmlns:a16="http://schemas.microsoft.com/office/drawing/2014/main" id="{4188225C-FD96-7230-8782-45F8E8C17349}"/>
              </a:ext>
            </a:extLst>
          </p:cNvPr>
          <p:cNvSpPr txBox="1"/>
          <p:nvPr/>
        </p:nvSpPr>
        <p:spPr>
          <a:xfrm>
            <a:off x="1327285" y="5456816"/>
            <a:ext cx="1027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Contínuo: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5AF6AEA-FCEF-9665-35CD-79B0839E59AE}"/>
              </a:ext>
            </a:extLst>
          </p:cNvPr>
          <p:cNvSpPr txBox="1"/>
          <p:nvPr/>
        </p:nvSpPr>
        <p:spPr>
          <a:xfrm>
            <a:off x="1327285" y="5970116"/>
            <a:ext cx="935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Discreto: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B446E402-3B68-B9CC-F5A2-A8FD8D35CD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873" y="4051812"/>
            <a:ext cx="4031332" cy="1202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9B795E80-07C5-633E-3955-9A2496AFA9A9}"/>
                  </a:ext>
                </a:extLst>
              </p:cNvPr>
              <p:cNvSpPr txBox="1"/>
              <p:nvPr/>
            </p:nvSpPr>
            <p:spPr>
              <a:xfrm>
                <a:off x="6670110" y="3564038"/>
                <a:ext cx="100873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6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9B795E80-07C5-633E-3955-9A2496AF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110" y="3564038"/>
                <a:ext cx="1008738" cy="246221"/>
              </a:xfrm>
              <a:prstGeom prst="rect">
                <a:avLst/>
              </a:prstGeom>
              <a:blipFill>
                <a:blip r:embed="rId11"/>
                <a:stretch>
                  <a:fillRect l="-2410" b="-175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339033-D7C3-0097-4965-8804BEF4C3E4}"/>
              </a:ext>
            </a:extLst>
          </p:cNvPr>
          <p:cNvSpPr txBox="1"/>
          <p:nvPr/>
        </p:nvSpPr>
        <p:spPr>
          <a:xfrm>
            <a:off x="6129627" y="5319955"/>
            <a:ext cx="2876720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/>
              <a:t>Covariância do erro da medição:</a:t>
            </a:r>
            <a:endParaRPr lang="pt-BR" sz="1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363EB6E-520C-EA32-6CF1-C743D8B7175E}"/>
                  </a:ext>
                </a:extLst>
              </p:cNvPr>
              <p:cNvSpPr txBox="1"/>
              <p:nvPr/>
            </p:nvSpPr>
            <p:spPr>
              <a:xfrm>
                <a:off x="7795523" y="5804910"/>
                <a:ext cx="2237151" cy="2508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pt-BR" sz="1600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sub>
                      </m:sSub>
                      <m:r>
                        <a:rPr lang="pt-BR" sz="16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1600" b="0" i="0" smtClean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 b="1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363EB6E-520C-EA32-6CF1-C743D8B71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523" y="5804910"/>
                <a:ext cx="2237151" cy="250838"/>
              </a:xfrm>
              <a:prstGeom prst="rect">
                <a:avLst/>
              </a:prstGeom>
              <a:blipFill>
                <a:blip r:embed="rId12"/>
                <a:stretch>
                  <a:fillRect l="-1907" r="-2725" b="-341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CaixaDeTexto 34">
            <a:extLst>
              <a:ext uri="{FF2B5EF4-FFF2-40B4-BE49-F238E27FC236}">
                <a16:creationId xmlns:a16="http://schemas.microsoft.com/office/drawing/2014/main" id="{3B4809B2-FD5F-2CE2-338D-DB336C4FF16F}"/>
              </a:ext>
            </a:extLst>
          </p:cNvPr>
          <p:cNvSpPr txBox="1"/>
          <p:nvPr/>
        </p:nvSpPr>
        <p:spPr>
          <a:xfrm>
            <a:off x="11525490" y="6478213"/>
            <a:ext cx="68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11/25</a:t>
            </a:r>
          </a:p>
        </p:txBody>
      </p:sp>
    </p:spTree>
    <p:extLst>
      <p:ext uri="{BB962C8B-B14F-4D97-AF65-F5344CB8AC3E}">
        <p14:creationId xmlns:p14="http://schemas.microsoft.com/office/powerpoint/2010/main" val="11468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9FBE-F26B-7BE1-16A7-340E728F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2A8AC32-8E61-EB25-4474-2E491352E28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2A11EC-DBBB-C053-A914-255842042833}"/>
              </a:ext>
            </a:extLst>
          </p:cNvPr>
          <p:cNvSpPr txBox="1"/>
          <p:nvPr/>
        </p:nvSpPr>
        <p:spPr>
          <a:xfrm>
            <a:off x="1223682" y="887884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5. Metodologia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FD59C17-397B-33FA-522F-835BC76B773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FA4863D7-9B3A-E55E-866D-4C8CB5347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495687C-9FE6-8DCC-FB28-D88A746303BD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5.1. </a:t>
            </a:r>
            <a:r>
              <a:rPr lang="pt-BR" sz="1600" dirty="0">
                <a:latin typeface="+mj-lt"/>
              </a:rPr>
              <a:t>Arquitetura e interface do Simulador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85C71B4-E830-8111-F5AF-C891CA2E5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55" y="2473010"/>
            <a:ext cx="4928707" cy="277239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7CD3B3B-EBBC-1F80-0EBC-1032A23C8DA2}"/>
              </a:ext>
            </a:extLst>
          </p:cNvPr>
          <p:cNvSpPr txBox="1"/>
          <p:nvPr/>
        </p:nvSpPr>
        <p:spPr>
          <a:xfrm>
            <a:off x="2575588" y="2123341"/>
            <a:ext cx="125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Arquitetura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25A5FC-EF3A-E0FA-F951-5A19AA0930C6}"/>
              </a:ext>
            </a:extLst>
          </p:cNvPr>
          <p:cNvSpPr txBox="1"/>
          <p:nvPr/>
        </p:nvSpPr>
        <p:spPr>
          <a:xfrm>
            <a:off x="8408055" y="2167363"/>
            <a:ext cx="1253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/>
              <a:t>Interface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33DE513-3B0F-2815-540C-2283548FD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047" y="2521850"/>
            <a:ext cx="5213198" cy="2772399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5DA0463D-0666-A995-2E87-7CAA47BC982C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12/25</a:t>
            </a:r>
          </a:p>
        </p:txBody>
      </p:sp>
    </p:spTree>
    <p:extLst>
      <p:ext uri="{BB962C8B-B14F-4D97-AF65-F5344CB8AC3E}">
        <p14:creationId xmlns:p14="http://schemas.microsoft.com/office/powerpoint/2010/main" val="1294719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A6304-85BF-C769-044C-52398C3F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EEEF4A-6E11-EA27-2E1A-A4269499384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40AF6D6-9611-8EE3-2710-6FB5AD149B7E}"/>
              </a:ext>
            </a:extLst>
          </p:cNvPr>
          <p:cNvSpPr txBox="1"/>
          <p:nvPr/>
        </p:nvSpPr>
        <p:spPr>
          <a:xfrm>
            <a:off x="1223682" y="887884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5. Metodologia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07E4E75-9EF9-438E-9EC5-A27B19E9054D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6A6C8F00-1AED-C377-99AE-FC4F7373F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12EF499-6D5C-A207-6D95-4E3EEEEEB419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5.2. </a:t>
            </a:r>
            <a:r>
              <a:rPr lang="pt-BR" sz="1600" dirty="0">
                <a:latin typeface="+mj-lt"/>
              </a:rPr>
              <a:t>Métricas de Avaliação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12668D-8B74-A40A-2BA9-20380A9B2E70}"/>
              </a:ext>
            </a:extLst>
          </p:cNvPr>
          <p:cNvSpPr txBox="1"/>
          <p:nvPr/>
        </p:nvSpPr>
        <p:spPr>
          <a:xfrm>
            <a:off x="1067723" y="2054903"/>
            <a:ext cx="3110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NIS</a:t>
            </a:r>
          </a:p>
          <a:p>
            <a:pPr algn="ctr"/>
            <a:r>
              <a:rPr lang="pt-BR" sz="1400" b="1" dirty="0">
                <a:latin typeface="+mj-lt"/>
              </a:rPr>
              <a:t>(</a:t>
            </a:r>
            <a:r>
              <a:rPr lang="pt-BR" sz="1400" b="1" i="1" dirty="0" err="1">
                <a:latin typeface="+mj-lt"/>
              </a:rPr>
              <a:t>Normalized</a:t>
            </a:r>
            <a:r>
              <a:rPr lang="pt-BR" sz="1400" b="1" i="1" dirty="0">
                <a:latin typeface="+mj-lt"/>
              </a:rPr>
              <a:t> </a:t>
            </a:r>
            <a:r>
              <a:rPr lang="pt-BR" sz="1400" b="1" i="1" dirty="0" err="1">
                <a:latin typeface="+mj-lt"/>
              </a:rPr>
              <a:t>Innovation</a:t>
            </a:r>
            <a:r>
              <a:rPr lang="pt-BR" sz="1400" b="1" i="1" dirty="0">
                <a:latin typeface="+mj-lt"/>
              </a:rPr>
              <a:t> </a:t>
            </a:r>
            <a:r>
              <a:rPr lang="pt-BR" sz="1400" b="1" i="1" dirty="0" err="1">
                <a:latin typeface="+mj-lt"/>
              </a:rPr>
              <a:t>Squared</a:t>
            </a:r>
            <a:r>
              <a:rPr lang="pt-BR" sz="1400" b="1" dirty="0">
                <a:latin typeface="+mj-lt"/>
              </a:rPr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376460-2774-CF8F-5E6A-95E052576C90}"/>
              </a:ext>
            </a:extLst>
          </p:cNvPr>
          <p:cNvSpPr txBox="1"/>
          <p:nvPr/>
        </p:nvSpPr>
        <p:spPr>
          <a:xfrm>
            <a:off x="8789356" y="1963813"/>
            <a:ext cx="1953500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1400" b="1" dirty="0"/>
              <a:t>TAXA DE INLIERS (TI)*</a:t>
            </a:r>
            <a:endParaRPr lang="pt-BR" sz="1400" b="1" dirty="0"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A75288-DCFE-299A-B157-46D530BAB1FB}"/>
              </a:ext>
            </a:extLst>
          </p:cNvPr>
          <p:cNvSpPr txBox="1"/>
          <p:nvPr/>
        </p:nvSpPr>
        <p:spPr>
          <a:xfrm>
            <a:off x="4315513" y="2023512"/>
            <a:ext cx="3486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 dirty="0"/>
              <a:t>RMSE</a:t>
            </a:r>
          </a:p>
          <a:p>
            <a:pPr algn="ctr"/>
            <a:r>
              <a:rPr lang="pt-BR" sz="1400" b="1" dirty="0">
                <a:latin typeface="+mj-lt"/>
              </a:rPr>
              <a:t>(Root </a:t>
            </a:r>
            <a:r>
              <a:rPr lang="pt-BR" sz="1400" b="1" dirty="0" err="1">
                <a:latin typeface="+mj-lt"/>
              </a:rPr>
              <a:t>Mean</a:t>
            </a:r>
            <a:r>
              <a:rPr lang="pt-BR" sz="1400" b="1" dirty="0">
                <a:latin typeface="+mj-lt"/>
              </a:rPr>
              <a:t> Square Error)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E9900E3-594C-9E23-8E23-C8CEDAE38D4F}"/>
              </a:ext>
            </a:extLst>
          </p:cNvPr>
          <p:cNvCxnSpPr>
            <a:cxnSpLocks/>
          </p:cNvCxnSpPr>
          <p:nvPr/>
        </p:nvCxnSpPr>
        <p:spPr>
          <a:xfrm>
            <a:off x="4274553" y="1976149"/>
            <a:ext cx="40958" cy="38930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CE6C506-4142-7425-64D1-4D34FA51B433}"/>
              </a:ext>
            </a:extLst>
          </p:cNvPr>
          <p:cNvCxnSpPr>
            <a:cxnSpLocks/>
          </p:cNvCxnSpPr>
          <p:nvPr/>
        </p:nvCxnSpPr>
        <p:spPr>
          <a:xfrm>
            <a:off x="7802393" y="2014365"/>
            <a:ext cx="0" cy="3854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227CC324-ED6C-30E4-8B66-70981BA8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350" y="3433650"/>
            <a:ext cx="2710698" cy="795393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35A71FE-2B5C-083D-69EE-54D3E89D9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396" y="3452319"/>
            <a:ext cx="1874469" cy="37902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B95A0296-9F3C-EC93-9BD6-D8DFB1013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937" y="3888877"/>
            <a:ext cx="2059386" cy="379028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EE3F49D-01EF-F25D-A0A8-C1721A451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472" y="4365279"/>
            <a:ext cx="1646063" cy="51820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3B0792-B789-94BA-CB83-F9026157FF1F}"/>
              </a:ext>
            </a:extLst>
          </p:cNvPr>
          <p:cNvSpPr txBox="1"/>
          <p:nvPr/>
        </p:nvSpPr>
        <p:spPr>
          <a:xfrm>
            <a:off x="1081880" y="2670511"/>
            <a:ext cx="3105823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+mj-lt"/>
              </a:rPr>
              <a:t>Métrica para verificar se o estimador é consistente do ponto de vista estatístico.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B6FA6EF-ACE1-FAA8-51DE-20AEDA7167B2}"/>
              </a:ext>
            </a:extLst>
          </p:cNvPr>
          <p:cNvSpPr txBox="1"/>
          <p:nvPr/>
        </p:nvSpPr>
        <p:spPr>
          <a:xfrm>
            <a:off x="4517714" y="2604875"/>
            <a:ext cx="3156569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+mj-lt"/>
              </a:rPr>
              <a:t>Métrica para verificar se o estimador é consistente do ponto de vista estatístico.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FD5A4B0-1930-E828-1F09-D2BA5E111C7F}"/>
              </a:ext>
            </a:extLst>
          </p:cNvPr>
          <p:cNvSpPr txBox="1"/>
          <p:nvPr/>
        </p:nvSpPr>
        <p:spPr>
          <a:xfrm>
            <a:off x="8040781" y="2408780"/>
            <a:ext cx="3450650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+mj-lt"/>
              </a:rPr>
              <a:t>Métrica </a:t>
            </a:r>
            <a:r>
              <a:rPr lang="pt-BR" sz="1400" b="1" dirty="0">
                <a:latin typeface="+mj-lt"/>
              </a:rPr>
              <a:t>apenas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visual</a:t>
            </a:r>
            <a:r>
              <a:rPr lang="pt-BR" sz="1400" dirty="0">
                <a:latin typeface="+mj-lt"/>
              </a:rPr>
              <a:t> para avaliar a crença do robô (</a:t>
            </a:r>
            <a:r>
              <a:rPr lang="pt-BR" sz="1400" b="1" dirty="0">
                <a:latin typeface="+mj-lt"/>
              </a:rPr>
              <a:t>P</a:t>
            </a:r>
            <a:r>
              <a:rPr lang="pt-BR" sz="1400" dirty="0">
                <a:latin typeface="+mj-lt"/>
              </a:rPr>
              <a:t>) de forma semelhante ao NIS.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E87BA6D6-B6E6-C3EE-7059-851C9C8441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8593" y="3249979"/>
            <a:ext cx="1539792" cy="334538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976B524A-9693-975F-B6C8-FA8908FEE2A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413"/>
          <a:stretch>
            <a:fillRect/>
          </a:stretch>
        </p:blipFill>
        <p:spPr>
          <a:xfrm>
            <a:off x="8148593" y="3693578"/>
            <a:ext cx="2917056" cy="2704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672D3838-A0D1-5294-9F64-A732CAAECC03}"/>
                  </a:ext>
                </a:extLst>
              </p:cNvPr>
              <p:cNvSpPr txBox="1"/>
              <p:nvPr/>
            </p:nvSpPr>
            <p:spPr>
              <a:xfrm>
                <a:off x="1689628" y="5116387"/>
                <a:ext cx="1890325" cy="30284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=[</m:t>
                      </m:r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672D3838-A0D1-5294-9F64-A732CAAEC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628" y="5116387"/>
                <a:ext cx="1890325" cy="302840"/>
              </a:xfrm>
              <a:prstGeom prst="rect">
                <a:avLst/>
              </a:prstGeom>
              <a:blipFill>
                <a:blip r:embed="rId9"/>
                <a:stretch>
                  <a:fillRect l="-2244" r="-4167" b="-2692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aixaDeTexto 37">
            <a:extLst>
              <a:ext uri="{FF2B5EF4-FFF2-40B4-BE49-F238E27FC236}">
                <a16:creationId xmlns:a16="http://schemas.microsoft.com/office/drawing/2014/main" id="{D35D09BC-73F9-9096-3577-A5578F196580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13/25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36021A3-EA72-7126-F8A1-2E66B5F58121}"/>
                  </a:ext>
                </a:extLst>
              </p:cNvPr>
              <p:cNvSpPr txBox="1"/>
              <p:nvPr/>
            </p:nvSpPr>
            <p:spPr>
              <a:xfrm>
                <a:off x="8148593" y="4657846"/>
                <a:ext cx="2036711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𝑇𝐼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∈[0,051;7,378 ]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36021A3-EA72-7126-F8A1-2E66B5F58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593" y="4657846"/>
                <a:ext cx="2036711" cy="276999"/>
              </a:xfrm>
              <a:prstGeom prst="rect">
                <a:avLst/>
              </a:prstGeom>
              <a:blipFill>
                <a:blip r:embed="rId10"/>
                <a:stretch>
                  <a:fillRect l="-2381" r="-3571" b="-3333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4534B1A-C061-7374-0296-7F138A054873}"/>
                  </a:ext>
                </a:extLst>
              </p:cNvPr>
              <p:cNvSpPr txBox="1"/>
              <p:nvPr/>
            </p:nvSpPr>
            <p:spPr>
              <a:xfrm>
                <a:off x="1581220" y="5705296"/>
                <a:ext cx="2196627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=[0,484; 1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1,143]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B4534B1A-C061-7374-0296-7F138A054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220" y="5705296"/>
                <a:ext cx="2196627" cy="276999"/>
              </a:xfrm>
              <a:prstGeom prst="rect">
                <a:avLst/>
              </a:prstGeom>
              <a:blipFill>
                <a:blip r:embed="rId11"/>
                <a:stretch>
                  <a:fillRect l="-551" t="-2128" r="-2479" b="-3404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E72DF3D-2466-CBC2-E7AB-7132B00F3DC3}"/>
              </a:ext>
            </a:extLst>
          </p:cNvPr>
          <p:cNvGrpSpPr/>
          <p:nvPr/>
        </p:nvGrpSpPr>
        <p:grpSpPr>
          <a:xfrm>
            <a:off x="8148593" y="4090471"/>
            <a:ext cx="1709988" cy="358971"/>
            <a:chOff x="8342974" y="4073101"/>
            <a:chExt cx="1709988" cy="358971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6FF992CD-3657-3219-32D7-9D7B5B8F5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r="28270" b="5702"/>
            <a:stretch>
              <a:fillRect/>
            </a:stretch>
          </p:blipFill>
          <p:spPr>
            <a:xfrm>
              <a:off x="8850868" y="4073101"/>
              <a:ext cx="1202094" cy="35897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A163023-4BB2-CB84-A83D-A7168D55DC9E}"/>
                    </a:ext>
                  </a:extLst>
                </p:cNvPr>
                <p:cNvSpPr txBox="1"/>
                <p:nvPr/>
              </p:nvSpPr>
              <p:spPr>
                <a:xfrm>
                  <a:off x="8342974" y="4155073"/>
                  <a:ext cx="56836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𝑇𝐼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FA163023-4BB2-CB84-A83D-A7168D55D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2974" y="4155073"/>
                  <a:ext cx="56836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0753" b="-652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21983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405AC-5401-8EEA-76F2-14E8615F8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D1E80547-D014-13A4-762D-FBA8BA38B3F2}"/>
              </a:ext>
            </a:extLst>
          </p:cNvPr>
          <p:cNvSpPr/>
          <p:nvPr/>
        </p:nvSpPr>
        <p:spPr>
          <a:xfrm>
            <a:off x="7167716" y="3696929"/>
            <a:ext cx="3800601" cy="9783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BF1332B9-241C-16CC-CB5F-1AB887370C8D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0755D69-B12B-CE7C-728A-92AC1E62569C}"/>
              </a:ext>
            </a:extLst>
          </p:cNvPr>
          <p:cNvSpPr txBox="1"/>
          <p:nvPr/>
        </p:nvSpPr>
        <p:spPr>
          <a:xfrm>
            <a:off x="1223682" y="887884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5. Metodologia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8D2C822-ADA0-8BF2-2441-23516F35A1CD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C41B1BCB-5AE2-4E60-799F-6C7336BAB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6FB08AE-E3B3-5F46-3EC2-789591F81342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5.2. </a:t>
            </a:r>
            <a:r>
              <a:rPr lang="pt-BR" sz="1600" dirty="0">
                <a:latin typeface="+mj-lt"/>
              </a:rPr>
              <a:t>Métricas de Avaliação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EAB5B53-A963-67C8-D550-CDACB4FBE5DB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14/25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AE43D3-019E-3556-5FE7-3E7DDCD50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82" y="2414895"/>
            <a:ext cx="4408794" cy="3306595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E8151344-06CE-3FD9-9C76-54D9EA340759}"/>
              </a:ext>
            </a:extLst>
          </p:cNvPr>
          <p:cNvCxnSpPr>
            <a:cxnSpLocks/>
          </p:cNvCxnSpPr>
          <p:nvPr/>
        </p:nvCxnSpPr>
        <p:spPr>
          <a:xfrm>
            <a:off x="6096000" y="2171682"/>
            <a:ext cx="0" cy="3854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B67FB39-644B-E922-BA55-F2283C80B80E}"/>
              </a:ext>
            </a:extLst>
          </p:cNvPr>
          <p:cNvCxnSpPr>
            <a:cxnSpLocks/>
          </p:cNvCxnSpPr>
          <p:nvPr/>
        </p:nvCxnSpPr>
        <p:spPr>
          <a:xfrm flipV="1">
            <a:off x="7167716" y="3040721"/>
            <a:ext cx="0" cy="225158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9D1ECABE-B9A1-0F42-303D-A81CDE7496A1}"/>
              </a:ext>
            </a:extLst>
          </p:cNvPr>
          <p:cNvCxnSpPr>
            <a:cxnSpLocks/>
          </p:cNvCxnSpPr>
          <p:nvPr/>
        </p:nvCxnSpPr>
        <p:spPr>
          <a:xfrm>
            <a:off x="7167716" y="5292308"/>
            <a:ext cx="410129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2D0C20E-ADB2-1553-01DD-F8BF7D87DB6D}"/>
              </a:ext>
            </a:extLst>
          </p:cNvPr>
          <p:cNvSpPr txBox="1"/>
          <p:nvPr/>
        </p:nvSpPr>
        <p:spPr>
          <a:xfrm>
            <a:off x="6559525" y="293406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NIS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3A28B20-D553-9A70-4DB1-492A3CA1B3A9}"/>
              </a:ext>
            </a:extLst>
          </p:cNvPr>
          <p:cNvSpPr txBox="1"/>
          <p:nvPr/>
        </p:nvSpPr>
        <p:spPr>
          <a:xfrm>
            <a:off x="10968318" y="5292308"/>
            <a:ext cx="852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Tempo</a:t>
            </a: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37AFCCD7-A5CB-4FFB-54D3-E510FD8622F1}"/>
              </a:ext>
            </a:extLst>
          </p:cNvPr>
          <p:cNvCxnSpPr/>
          <p:nvPr/>
        </p:nvCxnSpPr>
        <p:spPr>
          <a:xfrm>
            <a:off x="7167716" y="3696929"/>
            <a:ext cx="380060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8A3741AA-4367-D335-15F6-C40B4435DA43}"/>
              </a:ext>
            </a:extLst>
          </p:cNvPr>
          <p:cNvCxnSpPr/>
          <p:nvPr/>
        </p:nvCxnSpPr>
        <p:spPr>
          <a:xfrm>
            <a:off x="7167716" y="4675239"/>
            <a:ext cx="380060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A668818-05F3-6563-3282-4BE447531DBB}"/>
              </a:ext>
            </a:extLst>
          </p:cNvPr>
          <p:cNvSpPr txBox="1"/>
          <p:nvPr/>
        </p:nvSpPr>
        <p:spPr>
          <a:xfrm>
            <a:off x="8370775" y="3959300"/>
            <a:ext cx="146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Consistente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63E4054-F1EE-131F-70B4-9618C7A5E7D9}"/>
              </a:ext>
            </a:extLst>
          </p:cNvPr>
          <p:cNvSpPr txBox="1"/>
          <p:nvPr/>
        </p:nvSpPr>
        <p:spPr>
          <a:xfrm>
            <a:off x="6559525" y="40014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IC</a:t>
            </a:r>
          </a:p>
        </p:txBody>
      </p:sp>
      <p:sp>
        <p:nvSpPr>
          <p:cNvPr id="43" name="Chave Esquerda 42">
            <a:extLst>
              <a:ext uri="{FF2B5EF4-FFF2-40B4-BE49-F238E27FC236}">
                <a16:creationId xmlns:a16="http://schemas.microsoft.com/office/drawing/2014/main" id="{996953FC-433B-B2FC-95D5-952B141D2A14}"/>
              </a:ext>
            </a:extLst>
          </p:cNvPr>
          <p:cNvSpPr/>
          <p:nvPr/>
        </p:nvSpPr>
        <p:spPr>
          <a:xfrm>
            <a:off x="6963803" y="3696929"/>
            <a:ext cx="125781" cy="97830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89D61F9-5855-4490-D503-138411DA4B92}"/>
              </a:ext>
            </a:extLst>
          </p:cNvPr>
          <p:cNvSpPr txBox="1"/>
          <p:nvPr/>
        </p:nvSpPr>
        <p:spPr>
          <a:xfrm>
            <a:off x="8370775" y="4823639"/>
            <a:ext cx="133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Pessimista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1C0BB68-9BE7-4150-9EBD-169886E7F7C7}"/>
              </a:ext>
            </a:extLst>
          </p:cNvPr>
          <p:cNvSpPr txBox="1"/>
          <p:nvPr/>
        </p:nvSpPr>
        <p:spPr>
          <a:xfrm>
            <a:off x="8556531" y="3179194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Otimista</a:t>
            </a:r>
          </a:p>
        </p:txBody>
      </p:sp>
    </p:spTree>
    <p:extLst>
      <p:ext uri="{BB962C8B-B14F-4D97-AF65-F5344CB8AC3E}">
        <p14:creationId xmlns:p14="http://schemas.microsoft.com/office/powerpoint/2010/main" val="3448811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6B3CC-6E4B-D347-B556-57FC8233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71E0AF1-6F19-7BCA-2CF3-4D30A38B9DAE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EEF730-AF45-4B4C-B74A-807B72BA2436}"/>
              </a:ext>
            </a:extLst>
          </p:cNvPr>
          <p:cNvSpPr txBox="1"/>
          <p:nvPr/>
        </p:nvSpPr>
        <p:spPr>
          <a:xfrm>
            <a:off x="1223682" y="887884"/>
            <a:ext cx="19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5. Metodologia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D247280-F307-DDD1-4CE6-F7E81E563A57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2EB2AA75-3B76-BC01-395C-AD7B321D4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306683-83ED-81EB-863A-C2FCC4F4FBBF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5.3. </a:t>
            </a:r>
            <a:r>
              <a:rPr lang="pt-BR" sz="1600" dirty="0">
                <a:latin typeface="+mj-lt"/>
              </a:rPr>
              <a:t>Cenários Experimentais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7D3F6D-3F6C-E11A-4E5C-DA4DD514C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691" y="2502588"/>
            <a:ext cx="4790613" cy="25869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5AFEC79-D1D8-6BB9-7722-75B3E364C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78" y="2056462"/>
            <a:ext cx="6439233" cy="347918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115F090-7260-4A51-B4BD-7E35FF803C03}"/>
              </a:ext>
            </a:extLst>
          </p:cNvPr>
          <p:cNvSpPr txBox="1"/>
          <p:nvPr/>
        </p:nvSpPr>
        <p:spPr>
          <a:xfrm>
            <a:off x="2285429" y="5688989"/>
            <a:ext cx="3299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Taxa de amostragem = 1 / FPS = 33 </a:t>
            </a:r>
            <a:r>
              <a:rPr lang="pt-BR" sz="1400" dirty="0" err="1"/>
              <a:t>ms</a:t>
            </a:r>
            <a:r>
              <a:rPr lang="pt-BR" sz="140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3A808C0-2AA1-7B55-74A6-BAAE657A841C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15/25</a:t>
            </a:r>
          </a:p>
        </p:txBody>
      </p:sp>
    </p:spTree>
    <p:extLst>
      <p:ext uri="{BB962C8B-B14F-4D97-AF65-F5344CB8AC3E}">
        <p14:creationId xmlns:p14="http://schemas.microsoft.com/office/powerpoint/2010/main" val="4267425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F3FF-D2CB-62D0-F488-0C0251B4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5595F78-5FBE-D0DB-4BD6-23A79166502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35713F-A8A0-D3E4-A437-056DDECDE46A}"/>
              </a:ext>
            </a:extLst>
          </p:cNvPr>
          <p:cNvSpPr txBox="1"/>
          <p:nvPr/>
        </p:nvSpPr>
        <p:spPr>
          <a:xfrm>
            <a:off x="1223682" y="887884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256F07B-8E0A-4932-A48A-56FC4AED685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CC4C8788-4254-F452-62A6-7F8FEF8E1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F56DFA7-FD66-EED5-C39C-C6434FB4F4AB}"/>
              </a:ext>
            </a:extLst>
          </p:cNvPr>
          <p:cNvSpPr txBox="1"/>
          <p:nvPr/>
        </p:nvSpPr>
        <p:spPr>
          <a:xfrm>
            <a:off x="1223682" y="1342275"/>
            <a:ext cx="2068158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6.1 Trajetórias</a:t>
            </a:r>
            <a:endParaRPr lang="pt-BR" sz="1600" dirty="0">
              <a:latin typeface="+mj-lt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4F0BB7B-7A75-E806-BE1A-C0204D6F1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720" y="2502133"/>
            <a:ext cx="3486476" cy="348647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BE99AE4-D60E-5648-50C8-E26091137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002" y="2415232"/>
            <a:ext cx="3660278" cy="366027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FFB05775-020D-DB9A-B713-6426AD00573C}"/>
              </a:ext>
            </a:extLst>
          </p:cNvPr>
          <p:cNvSpPr txBox="1"/>
          <p:nvPr/>
        </p:nvSpPr>
        <p:spPr>
          <a:xfrm>
            <a:off x="2743200" y="2009474"/>
            <a:ext cx="2200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a) Filtro sintonizado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E45E396-75B2-BA98-4AAA-CD17ADFB3D31}"/>
              </a:ext>
            </a:extLst>
          </p:cNvPr>
          <p:cNvSpPr txBox="1"/>
          <p:nvPr/>
        </p:nvSpPr>
        <p:spPr>
          <a:xfrm>
            <a:off x="6593841" y="2009474"/>
            <a:ext cx="3520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b) Filtro não sintonizado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23E3D2C-A04C-1C09-3E6B-8B6F4D153A40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16/25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09A4CC-9945-304F-D4A8-A8DE700D24A2}"/>
              </a:ext>
            </a:extLst>
          </p:cNvPr>
          <p:cNvSpPr txBox="1"/>
          <p:nvPr/>
        </p:nvSpPr>
        <p:spPr>
          <a:xfrm>
            <a:off x="4878472" y="1550424"/>
            <a:ext cx="2200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u="sng" dirty="0"/>
              <a:t>Cenário 2</a:t>
            </a:r>
          </a:p>
        </p:txBody>
      </p:sp>
    </p:spTree>
    <p:extLst>
      <p:ext uri="{BB962C8B-B14F-4D97-AF65-F5344CB8AC3E}">
        <p14:creationId xmlns:p14="http://schemas.microsoft.com/office/powerpoint/2010/main" val="3430317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BFA6-B95B-7749-3B45-4CD3E3BA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886884E-CA83-8A33-5FB9-13BA51C8CAC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47CD8C3-01CC-994F-7DE6-92DBB628A763}"/>
              </a:ext>
            </a:extLst>
          </p:cNvPr>
          <p:cNvSpPr txBox="1"/>
          <p:nvPr/>
        </p:nvSpPr>
        <p:spPr>
          <a:xfrm>
            <a:off x="1223682" y="887884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091530D-794B-B659-D530-084DA649442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D90228DE-2173-6478-A443-1E3E19B1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A72AB2A-4123-A3DA-274D-505E730A4D2F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6.2. Gráficos do RMSE</a:t>
            </a:r>
            <a:endParaRPr lang="pt-BR" sz="1600" dirty="0">
              <a:latin typeface="+mj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F486AA-B75D-B542-7096-D6711B77BFE2}"/>
              </a:ext>
            </a:extLst>
          </p:cNvPr>
          <p:cNvSpPr txBox="1"/>
          <p:nvPr/>
        </p:nvSpPr>
        <p:spPr>
          <a:xfrm>
            <a:off x="2434343" y="2191336"/>
            <a:ext cx="1971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a) Sintonizado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8BD0F5-0CEC-A8EE-265F-3C50969F2D59}"/>
              </a:ext>
            </a:extLst>
          </p:cNvPr>
          <p:cNvSpPr txBox="1"/>
          <p:nvPr/>
        </p:nvSpPr>
        <p:spPr>
          <a:xfrm>
            <a:off x="7785858" y="2200986"/>
            <a:ext cx="2093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b) Não Sintonizado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70133A7-9271-64DC-1BD3-A33DF1C5C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55" y="2758991"/>
            <a:ext cx="4892035" cy="244601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3110BC4-A25B-8D91-F261-667470716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119" y="2648614"/>
            <a:ext cx="5333546" cy="266677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3454759-D19A-E9CB-4250-5745CBE8DE77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17/25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BDA592C-B3B7-3A76-07FC-44A63AD02B30}"/>
              </a:ext>
            </a:extLst>
          </p:cNvPr>
          <p:cNvSpPr txBox="1"/>
          <p:nvPr/>
        </p:nvSpPr>
        <p:spPr>
          <a:xfrm>
            <a:off x="4878472" y="1550424"/>
            <a:ext cx="2200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u="sng" dirty="0"/>
              <a:t>Cenário 2</a:t>
            </a:r>
          </a:p>
        </p:txBody>
      </p:sp>
    </p:spTree>
    <p:extLst>
      <p:ext uri="{BB962C8B-B14F-4D97-AF65-F5344CB8AC3E}">
        <p14:creationId xmlns:p14="http://schemas.microsoft.com/office/powerpoint/2010/main" val="1777222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E3A4-02A8-1BE6-6DD6-B896F8B4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AF3EE1B-4530-4C8E-5000-7C1C95007E6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8A3E75-4EF2-CBCF-707E-31E1B124CAA1}"/>
              </a:ext>
            </a:extLst>
          </p:cNvPr>
          <p:cNvSpPr txBox="1"/>
          <p:nvPr/>
        </p:nvSpPr>
        <p:spPr>
          <a:xfrm>
            <a:off x="1223682" y="887884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3A6EBFD-C1FB-4856-B429-E4571B15D55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EA8C80D7-A6B4-DFC1-3E3A-18CEE539C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4938E1C-1D9A-A2B4-6D54-A40599A85336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6.3. </a:t>
            </a:r>
            <a:r>
              <a:rPr lang="pt-BR" sz="1600" b="1" dirty="0"/>
              <a:t>NIS e Histogramas:</a:t>
            </a:r>
            <a:r>
              <a:rPr lang="pt-BR" sz="1600" b="1" dirty="0">
                <a:latin typeface="+mj-lt"/>
              </a:rPr>
              <a:t> </a:t>
            </a:r>
            <a:r>
              <a:rPr lang="pt-BR" sz="1600" dirty="0">
                <a:latin typeface="+mj-lt"/>
              </a:rPr>
              <a:t>Cenários Sintonizados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62229A6-BCF6-5B2E-022F-BCFC8A953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96" y="2717763"/>
            <a:ext cx="5820896" cy="249366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DB2A678-6D54-1C3D-6C6A-1BB916DAEA09}"/>
              </a:ext>
            </a:extLst>
          </p:cNvPr>
          <p:cNvSpPr txBox="1"/>
          <p:nvPr/>
        </p:nvSpPr>
        <p:spPr>
          <a:xfrm>
            <a:off x="2434343" y="2191336"/>
            <a:ext cx="1971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a) NIS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0D6747-454F-1B24-8C8F-2277917AE04A}"/>
              </a:ext>
            </a:extLst>
          </p:cNvPr>
          <p:cNvSpPr txBox="1"/>
          <p:nvPr/>
        </p:nvSpPr>
        <p:spPr>
          <a:xfrm>
            <a:off x="7669161" y="2191336"/>
            <a:ext cx="25886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b) Histogramas dos Erros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058BC59-72FB-D43B-6BA2-00528848E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263" y="2588735"/>
            <a:ext cx="5163115" cy="2726063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5E67D041-86F0-3208-E612-2D08BEB72CFC}"/>
              </a:ext>
            </a:extLst>
          </p:cNvPr>
          <p:cNvSpPr txBox="1"/>
          <p:nvPr/>
        </p:nvSpPr>
        <p:spPr>
          <a:xfrm>
            <a:off x="11494373" y="6488668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18/25</a:t>
            </a:r>
          </a:p>
        </p:txBody>
      </p:sp>
    </p:spTree>
    <p:extLst>
      <p:ext uri="{BB962C8B-B14F-4D97-AF65-F5344CB8AC3E}">
        <p14:creationId xmlns:p14="http://schemas.microsoft.com/office/powerpoint/2010/main" val="3059047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2CDD-2BC6-F7D4-922B-1D51E0D1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E9F39A4-E5B2-061A-0CC4-CF4167501F5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536B11-FD18-3C91-E03D-C983DD55AD5C}"/>
              </a:ext>
            </a:extLst>
          </p:cNvPr>
          <p:cNvSpPr txBox="1"/>
          <p:nvPr/>
        </p:nvSpPr>
        <p:spPr>
          <a:xfrm>
            <a:off x="1223682" y="887884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3C5D6B7-6333-490B-0229-70DCEBC5269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E2E6DCC4-DD9A-1847-DED0-712678C7B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56F26E2-575E-34DE-F3BC-25BD8BE552A4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6.3. NIS e Histogramas: </a:t>
            </a:r>
            <a:r>
              <a:rPr lang="pt-BR" sz="1600" dirty="0">
                <a:latin typeface="+mj-lt"/>
              </a:rPr>
              <a:t>Cenários Não sintonizados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6E07041-D4B6-9484-9CCB-876D3A433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601" y="2674650"/>
            <a:ext cx="5387204" cy="267038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FC034D6-BD58-3CBA-566D-0DD9224F0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87" y="2765288"/>
            <a:ext cx="5492113" cy="2489105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1893BEF9-7422-E140-80C1-AD7F769C5C55}"/>
              </a:ext>
            </a:extLst>
          </p:cNvPr>
          <p:cNvSpPr txBox="1"/>
          <p:nvPr/>
        </p:nvSpPr>
        <p:spPr>
          <a:xfrm>
            <a:off x="2434343" y="2191336"/>
            <a:ext cx="1971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a) NIS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4A39D1F-BAE9-FBAB-FCC5-4495345D5A65}"/>
              </a:ext>
            </a:extLst>
          </p:cNvPr>
          <p:cNvSpPr txBox="1"/>
          <p:nvPr/>
        </p:nvSpPr>
        <p:spPr>
          <a:xfrm>
            <a:off x="7698659" y="2191336"/>
            <a:ext cx="2559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b) Histogramas dos Erros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3736CE7-FD88-6D40-7373-867B0608F04B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19/25</a:t>
            </a:r>
          </a:p>
        </p:txBody>
      </p:sp>
    </p:spTree>
    <p:extLst>
      <p:ext uri="{BB962C8B-B14F-4D97-AF65-F5344CB8AC3E}">
        <p14:creationId xmlns:p14="http://schemas.microsoft.com/office/powerpoint/2010/main" val="3860198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5CBC-BE4E-391C-5778-6606E9C6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EAB0061-6BED-9C92-A21A-CE1BA3FDD4E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52DCFF2-AC4F-CD8A-7CCB-81AD43B1464C}"/>
              </a:ext>
            </a:extLst>
          </p:cNvPr>
          <p:cNvSpPr txBox="1"/>
          <p:nvPr/>
        </p:nvSpPr>
        <p:spPr>
          <a:xfrm>
            <a:off x="1223682" y="887884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2A57A21-5333-46D5-234F-7A2903BD7FBA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A1B43DE7-CC8C-CFED-0D07-75BF31205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56CA75C-8F16-2EF6-403B-A7348F7A108B}"/>
              </a:ext>
            </a:extLst>
          </p:cNvPr>
          <p:cNvSpPr txBox="1"/>
          <p:nvPr/>
        </p:nvSpPr>
        <p:spPr>
          <a:xfrm>
            <a:off x="1223682" y="1342275"/>
            <a:ext cx="2689557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6.4. </a:t>
            </a:r>
            <a:r>
              <a:rPr lang="pt-BR" sz="1600" dirty="0">
                <a:latin typeface="+mj-lt"/>
              </a:rPr>
              <a:t>Caso especial: Oclusão</a:t>
            </a:r>
          </a:p>
        </p:txBody>
      </p:sp>
      <p:pic>
        <p:nvPicPr>
          <p:cNvPr id="3" name="20260624-0255-30.7980916">
            <a:hlinkClick r:id="" action="ppaction://media"/>
            <a:extLst>
              <a:ext uri="{FF2B5EF4-FFF2-40B4-BE49-F238E27FC236}">
                <a16:creationId xmlns:a16="http://schemas.microsoft.com/office/drawing/2014/main" id="{8B752AFE-A1AC-DC19-E5A7-D3B395235EA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14949" y="2300051"/>
            <a:ext cx="4704570" cy="33639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692AEAF-A5D6-BA81-2EA1-43240ADDF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076" y="2094271"/>
            <a:ext cx="3775459" cy="377545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8E9BBF5-B30C-DC78-4E09-59A84770E49F}"/>
              </a:ext>
            </a:extLst>
          </p:cNvPr>
          <p:cNvSpPr txBox="1"/>
          <p:nvPr/>
        </p:nvSpPr>
        <p:spPr>
          <a:xfrm>
            <a:off x="2981333" y="1917671"/>
            <a:ext cx="1971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/>
              <a:t>Animação com ROI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833185-3871-BE1F-DDA4-6BC64C441FA2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20/25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CC899F-4FE4-4A47-BDFC-F8C7746B2749}"/>
              </a:ext>
            </a:extLst>
          </p:cNvPr>
          <p:cNvSpPr txBox="1"/>
          <p:nvPr/>
        </p:nvSpPr>
        <p:spPr>
          <a:xfrm>
            <a:off x="7854776" y="1651886"/>
            <a:ext cx="2200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u="sng" dirty="0"/>
              <a:t>Cenário 6</a:t>
            </a:r>
          </a:p>
        </p:txBody>
      </p:sp>
    </p:spTree>
    <p:extLst>
      <p:ext uri="{BB962C8B-B14F-4D97-AF65-F5344CB8AC3E}">
        <p14:creationId xmlns:p14="http://schemas.microsoft.com/office/powerpoint/2010/main" val="366234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8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4AD1-86FA-5791-4297-9D60DF2D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501ECE9-E5FA-29D6-F7F8-62F9EF75081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6A9F36-BA1C-3467-9A2E-265F96734C43}"/>
              </a:ext>
            </a:extLst>
          </p:cNvPr>
          <p:cNvSpPr txBox="1"/>
          <p:nvPr/>
        </p:nvSpPr>
        <p:spPr>
          <a:xfrm>
            <a:off x="1223682" y="887884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6. Resultados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4ECF515-37B7-3652-7BF6-6C247BBA9FFD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1F7D7925-05F5-3AED-1936-153C903F3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C463EFC-DE92-7056-37FC-F2DCF5CD2C0E}"/>
              </a:ext>
            </a:extLst>
          </p:cNvPr>
          <p:cNvSpPr txBox="1"/>
          <p:nvPr/>
        </p:nvSpPr>
        <p:spPr>
          <a:xfrm>
            <a:off x="1223682" y="1342275"/>
            <a:ext cx="944003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b="1" dirty="0">
                <a:latin typeface="+mj-lt"/>
              </a:rPr>
              <a:t>6.5. </a:t>
            </a:r>
            <a:r>
              <a:rPr lang="pt-BR" sz="1600" dirty="0">
                <a:latin typeface="+mj-lt"/>
              </a:rPr>
              <a:t>Resumo dos Resultados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19D46EB-E6D4-9D75-6B3D-ACDF787F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939" y="1980233"/>
            <a:ext cx="8150121" cy="375197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CA83981-7035-D4CD-FDA9-64CA809F143E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21/25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EE85FE-AE8B-3D98-8AF2-DD61A7CAB6AA}"/>
              </a:ext>
            </a:extLst>
          </p:cNvPr>
          <p:cNvSpPr txBox="1"/>
          <p:nvPr/>
        </p:nvSpPr>
        <p:spPr>
          <a:xfrm>
            <a:off x="2488070" y="5986278"/>
            <a:ext cx="7215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rgbClr val="FF0000"/>
                </a:solidFill>
              </a:rPr>
              <a:t>Obs</a:t>
            </a:r>
            <a:r>
              <a:rPr lang="pt-BR" sz="1400" dirty="0">
                <a:solidFill>
                  <a:srgbClr val="FF0000"/>
                </a:solidFill>
              </a:rPr>
              <a:t>: Sistemas a GPS podem ter erros de até 3 metros, melhorando devido a configuração.</a:t>
            </a:r>
          </a:p>
        </p:txBody>
      </p:sp>
    </p:spTree>
    <p:extLst>
      <p:ext uri="{BB962C8B-B14F-4D97-AF65-F5344CB8AC3E}">
        <p14:creationId xmlns:p14="http://schemas.microsoft.com/office/powerpoint/2010/main" val="3682439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ED10E-4A02-5379-0A9F-E0549F8F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4DC45E8-0496-A4E6-970B-4389982F3C4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22BD58-A360-3797-88E3-D5050CC97160}"/>
              </a:ext>
            </a:extLst>
          </p:cNvPr>
          <p:cNvSpPr txBox="1"/>
          <p:nvPr/>
        </p:nvSpPr>
        <p:spPr>
          <a:xfrm>
            <a:off x="1223682" y="887884"/>
            <a:ext cx="1781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7. Conclusão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805B022-E7D8-59E0-410B-E2369FBC26DE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B1C6A74F-76BE-8870-1FB1-6EE22AEE0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7B033EE-736C-8CB7-7323-269B1C3F57BB}"/>
              </a:ext>
            </a:extLst>
          </p:cNvPr>
          <p:cNvSpPr txBox="1"/>
          <p:nvPr/>
        </p:nvSpPr>
        <p:spPr>
          <a:xfrm>
            <a:off x="1290090" y="3285817"/>
            <a:ext cx="3429698" cy="2000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latin typeface="+mj-lt"/>
              </a:rPr>
              <a:t>Contribuições: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+mj-lt"/>
              </a:rPr>
              <a:t>Simulador com Interface GUI;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+mj-lt"/>
              </a:rPr>
              <a:t>Análise prática da ideia de um ROI dinâmico, útil em contexto de visão computacional;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+mj-lt"/>
              </a:rPr>
              <a:t>Conteúdo </a:t>
            </a:r>
            <a:r>
              <a:rPr lang="pt-BR" sz="1400" b="1" dirty="0">
                <a:latin typeface="+mj-lt"/>
              </a:rPr>
              <a:t>didático</a:t>
            </a:r>
            <a:r>
              <a:rPr lang="pt-BR" sz="1400" dirty="0">
                <a:latin typeface="+mj-lt"/>
              </a:rPr>
              <a:t>;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C885E31-D4EE-BA8B-EACD-3CD1CAA11E5F}"/>
              </a:ext>
            </a:extLst>
          </p:cNvPr>
          <p:cNvSpPr txBox="1"/>
          <p:nvPr/>
        </p:nvSpPr>
        <p:spPr>
          <a:xfrm>
            <a:off x="6095999" y="3285817"/>
            <a:ext cx="4265766" cy="232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dirty="0">
                <a:latin typeface="+mj-lt"/>
              </a:rPr>
              <a:t>Limitações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+mj-lt"/>
              </a:rPr>
              <a:t>Estudo limitado a </a:t>
            </a:r>
            <a:r>
              <a:rPr lang="pt-BR" sz="1400" b="1" dirty="0">
                <a:latin typeface="+mj-lt"/>
              </a:rPr>
              <a:t>ruídos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puramente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gaussianos</a:t>
            </a:r>
            <a:r>
              <a:rPr lang="pt-BR" sz="1400" dirty="0">
                <a:latin typeface="+mj-lt"/>
              </a:rPr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b="1" dirty="0">
                <a:latin typeface="+mj-lt"/>
              </a:rPr>
              <a:t>Desconsiderado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distúrbios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severos</a:t>
            </a:r>
            <a:r>
              <a:rPr lang="pt-BR" sz="1400" dirty="0">
                <a:latin typeface="+mj-lt"/>
              </a:rPr>
              <a:t> encontrados na prática (</a:t>
            </a:r>
            <a:r>
              <a:rPr lang="pt-BR" sz="1400" dirty="0" err="1">
                <a:latin typeface="+mj-lt"/>
              </a:rPr>
              <a:t>multipath</a:t>
            </a:r>
            <a:r>
              <a:rPr lang="pt-BR" sz="1400" dirty="0">
                <a:latin typeface="+mj-lt"/>
              </a:rPr>
              <a:t>, NLOS);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+mj-lt"/>
              </a:rPr>
              <a:t>Calibração manual;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+mj-lt"/>
              </a:rPr>
              <a:t>Os resultados são apenas </a:t>
            </a:r>
            <a:r>
              <a:rPr lang="pt-BR" sz="1400" b="1" dirty="0">
                <a:latin typeface="+mj-lt"/>
              </a:rPr>
              <a:t>experimentais</a:t>
            </a:r>
            <a:r>
              <a:rPr lang="pt-BR" sz="1400" dirty="0">
                <a:latin typeface="+mj-lt"/>
              </a:rPr>
              <a:t> em </a:t>
            </a:r>
            <a:r>
              <a:rPr lang="pt-BR" sz="1400" b="1" dirty="0">
                <a:latin typeface="+mj-lt"/>
              </a:rPr>
              <a:t>ambiente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simulado</a:t>
            </a:r>
            <a:r>
              <a:rPr lang="pt-BR" sz="1400" dirty="0">
                <a:latin typeface="+mj-lt"/>
              </a:rPr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E41A5E0-4330-4543-039E-1D753371815E}"/>
              </a:ext>
            </a:extLst>
          </p:cNvPr>
          <p:cNvSpPr txBox="1"/>
          <p:nvPr/>
        </p:nvSpPr>
        <p:spPr>
          <a:xfrm>
            <a:off x="1145172" y="2029543"/>
            <a:ext cx="9518543" cy="70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+mj-lt"/>
              </a:rPr>
              <a:t>Esse estudo serviu como forma de analisar na prática o comportamento de um filtro de Kalman e entender seu comportamento, associando à área de </a:t>
            </a:r>
            <a:r>
              <a:rPr lang="pt-BR" sz="1400" b="1" dirty="0">
                <a:latin typeface="+mj-lt"/>
              </a:rPr>
              <a:t>robótica probabilística </a:t>
            </a:r>
            <a:r>
              <a:rPr lang="pt-BR" sz="1400" dirty="0">
                <a:latin typeface="+mj-lt"/>
              </a:rPr>
              <a:t>e verificar o comportamento do </a:t>
            </a:r>
            <a:r>
              <a:rPr lang="pt-BR" sz="1400" b="1" dirty="0">
                <a:latin typeface="+mj-lt"/>
              </a:rPr>
              <a:t>NIS</a:t>
            </a:r>
            <a:r>
              <a:rPr lang="pt-BR" sz="1400" dirty="0">
                <a:latin typeface="+mj-lt"/>
              </a:rPr>
              <a:t> e </a:t>
            </a:r>
            <a:r>
              <a:rPr lang="pt-BR" sz="1400" b="1" dirty="0">
                <a:latin typeface="+mj-lt"/>
              </a:rPr>
              <a:t>RMSE </a:t>
            </a:r>
            <a:r>
              <a:rPr lang="pt-BR" sz="1400" dirty="0">
                <a:latin typeface="+mj-lt"/>
              </a:rPr>
              <a:t>na avaliação do Filtro.</a:t>
            </a:r>
            <a:endParaRPr lang="pt-BR" sz="1400" b="1" dirty="0">
              <a:latin typeface="+mj-lt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5AF0704-186C-9276-63E4-6CAC9B2DF5C8}"/>
              </a:ext>
            </a:extLst>
          </p:cNvPr>
          <p:cNvSpPr txBox="1"/>
          <p:nvPr/>
        </p:nvSpPr>
        <p:spPr>
          <a:xfrm>
            <a:off x="1223682" y="5909591"/>
            <a:ext cx="10393157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b="1" i="1" dirty="0" err="1">
                <a:solidFill>
                  <a:srgbClr val="FF0000"/>
                </a:solidFill>
                <a:latin typeface="+mj-lt"/>
              </a:rPr>
              <a:t>Obs</a:t>
            </a:r>
            <a:r>
              <a:rPr lang="pt-BR" sz="1400" i="1" dirty="0">
                <a:solidFill>
                  <a:srgbClr val="FF0000"/>
                </a:solidFill>
                <a:latin typeface="+mj-lt"/>
              </a:rPr>
              <a:t>: Interface e demais resultados podem ser encontrados no Github do projeto (</a:t>
            </a:r>
            <a:r>
              <a:rPr lang="pt-BR" sz="1400" i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r>
              <a:rPr lang="pt-BR" sz="1400" i="1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SauloJose</a:t>
            </a:r>
            <a:r>
              <a:rPr lang="pt-BR" sz="1400" i="1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400" i="1" dirty="0" err="1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PASKalmanTraj</a:t>
            </a:r>
            <a:r>
              <a:rPr lang="pt-BR" sz="1400" dirty="0"/>
              <a:t>)</a:t>
            </a:r>
            <a:r>
              <a:rPr lang="pt-BR" sz="1400" dirty="0">
                <a:latin typeface="+mj-lt"/>
              </a:rPr>
              <a:t>.</a:t>
            </a:r>
            <a:endParaRPr lang="pt-BR" sz="1400" b="1" dirty="0">
              <a:latin typeface="+mj-lt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BF77C7C-9AB7-7BD3-8A4E-684CBB3AB363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22/25</a:t>
            </a:r>
          </a:p>
        </p:txBody>
      </p:sp>
    </p:spTree>
    <p:extLst>
      <p:ext uri="{BB962C8B-B14F-4D97-AF65-F5344CB8AC3E}">
        <p14:creationId xmlns:p14="http://schemas.microsoft.com/office/powerpoint/2010/main" val="4021701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EB86-C955-956C-A431-D0F35AFB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A330555-BD6E-C960-08EF-087CF6B9A2FC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3E33A62-98EA-9FFD-BE61-F390F89400B5}"/>
              </a:ext>
            </a:extLst>
          </p:cNvPr>
          <p:cNvSpPr txBox="1"/>
          <p:nvPr/>
        </p:nvSpPr>
        <p:spPr>
          <a:xfrm>
            <a:off x="1223682" y="887884"/>
            <a:ext cx="2706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8. Trabalhos Futuros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D29C171-0FED-BC5B-3402-1AC2515BBD1D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26D7B30E-09A0-C4AD-89BD-11F1CD1DD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388E82A-AF66-C8B8-41CC-84C658626645}"/>
              </a:ext>
            </a:extLst>
          </p:cNvPr>
          <p:cNvSpPr txBox="1"/>
          <p:nvPr/>
        </p:nvSpPr>
        <p:spPr>
          <a:xfrm>
            <a:off x="1375982" y="2017125"/>
            <a:ext cx="8977386" cy="135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dirty="0">
                <a:latin typeface="+mj-lt"/>
              </a:rPr>
              <a:t>Implementar algoritmos de </a:t>
            </a:r>
            <a:r>
              <a:rPr lang="pt-BR" sz="1400" b="1" dirty="0">
                <a:latin typeface="+mj-lt"/>
              </a:rPr>
              <a:t>Sintonia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Automática</a:t>
            </a:r>
            <a:r>
              <a:rPr lang="pt-BR" sz="1400" dirty="0">
                <a:latin typeface="+mj-lt"/>
              </a:rPr>
              <a:t> das matrizes Q e R;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dirty="0">
                <a:latin typeface="+mj-lt"/>
              </a:rPr>
              <a:t>Integrar com algoritmos de visão computacional utilizando a estratégia de ROI dinâmico para diminuir custo computacional no processamento de imagens;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400" dirty="0">
                <a:latin typeface="+mj-lt"/>
              </a:rPr>
              <a:t>Utilizar </a:t>
            </a:r>
            <a:r>
              <a:rPr lang="pt-BR" sz="1400" b="1" dirty="0">
                <a:latin typeface="+mj-lt"/>
              </a:rPr>
              <a:t>filtros</a:t>
            </a:r>
            <a:r>
              <a:rPr lang="pt-BR" sz="1400" dirty="0">
                <a:latin typeface="+mj-lt"/>
              </a:rPr>
              <a:t> </a:t>
            </a:r>
            <a:r>
              <a:rPr lang="pt-BR" sz="1400" b="1" dirty="0">
                <a:latin typeface="+mj-lt"/>
              </a:rPr>
              <a:t>avançados</a:t>
            </a:r>
            <a:r>
              <a:rPr lang="pt-BR" sz="1400" dirty="0">
                <a:latin typeface="+mj-lt"/>
              </a:rPr>
              <a:t>, como </a:t>
            </a:r>
            <a:r>
              <a:rPr lang="pt-BR" sz="1400" dirty="0" err="1">
                <a:latin typeface="+mj-lt"/>
              </a:rPr>
              <a:t>Unscented</a:t>
            </a:r>
            <a:r>
              <a:rPr lang="pt-BR" sz="1400" dirty="0">
                <a:latin typeface="+mj-lt"/>
              </a:rPr>
              <a:t> Kalman Filter (UKF) e comparar com o EKF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BB5A66-9A75-BE43-36A9-32B01C3BF15D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23/25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284C2C-8560-65E1-7504-3B7985D2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382" y="3815962"/>
            <a:ext cx="4793235" cy="2248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1844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1D3F-7EA7-0C8F-03E5-6DB5A485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B44E4F-9DC8-5ECE-3C69-5376241FB81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568142-3BC4-B698-C318-824E3078F81C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C02250-31F5-7510-A3EB-017E92734BAC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12599A-9E1E-2F55-FE5C-F1006F37361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1301232-7129-EACB-B307-6D0B0D41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8FBFD4-D38B-272A-9F3F-3096A687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094" y="1909903"/>
            <a:ext cx="9547809" cy="3389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latin typeface="+mj-lt"/>
              </a:rPr>
              <a:t>CARON, F.; DUFLOS, E.; POMORSKI, D.; VANHEEGHE, P. Gps/</a:t>
            </a:r>
            <a:r>
              <a:rPr lang="pt-BR" sz="1200" dirty="0" err="1">
                <a:latin typeface="+mj-lt"/>
              </a:rPr>
              <a:t>imu</a:t>
            </a:r>
            <a:r>
              <a:rPr lang="pt-BR" sz="1200" dirty="0">
                <a:latin typeface="+mj-lt"/>
              </a:rPr>
              <a:t> data fusion </a:t>
            </a:r>
            <a:r>
              <a:rPr lang="pt-BR" sz="1200" dirty="0" err="1">
                <a:latin typeface="+mj-lt"/>
              </a:rPr>
              <a:t>using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multisensor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kalman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filtering</a:t>
            </a:r>
            <a:r>
              <a:rPr lang="pt-BR" sz="1200" dirty="0">
                <a:latin typeface="+mj-lt"/>
              </a:rPr>
              <a:t>: </a:t>
            </a:r>
            <a:r>
              <a:rPr lang="pt-BR" sz="1200" dirty="0" err="1">
                <a:latin typeface="+mj-lt"/>
              </a:rPr>
              <a:t>Introduction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of</a:t>
            </a:r>
            <a:r>
              <a:rPr lang="pt-BR" sz="1200" dirty="0">
                <a:latin typeface="+mj-lt"/>
              </a:rPr>
              <a:t> contextual </a:t>
            </a:r>
            <a:r>
              <a:rPr lang="pt-BR" sz="1200" dirty="0" err="1">
                <a:latin typeface="+mj-lt"/>
              </a:rPr>
              <a:t>aspects</a:t>
            </a:r>
            <a:r>
              <a:rPr lang="pt-BR" sz="1200" dirty="0">
                <a:latin typeface="+mj-lt"/>
              </a:rPr>
              <a:t>. </a:t>
            </a:r>
            <a:r>
              <a:rPr lang="pt-BR" sz="1200" dirty="0" err="1">
                <a:latin typeface="+mj-lt"/>
              </a:rPr>
              <a:t>Information</a:t>
            </a:r>
            <a:r>
              <a:rPr lang="pt-BR" sz="1200" dirty="0">
                <a:latin typeface="+mj-lt"/>
              </a:rPr>
              <a:t> Fusion, v. 7, n. 2, p. 221–230, 2006. Disponível em: </a:t>
            </a:r>
            <a:r>
              <a:rPr lang="pt-BR" sz="1200" dirty="0">
                <a:latin typeface="+mj-lt"/>
                <a:hlinkClick r:id="rId3"/>
              </a:rPr>
              <a:t>https://www.sciencedirect.com/</a:t>
            </a:r>
            <a:r>
              <a:rPr lang="pt-BR" sz="1200" dirty="0" err="1">
                <a:latin typeface="+mj-lt"/>
                <a:hlinkClick r:id="rId3"/>
              </a:rPr>
              <a:t>science</a:t>
            </a:r>
            <a:r>
              <a:rPr lang="pt-BR" sz="1200" dirty="0">
                <a:latin typeface="+mj-lt"/>
                <a:hlinkClick r:id="rId3"/>
              </a:rPr>
              <a:t>/</a:t>
            </a:r>
            <a:r>
              <a:rPr lang="pt-BR" sz="1200" dirty="0" err="1">
                <a:latin typeface="+mj-lt"/>
                <a:hlinkClick r:id="rId3"/>
              </a:rPr>
              <a:t>article</a:t>
            </a:r>
            <a:r>
              <a:rPr lang="pt-BR" sz="1200" dirty="0">
                <a:latin typeface="+mj-lt"/>
                <a:hlinkClick r:id="rId3"/>
              </a:rPr>
              <a:t>/</a:t>
            </a:r>
            <a:r>
              <a:rPr lang="pt-BR" sz="1200" dirty="0" err="1">
                <a:latin typeface="+mj-lt"/>
                <a:hlinkClick r:id="rId3"/>
              </a:rPr>
              <a:t>pii</a:t>
            </a:r>
            <a:r>
              <a:rPr lang="pt-BR" sz="1200" dirty="0">
                <a:latin typeface="+mj-lt"/>
                <a:hlinkClick r:id="rId3"/>
              </a:rPr>
              <a:t>/S156625350400065X</a:t>
            </a:r>
            <a:r>
              <a:rPr lang="pt-BR" sz="1200" dirty="0">
                <a:latin typeface="+mj-lt"/>
              </a:rPr>
              <a:t>. Acesso em: 24 jun. 2026.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latin typeface="+mj-lt"/>
              </a:rPr>
              <a:t>CHEN, S. Y. Kalman </a:t>
            </a:r>
            <a:r>
              <a:rPr lang="pt-BR" sz="1200" dirty="0" err="1">
                <a:latin typeface="+mj-lt"/>
              </a:rPr>
              <a:t>filter</a:t>
            </a:r>
            <a:r>
              <a:rPr lang="pt-BR" sz="1200" dirty="0">
                <a:latin typeface="+mj-lt"/>
              </a:rPr>
              <a:t> for </a:t>
            </a:r>
            <a:r>
              <a:rPr lang="pt-BR" sz="1200" dirty="0" err="1">
                <a:latin typeface="+mj-lt"/>
              </a:rPr>
              <a:t>robot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vision</a:t>
            </a:r>
            <a:r>
              <a:rPr lang="pt-BR" sz="1200" dirty="0">
                <a:latin typeface="+mj-lt"/>
              </a:rPr>
              <a:t>: A </a:t>
            </a:r>
            <a:r>
              <a:rPr lang="pt-BR" sz="1200" dirty="0" err="1">
                <a:latin typeface="+mj-lt"/>
              </a:rPr>
              <a:t>survey</a:t>
            </a:r>
            <a:r>
              <a:rPr lang="pt-BR" sz="1200" dirty="0">
                <a:latin typeface="+mj-lt"/>
              </a:rPr>
              <a:t>. IEEE </a:t>
            </a:r>
            <a:r>
              <a:rPr lang="pt-BR" sz="1200" dirty="0" err="1">
                <a:latin typeface="+mj-lt"/>
              </a:rPr>
              <a:t>Transactions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on</a:t>
            </a:r>
            <a:r>
              <a:rPr lang="pt-BR" sz="1200" dirty="0">
                <a:latin typeface="+mj-lt"/>
              </a:rPr>
              <a:t> Industrial </a:t>
            </a:r>
            <a:r>
              <a:rPr lang="pt-BR" sz="1200" dirty="0" err="1">
                <a:latin typeface="+mj-lt"/>
              </a:rPr>
              <a:t>Electronics</a:t>
            </a:r>
            <a:r>
              <a:rPr lang="pt-BR" sz="1200" dirty="0">
                <a:latin typeface="+mj-lt"/>
              </a:rPr>
              <a:t>, v. 59, n. 11, p. 4409–4419, 2012.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latin typeface="+mj-lt"/>
              </a:rPr>
              <a:t>CHEN, Z.; HECKMAN, C.; JULIER, S. </a:t>
            </a:r>
            <a:r>
              <a:rPr lang="pt-BR" sz="1200" dirty="0" err="1">
                <a:latin typeface="+mj-lt"/>
              </a:rPr>
              <a:t>Weak</a:t>
            </a:r>
            <a:r>
              <a:rPr lang="pt-BR" sz="1200" dirty="0">
                <a:latin typeface="+mj-lt"/>
              </a:rPr>
              <a:t> in </a:t>
            </a:r>
            <a:r>
              <a:rPr lang="pt-BR" sz="1200" dirty="0" err="1">
                <a:latin typeface="+mj-lt"/>
              </a:rPr>
              <a:t>the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nees</a:t>
            </a:r>
            <a:r>
              <a:rPr lang="pt-BR" sz="1200" dirty="0">
                <a:latin typeface="+mj-lt"/>
              </a:rPr>
              <a:t>?: </a:t>
            </a:r>
            <a:r>
              <a:rPr lang="pt-BR" sz="1200" dirty="0" err="1">
                <a:latin typeface="+mj-lt"/>
              </a:rPr>
              <a:t>Auto-tuning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kalman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filters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with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bayesian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optimization</a:t>
            </a:r>
            <a:r>
              <a:rPr lang="pt-BR" sz="1200" dirty="0">
                <a:latin typeface="+mj-lt"/>
              </a:rPr>
              <a:t>. [S. l.: s. n.], 2018. Disponível em: </a:t>
            </a:r>
            <a:r>
              <a:rPr lang="pt-BR" sz="1200" dirty="0">
                <a:latin typeface="+mj-lt"/>
                <a:hlinkClick r:id="rId4"/>
              </a:rPr>
              <a:t>https://arxiv.org/</a:t>
            </a:r>
            <a:r>
              <a:rPr lang="pt-BR" sz="1200" dirty="0" err="1">
                <a:latin typeface="+mj-lt"/>
                <a:hlinkClick r:id="rId4"/>
              </a:rPr>
              <a:t>abs</a:t>
            </a:r>
            <a:r>
              <a:rPr lang="pt-BR" sz="1200" dirty="0">
                <a:latin typeface="+mj-lt"/>
                <a:hlinkClick r:id="rId4"/>
              </a:rPr>
              <a:t>/1807.08855</a:t>
            </a:r>
            <a:r>
              <a:rPr lang="pt-BR" sz="1200" dirty="0">
                <a:latin typeface="+mj-lt"/>
              </a:rPr>
              <a:t>. Acesso em: 24 jun. 2026.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latin typeface="+mj-lt"/>
              </a:rPr>
              <a:t>FAŁEK, P.; KANIEWSKI, P. Computer </a:t>
            </a:r>
            <a:r>
              <a:rPr lang="pt-BR" sz="1200" dirty="0" err="1">
                <a:latin typeface="+mj-lt"/>
              </a:rPr>
              <a:t>application</a:t>
            </a:r>
            <a:r>
              <a:rPr lang="pt-BR" sz="1200" dirty="0">
                <a:latin typeface="+mj-lt"/>
              </a:rPr>
              <a:t> for </a:t>
            </a:r>
            <a:r>
              <a:rPr lang="pt-BR" sz="1200" dirty="0" err="1">
                <a:latin typeface="+mj-lt"/>
              </a:rPr>
              <a:t>testing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kalman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filter</a:t>
            </a:r>
            <a:r>
              <a:rPr lang="pt-BR" sz="1200" dirty="0">
                <a:latin typeface="+mj-lt"/>
              </a:rPr>
              <a:t>. In: CONFERENCE PROCEEDINGS OF SPIE, 11442., 2020. </a:t>
            </a:r>
            <a:r>
              <a:rPr lang="pt-BR" sz="1200" dirty="0" err="1">
                <a:latin typeface="+mj-lt"/>
              </a:rPr>
              <a:t>Proceedings</a:t>
            </a:r>
            <a:r>
              <a:rPr lang="pt-BR" sz="1200" dirty="0">
                <a:latin typeface="+mj-lt"/>
              </a:rPr>
              <a:t> [...]. [S. l.]: SPIE, 2020. p. 1144213.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latin typeface="+mj-lt"/>
              </a:rPr>
              <a:t>SILVA, S. J. A. Ferramenta de simulação e rastreamento bidimensional via EKF. 2026. Repositório GitHub. Disponível em: </a:t>
            </a:r>
            <a:r>
              <a:rPr lang="pt-BR" sz="1200" dirty="0">
                <a:latin typeface="+mj-lt"/>
                <a:hlinkClick r:id="rId5"/>
              </a:rPr>
              <a:t>https://github.com/</a:t>
            </a:r>
            <a:r>
              <a:rPr lang="pt-BR" sz="1200" dirty="0" err="1">
                <a:latin typeface="+mj-lt"/>
                <a:hlinkClick r:id="rId5"/>
              </a:rPr>
              <a:t>SauloJose</a:t>
            </a:r>
            <a:r>
              <a:rPr lang="pt-BR" sz="1200" dirty="0">
                <a:latin typeface="+mj-lt"/>
                <a:hlinkClick r:id="rId5"/>
              </a:rPr>
              <a:t>/</a:t>
            </a:r>
            <a:r>
              <a:rPr lang="pt-BR" sz="1200" dirty="0" err="1">
                <a:latin typeface="+mj-lt"/>
                <a:hlinkClick r:id="rId5"/>
              </a:rPr>
              <a:t>PASKalmanTraj</a:t>
            </a:r>
            <a:r>
              <a:rPr lang="pt-BR" sz="1200" dirty="0">
                <a:latin typeface="+mj-lt"/>
              </a:rPr>
              <a:t>. Acesso em: 13 jun. 2026.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>
                <a:latin typeface="+mj-lt"/>
              </a:rPr>
              <a:t>Simon, D. </a:t>
            </a:r>
            <a:r>
              <a:rPr lang="pt-BR" sz="1200" dirty="0" err="1">
                <a:latin typeface="+mj-lt"/>
              </a:rPr>
              <a:t>Optimal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State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Estimation</a:t>
            </a:r>
            <a:r>
              <a:rPr lang="pt-BR" sz="1200" dirty="0">
                <a:latin typeface="+mj-lt"/>
              </a:rPr>
              <a:t>: Kalman, H∞, </a:t>
            </a:r>
            <a:r>
              <a:rPr lang="pt-BR" sz="1200" dirty="0" err="1">
                <a:latin typeface="+mj-lt"/>
              </a:rPr>
              <a:t>and</a:t>
            </a:r>
            <a:r>
              <a:rPr lang="pt-BR" sz="1200" dirty="0">
                <a:latin typeface="+mj-lt"/>
              </a:rPr>
              <a:t> </a:t>
            </a:r>
            <a:r>
              <a:rPr lang="pt-BR" sz="1200" dirty="0" err="1">
                <a:latin typeface="+mj-lt"/>
              </a:rPr>
              <a:t>Nonlinear</a:t>
            </a:r>
            <a:r>
              <a:rPr lang="pt-BR" sz="1200" dirty="0">
                <a:latin typeface="+mj-lt"/>
              </a:rPr>
              <a:t> Approaches. Wiley, 2006;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200" dirty="0" err="1">
                <a:latin typeface="+mj-lt"/>
              </a:rPr>
              <a:t>Thrun</a:t>
            </a:r>
            <a:r>
              <a:rPr lang="pt-BR" sz="1200" dirty="0">
                <a:latin typeface="+mj-lt"/>
              </a:rPr>
              <a:t>, S., </a:t>
            </a:r>
            <a:r>
              <a:rPr lang="pt-BR" sz="1200" dirty="0" err="1">
                <a:latin typeface="+mj-lt"/>
              </a:rPr>
              <a:t>Burgard</a:t>
            </a:r>
            <a:r>
              <a:rPr lang="pt-BR" sz="1200" dirty="0">
                <a:latin typeface="+mj-lt"/>
              </a:rPr>
              <a:t>, W., &amp; Fox, D. Probabilistic Robotics. MIT Press, 2005.;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EF1703-2347-A7A3-6A13-63B4DE6BD175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24/25</a:t>
            </a:r>
          </a:p>
        </p:txBody>
      </p:sp>
    </p:spTree>
    <p:extLst>
      <p:ext uri="{BB962C8B-B14F-4D97-AF65-F5344CB8AC3E}">
        <p14:creationId xmlns:p14="http://schemas.microsoft.com/office/powerpoint/2010/main" val="3487896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551-3138-3592-B2D0-9308D6CD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8A7DB7-892C-1102-C509-196D4C020417}"/>
              </a:ext>
            </a:extLst>
          </p:cNvPr>
          <p:cNvSpPr txBox="1"/>
          <p:nvPr/>
        </p:nvSpPr>
        <p:spPr>
          <a:xfrm>
            <a:off x="4106773" y="5811848"/>
            <a:ext cx="3978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Silva.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/>
              <a:t>saulo.jose.silva@ee.ufcg.edu.br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06FD2-AEAE-EDB8-5E06-354AB7BEC804}"/>
              </a:ext>
            </a:extLst>
          </p:cNvPr>
          <p:cNvSpPr txBox="1"/>
          <p:nvPr/>
        </p:nvSpPr>
        <p:spPr>
          <a:xfrm>
            <a:off x="721889" y="2705725"/>
            <a:ext cx="107482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8800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6" name="Picture 4" descr="Logomarcas">
            <a:extLst>
              <a:ext uri="{FF2B5EF4-FFF2-40B4-BE49-F238E27FC236}">
                <a16:creationId xmlns:a16="http://schemas.microsoft.com/office/drawing/2014/main" id="{89AE256B-4357-1E17-0765-F165476F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D0647B1-1CDC-4088-5B86-2F29E5725778}"/>
              </a:ext>
            </a:extLst>
          </p:cNvPr>
          <p:cNvSpPr txBox="1"/>
          <p:nvPr/>
        </p:nvSpPr>
        <p:spPr>
          <a:xfrm>
            <a:off x="11525490" y="6478213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25/25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DA5516-2780-DEE7-C4EC-F7EA574FC0C0}"/>
              </a:ext>
            </a:extLst>
          </p:cNvPr>
          <p:cNvSpPr txBox="1"/>
          <p:nvPr/>
        </p:nvSpPr>
        <p:spPr>
          <a:xfrm>
            <a:off x="4488425" y="6396623"/>
            <a:ext cx="3215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b="1" dirty="0"/>
              <a:t>24/06/2026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749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3533</TotalTime>
  <Words>1705</Words>
  <Application>Microsoft Office PowerPoint</Application>
  <PresentationFormat>Widescreen</PresentationFormat>
  <Paragraphs>226</Paragraphs>
  <Slides>25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Cambria Math</vt:lpstr>
      <vt:lpstr>Wingdings</vt:lpstr>
      <vt:lpstr>Tema do Office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Saulo José Almeida Silva</dc:creator>
  <cp:lastModifiedBy>Saulo José Almeida Silva</cp:lastModifiedBy>
  <cp:revision>521</cp:revision>
  <dcterms:created xsi:type="dcterms:W3CDTF">2025-08-24T00:23:34Z</dcterms:created>
  <dcterms:modified xsi:type="dcterms:W3CDTF">2026-06-25T01:00:45Z</dcterms:modified>
</cp:coreProperties>
</file>